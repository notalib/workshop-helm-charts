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  <p:sldMasterId id="2147483700" r:id="rId2"/>
  </p:sldMasterIdLst>
  <p:notesMasterIdLst>
    <p:notesMasterId r:id="rId47"/>
  </p:notesMasterIdLst>
  <p:sldIdLst>
    <p:sldId id="280" r:id="rId3"/>
    <p:sldId id="492" r:id="rId4"/>
    <p:sldId id="438" r:id="rId5"/>
    <p:sldId id="439" r:id="rId6"/>
    <p:sldId id="398" r:id="rId7"/>
    <p:sldId id="418" r:id="rId8"/>
    <p:sldId id="361" r:id="rId9"/>
    <p:sldId id="443" r:id="rId10"/>
    <p:sldId id="486" r:id="rId11"/>
    <p:sldId id="488" r:id="rId12"/>
    <p:sldId id="489" r:id="rId13"/>
    <p:sldId id="498" r:id="rId14"/>
    <p:sldId id="500" r:id="rId15"/>
    <p:sldId id="501" r:id="rId16"/>
    <p:sldId id="394" r:id="rId17"/>
    <p:sldId id="502" r:id="rId18"/>
    <p:sldId id="503" r:id="rId19"/>
    <p:sldId id="508" r:id="rId20"/>
    <p:sldId id="504" r:id="rId21"/>
    <p:sldId id="506" r:id="rId22"/>
    <p:sldId id="505" r:id="rId23"/>
    <p:sldId id="507" r:id="rId24"/>
    <p:sldId id="509" r:id="rId25"/>
    <p:sldId id="510" r:id="rId26"/>
    <p:sldId id="388" r:id="rId27"/>
    <p:sldId id="395" r:id="rId28"/>
    <p:sldId id="396" r:id="rId29"/>
    <p:sldId id="259" r:id="rId30"/>
    <p:sldId id="499" r:id="rId31"/>
    <p:sldId id="494" r:id="rId32"/>
    <p:sldId id="387" r:id="rId33"/>
    <p:sldId id="493" r:id="rId34"/>
    <p:sldId id="460" r:id="rId35"/>
    <p:sldId id="389" r:id="rId36"/>
    <p:sldId id="391" r:id="rId37"/>
    <p:sldId id="392" r:id="rId38"/>
    <p:sldId id="490" r:id="rId39"/>
    <p:sldId id="491" r:id="rId40"/>
    <p:sldId id="495" r:id="rId41"/>
    <p:sldId id="385" r:id="rId42"/>
    <p:sldId id="386" r:id="rId43"/>
    <p:sldId id="390" r:id="rId44"/>
    <p:sldId id="496" r:id="rId45"/>
    <p:sldId id="497" r:id="rId46"/>
  </p:sldIdLst>
  <p:sldSz cx="12192000" cy="6858000"/>
  <p:notesSz cx="6858000" cy="9144000"/>
  <p:defaultTextStyle>
    <a:defPPr>
      <a:defRPr lang="da-DK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74D9"/>
    <a:srgbClr val="C54D02"/>
    <a:srgbClr val="005DE0"/>
    <a:srgbClr val="002E70"/>
    <a:srgbClr val="B8580A"/>
    <a:srgbClr val="F0FBFF"/>
    <a:srgbClr val="CAF0FE"/>
    <a:srgbClr val="FFFDEE"/>
    <a:srgbClr val="EEFBFA"/>
    <a:srgbClr val="0E706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594" autoAdjust="0"/>
    <p:restoredTop sz="83115"/>
  </p:normalViewPr>
  <p:slideViewPr>
    <p:cSldViewPr snapToGrid="0">
      <p:cViewPr varScale="1">
        <p:scale>
          <a:sx n="108" d="100"/>
          <a:sy n="108" d="100"/>
        </p:scale>
        <p:origin x="200" y="7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slide" Target="slides/slide37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slide" Target="slides/slide40.xml"/><Relationship Id="rId47" Type="http://schemas.openxmlformats.org/officeDocument/2006/relationships/notesMaster" Target="notesMasters/notesMaster1.xml"/><Relationship Id="rId50" Type="http://schemas.openxmlformats.org/officeDocument/2006/relationships/theme" Target="theme/theme1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viewProps" Target="viewProp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presProps" Target="presProps.xml"/><Relationship Id="rId8" Type="http://schemas.openxmlformats.org/officeDocument/2006/relationships/slide" Target="slides/slide6.xml"/><Relationship Id="rId51" Type="http://schemas.openxmlformats.org/officeDocument/2006/relationships/tableStyles" Target="tableStyles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slide" Target="slides/slide44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DK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AEA5A75-67BE-1240-A263-49959E2F2A17}" type="datetimeFigureOut">
              <a:rPr lang="en-DK" smtClean="0"/>
              <a:t>17/08/2026</a:t>
            </a:fld>
            <a:endParaRPr lang="en-DK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DK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K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D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C63D1AB-2AFE-0B44-89C4-90D137365F76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28421494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63D1AB-2AFE-0B44-89C4-90D137365F76}" type="slidenum">
              <a:rPr lang="en-DK" smtClean="0"/>
              <a:t>2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374397838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63D1AB-2AFE-0B44-89C4-90D137365F76}" type="slidenum">
              <a:rPr lang="en-DK" smtClean="0"/>
              <a:t>3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84491596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DK" dirty="0"/>
              <a:t>Resumé</a:t>
            </a:r>
          </a:p>
          <a:p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00365D-EE85-004B-9118-EED97F4871F7}" type="slidenum">
              <a:rPr lang="en-DK" smtClean="0"/>
              <a:t>5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50680054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K" dirty="0"/>
              <a:t>Kubernetes as: “The Great Conductor”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63D1AB-2AFE-0B44-89C4-90D137365F76}" type="slidenum">
              <a:rPr lang="en-DK" smtClean="0"/>
              <a:t>6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108313891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K" dirty="0"/>
              <a:t>Lige nu kører alt dette på jeres lokale maskine </a:t>
            </a:r>
            <a:r>
              <a:rPr lang="en-DK" dirty="0">
                <a:sym typeface="Wingdings" pitchFamily="2" charset="2"/>
              </a:rPr>
              <a:t></a:t>
            </a:r>
            <a:r>
              <a:rPr lang="en-DK" dirty="0"/>
              <a:t> agerer hjerne og muskel på én gang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63D1AB-2AFE-0B44-89C4-90D137365F76}" type="slidenum">
              <a:rPr lang="en-DK" smtClean="0"/>
              <a:t>7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339864759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K" sz="1200" dirty="0"/>
              <a:t>En Pod der indeholder en </a:t>
            </a:r>
            <a:r>
              <a:rPr lang="en-DK" sz="1200" b="1" dirty="0"/>
              <a:t>App</a:t>
            </a:r>
            <a:r>
              <a:rPr lang="en-DK" sz="1200" dirty="0"/>
              <a:t> container, samt en </a:t>
            </a:r>
            <a:r>
              <a:rPr lang="en-DK" sz="1200" b="1" dirty="0"/>
              <a:t>Sidecar</a:t>
            </a:r>
            <a:r>
              <a:rPr lang="en-DK" sz="1200" dirty="0"/>
              <a:t> container.</a:t>
            </a:r>
          </a:p>
          <a:p>
            <a:r>
              <a:rPr lang="en-DK" sz="1200" dirty="0"/>
              <a:t>De har samme interne IP - deler porte &amp; ressourcer, men som udgangspunkt </a:t>
            </a:r>
            <a:r>
              <a:rPr lang="en-DK" sz="1200" b="1" dirty="0"/>
              <a:t>ikke filsystem.</a:t>
            </a:r>
            <a:endParaRPr lang="en-DK" sz="1200" dirty="0"/>
          </a:p>
          <a:p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63D1AB-2AFE-0B44-89C4-90D137365F76}" type="slidenum">
              <a:rPr lang="en-DK" smtClean="0"/>
              <a:t>8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204829004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63D1AB-2AFE-0B44-89C4-90D137365F76}" type="slidenum">
              <a:rPr lang="en-DK" smtClean="0"/>
              <a:t>11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345142717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7387E5-455D-B866-5FF5-14094FF813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5947102-1DB8-5A07-5FB5-58267CEE1CB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440C785-6CE2-DF13-6443-028844AC449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K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97E4C6B-5EC9-4853-9EBF-E6E19FCEF9A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00365D-EE85-004B-9118-EED97F4871F7}" type="slidenum">
              <a:rPr lang="en-DK" smtClean="0"/>
              <a:t>15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248357116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K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two version numbers and why they move independently — version is the chart, appVersion is the app inside. Fixing a typo in a template bumps version only.</a:t>
            </a:r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63D1AB-2AFE-0B44-89C4-90D137365F76}" type="slidenum">
              <a:rPr lang="en-DK" smtClean="0"/>
              <a:t>16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218018774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K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Ask: </a:t>
            </a:r>
            <a:r>
              <a:rPr lang="en-DK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"Hvis vi installerer chartet én gang til, har vi så fået et nyt chart eller et nyt release?”</a:t>
            </a:r>
            <a:endParaRPr lang="en-DK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DK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Answer: a new release.</a:t>
            </a:r>
          </a:p>
          <a:p>
            <a:endParaRPr lang="en-DK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DK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Then ask what must differ for the two installations to coexist. The release name must flow into resource names; hardcoded names collide when releases share a namespace. Different namespaces hide that collision but do not fix the chart.</a:t>
            </a:r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63D1AB-2AFE-0B44-89C4-90D137365F76}" type="slidenum">
              <a:rPr lang="en-DK" smtClean="0"/>
              <a:t>18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309298811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K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VISUAL — NATIVE PPT: revision timeline — see deck-notes/release-revisions.md.</a:t>
            </a:r>
          </a:p>
          <a:p>
            <a:r>
              <a:rPr lang="en-DK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Use five large revision nodes; red only for the failed revision.</a:t>
            </a:r>
            <a:endParaRPr lang="en-DK" b="0" dirty="0">
              <a:effectLst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63D1AB-2AFE-0B44-89C4-90D137365F76}" type="slidenum">
              <a:rPr lang="en-DK" smtClean="0"/>
              <a:t>19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18688283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K" dirty="0">
                <a:effectLst/>
              </a:rPr>
              <a:t>Use neutral Secret cards inside a clearly labelled </a:t>
            </a:r>
            <a:r>
              <a:rPr lang="en-DK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namespace: prod</a:t>
            </a:r>
            <a:r>
              <a:rPr lang="en-DK" dirty="0">
                <a:effectLst/>
              </a:rPr>
              <a:t> boundary. The point is that Helm has no server and no laptop-local release history.</a:t>
            </a:r>
          </a:p>
          <a:p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63D1AB-2AFE-0B44-89C4-90D137365F76}" type="slidenum">
              <a:rPr lang="en-DK" smtClean="0"/>
              <a:t>20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299577105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63D1AB-2AFE-0B44-89C4-90D137365F76}" type="slidenum">
              <a:rPr lang="en-DK" smtClean="0"/>
              <a:t>21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34112675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00365D-EE85-004B-9118-EED97F4871F7}" type="slidenum">
              <a:rPr lang="en-DK" smtClean="0"/>
              <a:t>26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171616128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00365D-EE85-004B-9118-EED97F4871F7}" type="slidenum">
              <a:rPr lang="en-DK" smtClean="0"/>
              <a:t>31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116887559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63D1AB-2AFE-0B44-89C4-90D137365F76}" type="slidenum">
              <a:rPr lang="en-DK" smtClean="0"/>
              <a:t>33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261706047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00365D-EE85-004B-9118-EED97F4871F7}" type="slidenum">
              <a:rPr lang="en-DK" smtClean="0"/>
              <a:t>35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41300754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00365D-EE85-004B-9118-EED97F4871F7}" type="slidenum">
              <a:rPr lang="en-DK" smtClean="0"/>
              <a:t>36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752518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elkoms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/>
          <p:cNvSpPr>
            <a:spLocks noGrp="1"/>
          </p:cNvSpPr>
          <p:nvPr>
            <p:ph type="title" hasCustomPrompt="1"/>
          </p:nvPr>
        </p:nvSpPr>
        <p:spPr/>
        <p:txBody>
          <a:bodyPr>
            <a:normAutofit/>
          </a:bodyPr>
          <a:lstStyle>
            <a:lvl1pPr>
              <a:defRPr sz="6000">
                <a:solidFill>
                  <a:srgbClr val="383838"/>
                </a:solidFill>
              </a:defRPr>
            </a:lvl1pPr>
          </a:lstStyle>
          <a:p>
            <a:r>
              <a:rPr lang="da-DK" dirty="0"/>
              <a:t>Overskrift</a:t>
            </a:r>
          </a:p>
        </p:txBody>
      </p:sp>
      <p:sp>
        <p:nvSpPr>
          <p:cNvPr id="4" name="Pladsholder til tekst 3">
            <a:extLst>
              <a:ext uri="{FF2B5EF4-FFF2-40B4-BE49-F238E27FC236}">
                <a16:creationId xmlns:a16="http://schemas.microsoft.com/office/drawing/2014/main" id="{3D6322BA-113E-4248-84BD-F20CA49A14F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838200" y="1498181"/>
            <a:ext cx="4398963" cy="542373"/>
          </a:xfrm>
        </p:spPr>
        <p:txBody>
          <a:bodyPr>
            <a:normAutofit/>
          </a:bodyPr>
          <a:lstStyle>
            <a:lvl1pPr marL="0" indent="0">
              <a:buNone/>
              <a:defRPr sz="3200" b="0" i="0">
                <a:solidFill>
                  <a:srgbClr val="C54D02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lvl="0"/>
            <a:r>
              <a:rPr lang="da-DK" dirty="0"/>
              <a:t>Undertitel</a:t>
            </a:r>
          </a:p>
        </p:txBody>
      </p:sp>
      <p:sp>
        <p:nvSpPr>
          <p:cNvPr id="8" name="Pladsholder til tekst 7">
            <a:extLst>
              <a:ext uri="{FF2B5EF4-FFF2-40B4-BE49-F238E27FC236}">
                <a16:creationId xmlns:a16="http://schemas.microsoft.com/office/drawing/2014/main" id="{A419BB4A-8E47-C046-AB2F-15C74045260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38200" y="2300575"/>
            <a:ext cx="10515600" cy="3705909"/>
          </a:xfrm>
        </p:spPr>
        <p:txBody>
          <a:bodyPr>
            <a:normAutofit/>
          </a:bodyPr>
          <a:lstStyle>
            <a:lvl1pPr marL="0" indent="0">
              <a:buNone/>
              <a:defRPr sz="2400">
                <a:solidFill>
                  <a:srgbClr val="383838"/>
                </a:solidFill>
              </a:defRPr>
            </a:lvl1pPr>
          </a:lstStyle>
          <a:p>
            <a:pPr lvl="0"/>
            <a:r>
              <a:rPr lang="da-DK" dirty="0"/>
              <a:t>Introduktionstekst.</a:t>
            </a:r>
          </a:p>
          <a:p>
            <a:pPr lvl="0"/>
            <a:r>
              <a:rPr lang="da-DK" dirty="0"/>
              <a:t>Dagens program kan også indsættes her. </a:t>
            </a:r>
          </a:p>
        </p:txBody>
      </p:sp>
    </p:spTree>
    <p:extLst>
      <p:ext uri="{BB962C8B-B14F-4D97-AF65-F5344CB8AC3E}">
        <p14:creationId xmlns:p14="http://schemas.microsoft.com/office/powerpoint/2010/main" val="199080243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unktopstill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1">
            <a:extLst>
              <a:ext uri="{FF2B5EF4-FFF2-40B4-BE49-F238E27FC236}">
                <a16:creationId xmlns:a16="http://schemas.microsoft.com/office/drawing/2014/main" id="{88E3407F-DFCF-8B4C-A4AF-3EDD6899B9D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365125"/>
            <a:ext cx="10515600" cy="1325563"/>
          </a:xfrm>
        </p:spPr>
        <p:txBody>
          <a:bodyPr/>
          <a:lstStyle>
            <a:lvl1pPr>
              <a:defRPr>
                <a:solidFill>
                  <a:srgbClr val="C54D02"/>
                </a:solidFill>
              </a:defRPr>
            </a:lvl1pPr>
          </a:lstStyle>
          <a:p>
            <a:r>
              <a:rPr lang="da-DK" dirty="0"/>
              <a:t>Klik for at redigere i master</a:t>
            </a:r>
          </a:p>
        </p:txBody>
      </p:sp>
      <p:sp>
        <p:nvSpPr>
          <p:cNvPr id="6" name="Pladsholder til tekst 5">
            <a:extLst>
              <a:ext uri="{FF2B5EF4-FFF2-40B4-BE49-F238E27FC236}">
                <a16:creationId xmlns:a16="http://schemas.microsoft.com/office/drawing/2014/main" id="{5E1B61AE-EC69-6B45-9C53-AA716FDB84A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38132" y="1690688"/>
            <a:ext cx="10515600" cy="4442517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</a:lstStyle>
          <a:p>
            <a:pPr lvl="0"/>
            <a:r>
              <a:rPr lang="da-DK" dirty="0"/>
              <a:t>Niveau 1</a:t>
            </a:r>
          </a:p>
          <a:p>
            <a:pPr lvl="1"/>
            <a:r>
              <a:rPr lang="da-DK" dirty="0"/>
              <a:t>Niveau 2</a:t>
            </a:r>
          </a:p>
          <a:p>
            <a:pPr lvl="2"/>
            <a:r>
              <a:rPr lang="da-DK" dirty="0"/>
              <a:t>Niveau 3</a:t>
            </a:r>
          </a:p>
        </p:txBody>
      </p:sp>
    </p:spTree>
    <p:extLst>
      <p:ext uri="{BB962C8B-B14F-4D97-AF65-F5344CB8AC3E}">
        <p14:creationId xmlns:p14="http://schemas.microsoft.com/office/powerpoint/2010/main" val="21024900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unktopstilling sammenligning vertik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1">
            <a:extLst>
              <a:ext uri="{FF2B5EF4-FFF2-40B4-BE49-F238E27FC236}">
                <a16:creationId xmlns:a16="http://schemas.microsoft.com/office/drawing/2014/main" id="{88E3407F-DFCF-8B4C-A4AF-3EDD6899B9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da-DK"/>
              <a:t>Klik for at redigere i master</a:t>
            </a:r>
          </a:p>
        </p:txBody>
      </p:sp>
      <p:sp>
        <p:nvSpPr>
          <p:cNvPr id="6" name="Pladsholder til tekst 5">
            <a:extLst>
              <a:ext uri="{FF2B5EF4-FFF2-40B4-BE49-F238E27FC236}">
                <a16:creationId xmlns:a16="http://schemas.microsoft.com/office/drawing/2014/main" id="{5E1B61AE-EC69-6B45-9C53-AA716FDB84A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38132" y="1708917"/>
            <a:ext cx="10515600" cy="467692"/>
          </a:xfrm>
        </p:spPr>
        <p:txBody>
          <a:bodyPr/>
          <a:lstStyle>
            <a:lvl1pPr marL="0" indent="0">
              <a:buNone/>
              <a:defRPr sz="2400" b="1"/>
            </a:lvl1pPr>
          </a:lstStyle>
          <a:p>
            <a:pPr lvl="0"/>
            <a:r>
              <a:rPr lang="da-DK" dirty="0"/>
              <a:t>Overskrift</a:t>
            </a:r>
          </a:p>
        </p:txBody>
      </p:sp>
      <p:sp>
        <p:nvSpPr>
          <p:cNvPr id="5" name="Pladsholder til tekst 4">
            <a:extLst>
              <a:ext uri="{FF2B5EF4-FFF2-40B4-BE49-F238E27FC236}">
                <a16:creationId xmlns:a16="http://schemas.microsoft.com/office/drawing/2014/main" id="{9975FEBE-BC5F-6942-83A3-2388470F8A9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38132" y="2176608"/>
            <a:ext cx="10515668" cy="1411217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</a:lstStyle>
          <a:p>
            <a:pPr lvl="0"/>
            <a:r>
              <a:rPr lang="da-DK" dirty="0"/>
              <a:t>Klik for at redigere teksttypografierne i masteren</a:t>
            </a:r>
          </a:p>
          <a:p>
            <a:pPr lvl="1"/>
            <a:r>
              <a:rPr lang="da-DK" dirty="0"/>
              <a:t>Andet niveau</a:t>
            </a:r>
          </a:p>
          <a:p>
            <a:pPr lvl="2"/>
            <a:r>
              <a:rPr lang="da-DK" dirty="0"/>
              <a:t>Tredje niveau</a:t>
            </a:r>
          </a:p>
        </p:txBody>
      </p:sp>
      <p:sp>
        <p:nvSpPr>
          <p:cNvPr id="8" name="Pladsholder til tekst 5">
            <a:extLst>
              <a:ext uri="{FF2B5EF4-FFF2-40B4-BE49-F238E27FC236}">
                <a16:creationId xmlns:a16="http://schemas.microsoft.com/office/drawing/2014/main" id="{31705999-6D0C-A44B-BFD2-BFCCF8B1A12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38132" y="3722575"/>
            <a:ext cx="10515600" cy="467692"/>
          </a:xfrm>
        </p:spPr>
        <p:txBody>
          <a:bodyPr/>
          <a:lstStyle>
            <a:lvl1pPr marL="0" indent="0">
              <a:buNone/>
              <a:defRPr sz="2400" b="1"/>
            </a:lvl1pPr>
          </a:lstStyle>
          <a:p>
            <a:pPr lvl="0"/>
            <a:r>
              <a:rPr lang="da-DK" dirty="0"/>
              <a:t>Overskrift</a:t>
            </a:r>
          </a:p>
        </p:txBody>
      </p:sp>
      <p:sp>
        <p:nvSpPr>
          <p:cNvPr id="10" name="Pladsholder til tekst 4">
            <a:extLst>
              <a:ext uri="{FF2B5EF4-FFF2-40B4-BE49-F238E27FC236}">
                <a16:creationId xmlns:a16="http://schemas.microsoft.com/office/drawing/2014/main" id="{0B53754C-0308-C645-A05E-241A7A13AF1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38132" y="4190266"/>
            <a:ext cx="10515668" cy="1490649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</a:lstStyle>
          <a:p>
            <a:pPr lvl="0"/>
            <a:r>
              <a:rPr lang="da-DK" dirty="0"/>
              <a:t>Klik for at redigere teksttypografierne i masteren</a:t>
            </a:r>
          </a:p>
          <a:p>
            <a:pPr lvl="1"/>
            <a:r>
              <a:rPr lang="da-DK" dirty="0"/>
              <a:t>Andet niveau</a:t>
            </a:r>
          </a:p>
          <a:p>
            <a:pPr lvl="2"/>
            <a:r>
              <a:rPr lang="da-DK" dirty="0"/>
              <a:t>Tredje niveau</a:t>
            </a:r>
          </a:p>
        </p:txBody>
      </p:sp>
    </p:spTree>
    <p:extLst>
      <p:ext uri="{BB962C8B-B14F-4D97-AF65-F5344CB8AC3E}">
        <p14:creationId xmlns:p14="http://schemas.microsoft.com/office/powerpoint/2010/main" val="41741446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unktopstilling sammenligning horisont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a-DK" dirty="0"/>
              <a:t>Klik for at redigere i master</a:t>
            </a:r>
          </a:p>
        </p:txBody>
      </p:sp>
      <p:sp>
        <p:nvSpPr>
          <p:cNvPr id="8" name="Pladsholder til tekst 5">
            <a:extLst>
              <a:ext uri="{FF2B5EF4-FFF2-40B4-BE49-F238E27FC236}">
                <a16:creationId xmlns:a16="http://schemas.microsoft.com/office/drawing/2014/main" id="{3E0F637B-5CDC-F543-BC89-0C1A94818B61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38132" y="1708911"/>
            <a:ext cx="5181669" cy="467692"/>
          </a:xfrm>
        </p:spPr>
        <p:txBody>
          <a:bodyPr/>
          <a:lstStyle>
            <a:lvl1pPr marL="0" indent="0">
              <a:buNone/>
              <a:defRPr sz="2400" b="1"/>
            </a:lvl1pPr>
          </a:lstStyle>
          <a:p>
            <a:pPr lvl="0"/>
            <a:r>
              <a:rPr lang="da-DK" dirty="0"/>
              <a:t>Overskrift</a:t>
            </a:r>
          </a:p>
        </p:txBody>
      </p:sp>
      <p:sp>
        <p:nvSpPr>
          <p:cNvPr id="11" name="Pladsholder til tekst 5">
            <a:extLst>
              <a:ext uri="{FF2B5EF4-FFF2-40B4-BE49-F238E27FC236}">
                <a16:creationId xmlns:a16="http://schemas.microsoft.com/office/drawing/2014/main" id="{77340784-F8E6-FC4D-9E0D-3AEA5C17762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172199" y="1708911"/>
            <a:ext cx="5181669" cy="467692"/>
          </a:xfrm>
        </p:spPr>
        <p:txBody>
          <a:bodyPr/>
          <a:lstStyle>
            <a:lvl1pPr marL="0" indent="0">
              <a:buNone/>
              <a:defRPr sz="2400" b="1"/>
            </a:lvl1pPr>
          </a:lstStyle>
          <a:p>
            <a:pPr lvl="0"/>
            <a:r>
              <a:rPr lang="da-DK" dirty="0"/>
              <a:t>Overskrift</a:t>
            </a:r>
          </a:p>
        </p:txBody>
      </p:sp>
      <p:sp>
        <p:nvSpPr>
          <p:cNvPr id="13" name="Pladsholder til tekst 4">
            <a:extLst>
              <a:ext uri="{FF2B5EF4-FFF2-40B4-BE49-F238E27FC236}">
                <a16:creationId xmlns:a16="http://schemas.microsoft.com/office/drawing/2014/main" id="{62F6FCA6-1117-CE4C-8EDE-7471C1E44FA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38132" y="2176602"/>
            <a:ext cx="5181669" cy="3491477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</a:lstStyle>
          <a:p>
            <a:pPr lvl="0"/>
            <a:r>
              <a:rPr lang="da-DK" dirty="0"/>
              <a:t>Klik for at redigere teksttypografierne i masteren</a:t>
            </a:r>
          </a:p>
          <a:p>
            <a:pPr lvl="1"/>
            <a:r>
              <a:rPr lang="da-DK" dirty="0"/>
              <a:t>Andet niveau</a:t>
            </a:r>
          </a:p>
          <a:p>
            <a:pPr lvl="2"/>
            <a:r>
              <a:rPr lang="da-DK" dirty="0"/>
              <a:t>Tredje niveau</a:t>
            </a:r>
          </a:p>
        </p:txBody>
      </p:sp>
      <p:sp>
        <p:nvSpPr>
          <p:cNvPr id="14" name="Pladsholder til tekst 4">
            <a:extLst>
              <a:ext uri="{FF2B5EF4-FFF2-40B4-BE49-F238E27FC236}">
                <a16:creationId xmlns:a16="http://schemas.microsoft.com/office/drawing/2014/main" id="{1D6A4F8C-7DB7-D54E-A508-970B7AFD45A6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172198" y="2176601"/>
            <a:ext cx="5181669" cy="3491477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</a:lstStyle>
          <a:p>
            <a:pPr lvl="0"/>
            <a:r>
              <a:rPr lang="da-DK" dirty="0"/>
              <a:t>Klik for at redigere teksttypografierne i masteren</a:t>
            </a:r>
          </a:p>
          <a:p>
            <a:pPr lvl="1"/>
            <a:r>
              <a:rPr lang="da-DK" dirty="0"/>
              <a:t>Andet niveau</a:t>
            </a:r>
          </a:p>
          <a:p>
            <a:pPr lvl="2"/>
            <a:r>
              <a:rPr lang="da-DK" dirty="0"/>
              <a:t>Tredje niveau</a:t>
            </a:r>
          </a:p>
        </p:txBody>
      </p:sp>
    </p:spTree>
    <p:extLst>
      <p:ext uri="{BB962C8B-B14F-4D97-AF65-F5344CB8AC3E}">
        <p14:creationId xmlns:p14="http://schemas.microsoft.com/office/powerpoint/2010/main" val="21830185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1">
            <a:extLst>
              <a:ext uri="{FF2B5EF4-FFF2-40B4-BE49-F238E27FC236}">
                <a16:creationId xmlns:a16="http://schemas.microsoft.com/office/drawing/2014/main" id="{88E3407F-DFCF-8B4C-A4AF-3EDD6899B9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da-DK" dirty="0"/>
              <a:t>Klik for at redigere i master</a:t>
            </a:r>
          </a:p>
        </p:txBody>
      </p:sp>
      <p:sp>
        <p:nvSpPr>
          <p:cNvPr id="6" name="Pladsholder til tekst 5">
            <a:extLst>
              <a:ext uri="{FF2B5EF4-FFF2-40B4-BE49-F238E27FC236}">
                <a16:creationId xmlns:a16="http://schemas.microsoft.com/office/drawing/2014/main" id="{5E1B61AE-EC69-6B45-9C53-AA716FDB84A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38132" y="1690689"/>
            <a:ext cx="10515600" cy="4442516"/>
          </a:xfrm>
        </p:spPr>
        <p:txBody>
          <a:bodyPr>
            <a:normAutofit/>
          </a:bodyPr>
          <a:lstStyle>
            <a:lvl1pPr marL="0" indent="0">
              <a:buNone/>
              <a:defRPr sz="2400"/>
            </a:lvl1pPr>
          </a:lstStyle>
          <a:p>
            <a:pPr lvl="0"/>
            <a:r>
              <a:rPr lang="da-DK" dirty="0"/>
              <a:t>Brødtekst</a:t>
            </a:r>
          </a:p>
        </p:txBody>
      </p:sp>
    </p:spTree>
    <p:extLst>
      <p:ext uri="{BB962C8B-B14F-4D97-AF65-F5344CB8AC3E}">
        <p14:creationId xmlns:p14="http://schemas.microsoft.com/office/powerpoint/2010/main" val="30945002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bjekt (hel side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Klik for at redigere i master</a:t>
            </a:r>
          </a:p>
        </p:txBody>
      </p:sp>
      <p:sp>
        <p:nvSpPr>
          <p:cNvPr id="3" name="Pladsholder til indhold 2"/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3994495"/>
          </a:xfrm>
        </p:spPr>
        <p:txBody>
          <a:bodyPr>
            <a:normAutofit/>
          </a:bodyPr>
          <a:lstStyle>
            <a:lvl1pPr marL="0" indent="0">
              <a:buNone/>
              <a:defRPr sz="2400"/>
            </a:lvl1pPr>
          </a:lstStyle>
          <a:p>
            <a:pPr lvl="0"/>
            <a:endParaRPr lang="da-DK" dirty="0"/>
          </a:p>
        </p:txBody>
      </p:sp>
      <p:sp>
        <p:nvSpPr>
          <p:cNvPr id="10" name="Pladsholder til tekst 9">
            <a:extLst>
              <a:ext uri="{FF2B5EF4-FFF2-40B4-BE49-F238E27FC236}">
                <a16:creationId xmlns:a16="http://schemas.microsoft.com/office/drawing/2014/main" id="{B4D71B68-4C9C-9849-8415-AB51D29C36F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38200" y="5784574"/>
            <a:ext cx="10515600" cy="357810"/>
          </a:xfrm>
        </p:spPr>
        <p:txBody>
          <a:bodyPr>
            <a:normAutofit/>
          </a:bodyPr>
          <a:lstStyle>
            <a:lvl1pPr marL="0" indent="0">
              <a:buNone/>
              <a:defRPr sz="1600" b="0" i="0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/>
            <a:r>
              <a:rPr lang="da-DK" dirty="0"/>
              <a:t>Eventuel figur eller billedbeskrivelse</a:t>
            </a:r>
          </a:p>
        </p:txBody>
      </p:sp>
    </p:spTree>
    <p:extLst>
      <p:ext uri="{BB962C8B-B14F-4D97-AF65-F5344CB8AC3E}">
        <p14:creationId xmlns:p14="http://schemas.microsoft.com/office/powerpoint/2010/main" val="14053735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kst og objekt (sidestillet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Klik for at redigere i master</a:t>
            </a:r>
          </a:p>
        </p:txBody>
      </p:sp>
      <p:sp>
        <p:nvSpPr>
          <p:cNvPr id="3" name="Pladsholder til indhold 2"/>
          <p:cNvSpPr>
            <a:spLocks noGrp="1"/>
          </p:cNvSpPr>
          <p:nvPr>
            <p:ph idx="1"/>
          </p:nvPr>
        </p:nvSpPr>
        <p:spPr>
          <a:xfrm>
            <a:off x="5516216" y="1690689"/>
            <a:ext cx="5837583" cy="3996008"/>
          </a:xfrm>
        </p:spPr>
        <p:txBody>
          <a:bodyPr>
            <a:normAutofit/>
          </a:bodyPr>
          <a:lstStyle>
            <a:lvl1pPr marL="0" indent="0">
              <a:buNone/>
              <a:defRPr sz="2400"/>
            </a:lvl1pPr>
          </a:lstStyle>
          <a:p>
            <a:pPr lvl="0"/>
            <a:endParaRPr lang="da-DK" dirty="0"/>
          </a:p>
        </p:txBody>
      </p:sp>
      <p:sp>
        <p:nvSpPr>
          <p:cNvPr id="10" name="Pladsholder til tekst 9">
            <a:extLst>
              <a:ext uri="{FF2B5EF4-FFF2-40B4-BE49-F238E27FC236}">
                <a16:creationId xmlns:a16="http://schemas.microsoft.com/office/drawing/2014/main" id="{B4D71B68-4C9C-9849-8415-AB51D29C36F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516216" y="5774635"/>
            <a:ext cx="5837584" cy="338691"/>
          </a:xfrm>
        </p:spPr>
        <p:txBody>
          <a:bodyPr>
            <a:normAutofit/>
          </a:bodyPr>
          <a:lstStyle>
            <a:lvl1pPr marL="0" indent="0">
              <a:buNone/>
              <a:defRPr sz="1600" b="0" i="0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/>
            <a:r>
              <a:rPr lang="da-DK" dirty="0"/>
              <a:t>Eventuel figur eller billedbeskrivelse</a:t>
            </a:r>
          </a:p>
        </p:txBody>
      </p:sp>
      <p:sp>
        <p:nvSpPr>
          <p:cNvPr id="7" name="Pladsholder til tekst 5">
            <a:extLst>
              <a:ext uri="{FF2B5EF4-FFF2-40B4-BE49-F238E27FC236}">
                <a16:creationId xmlns:a16="http://schemas.microsoft.com/office/drawing/2014/main" id="{55622C08-9FA7-464B-B26D-783B1DC3E749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38132" y="1690688"/>
            <a:ext cx="4538938" cy="399600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</a:lstStyle>
          <a:p>
            <a:pPr lvl="0"/>
            <a:r>
              <a:rPr lang="da-DK" dirty="0"/>
              <a:t>Niveau 1</a:t>
            </a:r>
          </a:p>
          <a:p>
            <a:pPr lvl="1"/>
            <a:r>
              <a:rPr lang="da-DK" dirty="0"/>
              <a:t>Niveau 2</a:t>
            </a:r>
          </a:p>
          <a:p>
            <a:pPr lvl="2"/>
            <a:r>
              <a:rPr lang="da-DK" dirty="0"/>
              <a:t>Niveau 3</a:t>
            </a:r>
          </a:p>
        </p:txBody>
      </p:sp>
    </p:spTree>
    <p:extLst>
      <p:ext uri="{BB962C8B-B14F-4D97-AF65-F5344CB8AC3E}">
        <p14:creationId xmlns:p14="http://schemas.microsoft.com/office/powerpoint/2010/main" val="41786381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kst og objekt (bund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Klik for at redigere i master</a:t>
            </a:r>
          </a:p>
        </p:txBody>
      </p:sp>
      <p:sp>
        <p:nvSpPr>
          <p:cNvPr id="3" name="Pladsholder til indhold 2"/>
          <p:cNvSpPr>
            <a:spLocks noGrp="1"/>
          </p:cNvSpPr>
          <p:nvPr>
            <p:ph idx="1"/>
          </p:nvPr>
        </p:nvSpPr>
        <p:spPr>
          <a:xfrm>
            <a:off x="5516217" y="3554125"/>
            <a:ext cx="5837583" cy="2635489"/>
          </a:xfrm>
        </p:spPr>
        <p:txBody>
          <a:bodyPr>
            <a:normAutofit/>
          </a:bodyPr>
          <a:lstStyle>
            <a:lvl1pPr marL="0" indent="0">
              <a:buNone/>
              <a:defRPr sz="2400"/>
            </a:lvl1pPr>
          </a:lstStyle>
          <a:p>
            <a:pPr lvl="0"/>
            <a:endParaRPr lang="da-DK" dirty="0"/>
          </a:p>
        </p:txBody>
      </p:sp>
      <p:sp>
        <p:nvSpPr>
          <p:cNvPr id="7" name="Pladsholder til tekst 5">
            <a:extLst>
              <a:ext uri="{FF2B5EF4-FFF2-40B4-BE49-F238E27FC236}">
                <a16:creationId xmlns:a16="http://schemas.microsoft.com/office/drawing/2014/main" id="{EE19EB5F-DB21-B04C-8318-B9FBCB4D8D6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38132" y="1690689"/>
            <a:ext cx="10515600" cy="186343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</a:lstStyle>
          <a:p>
            <a:pPr lvl="0"/>
            <a:r>
              <a:rPr lang="da-DK" dirty="0"/>
              <a:t>Niveau 1</a:t>
            </a:r>
          </a:p>
          <a:p>
            <a:pPr lvl="1"/>
            <a:r>
              <a:rPr lang="da-DK" dirty="0"/>
              <a:t>Niveau 2</a:t>
            </a:r>
          </a:p>
          <a:p>
            <a:pPr lvl="2"/>
            <a:r>
              <a:rPr lang="da-DK" dirty="0"/>
              <a:t>Niveau 3</a:t>
            </a:r>
          </a:p>
        </p:txBody>
      </p:sp>
    </p:spTree>
    <p:extLst>
      <p:ext uri="{BB962C8B-B14F-4D97-AF65-F5344CB8AC3E}">
        <p14:creationId xmlns:p14="http://schemas.microsoft.com/office/powerpoint/2010/main" val="30290538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 objek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Klik for at redigere i master</a:t>
            </a:r>
          </a:p>
        </p:txBody>
      </p:sp>
      <p:sp>
        <p:nvSpPr>
          <p:cNvPr id="3" name="Pladsholder til indhold 2"/>
          <p:cNvSpPr>
            <a:spLocks noGrp="1"/>
          </p:cNvSpPr>
          <p:nvPr>
            <p:ph sz="half" idx="1"/>
          </p:nvPr>
        </p:nvSpPr>
        <p:spPr>
          <a:xfrm>
            <a:off x="838201" y="1690688"/>
            <a:ext cx="5181600" cy="3969883"/>
          </a:xfrm>
        </p:spPr>
        <p:txBody>
          <a:bodyPr>
            <a:normAutofit/>
          </a:bodyPr>
          <a:lstStyle>
            <a:lvl1pPr marL="0" indent="0">
              <a:buNone/>
              <a:defRPr sz="2400"/>
            </a:lvl1pPr>
          </a:lstStyle>
          <a:p>
            <a:pPr lvl="0"/>
            <a:endParaRPr lang="da-DK" dirty="0"/>
          </a:p>
        </p:txBody>
      </p:sp>
      <p:sp>
        <p:nvSpPr>
          <p:cNvPr id="4" name="Pladsholder til indhold 3"/>
          <p:cNvSpPr>
            <a:spLocks noGrp="1"/>
          </p:cNvSpPr>
          <p:nvPr>
            <p:ph sz="half" idx="2"/>
          </p:nvPr>
        </p:nvSpPr>
        <p:spPr>
          <a:xfrm>
            <a:off x="6172201" y="1690688"/>
            <a:ext cx="5181600" cy="3969883"/>
          </a:xfrm>
        </p:spPr>
        <p:txBody>
          <a:bodyPr>
            <a:normAutofit/>
          </a:bodyPr>
          <a:lstStyle>
            <a:lvl1pPr marL="0" indent="0">
              <a:buNone/>
              <a:defRPr sz="2400"/>
            </a:lvl1pPr>
          </a:lstStyle>
          <a:p>
            <a:pPr lvl="0"/>
            <a:endParaRPr lang="da-DK" dirty="0"/>
          </a:p>
        </p:txBody>
      </p:sp>
      <p:sp>
        <p:nvSpPr>
          <p:cNvPr id="6" name="Pladsholder til tekst 9">
            <a:extLst>
              <a:ext uri="{FF2B5EF4-FFF2-40B4-BE49-F238E27FC236}">
                <a16:creationId xmlns:a16="http://schemas.microsoft.com/office/drawing/2014/main" id="{71D40CD9-7EF4-684D-BA77-18389F1A25C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38200" y="5752484"/>
            <a:ext cx="5181600" cy="410682"/>
          </a:xfrm>
        </p:spPr>
        <p:txBody>
          <a:bodyPr>
            <a:normAutofit/>
          </a:bodyPr>
          <a:lstStyle>
            <a:lvl1pPr marL="0" indent="0">
              <a:buNone/>
              <a:defRPr sz="1600" b="0" i="0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/>
            <a:r>
              <a:rPr lang="da-DK" dirty="0"/>
              <a:t>Eventuel figur eller billedbeskrivelse</a:t>
            </a:r>
          </a:p>
        </p:txBody>
      </p:sp>
      <p:sp>
        <p:nvSpPr>
          <p:cNvPr id="8" name="Pladsholder til tekst 9">
            <a:extLst>
              <a:ext uri="{FF2B5EF4-FFF2-40B4-BE49-F238E27FC236}">
                <a16:creationId xmlns:a16="http://schemas.microsoft.com/office/drawing/2014/main" id="{6EADE04F-1DDF-4542-BF49-5E6D1C7C8125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172201" y="5752484"/>
            <a:ext cx="5181599" cy="410682"/>
          </a:xfrm>
        </p:spPr>
        <p:txBody>
          <a:bodyPr>
            <a:normAutofit/>
          </a:bodyPr>
          <a:lstStyle>
            <a:lvl1pPr marL="0" indent="0">
              <a:buNone/>
              <a:defRPr sz="1600" b="0" i="0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/>
            <a:r>
              <a:rPr lang="da-DK" dirty="0"/>
              <a:t>Eventuel figur eller billedbeskrivelse</a:t>
            </a:r>
          </a:p>
        </p:txBody>
      </p:sp>
    </p:spTree>
    <p:extLst>
      <p:ext uri="{BB962C8B-B14F-4D97-AF65-F5344CB8AC3E}">
        <p14:creationId xmlns:p14="http://schemas.microsoft.com/office/powerpoint/2010/main" val="176789328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ak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el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Klik for at redigere i master</a:t>
            </a:r>
          </a:p>
        </p:txBody>
      </p:sp>
      <p:sp>
        <p:nvSpPr>
          <p:cNvPr id="4" name="Pladsholder til tekst 3">
            <a:extLst>
              <a:ext uri="{FF2B5EF4-FFF2-40B4-BE49-F238E27FC236}">
                <a16:creationId xmlns:a16="http://schemas.microsoft.com/office/drawing/2014/main" id="{740BFE59-D0F2-0545-A8FE-C2A7D4E5BBC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38200" y="2183380"/>
            <a:ext cx="10515599" cy="1325563"/>
          </a:xfrm>
        </p:spPr>
        <p:txBody>
          <a:bodyPr>
            <a:normAutofit/>
          </a:bodyPr>
          <a:lstStyle>
            <a:lvl1pPr marL="0" indent="0" algn="ctr">
              <a:buNone/>
              <a:defRPr sz="7200" b="0" i="0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/>
            <a:r>
              <a:rPr lang="da-DK" dirty="0"/>
              <a:t>Fakta</a:t>
            </a:r>
          </a:p>
        </p:txBody>
      </p:sp>
      <p:sp>
        <p:nvSpPr>
          <p:cNvPr id="8" name="Pladsholder til tekst 3">
            <a:extLst>
              <a:ext uri="{FF2B5EF4-FFF2-40B4-BE49-F238E27FC236}">
                <a16:creationId xmlns:a16="http://schemas.microsoft.com/office/drawing/2014/main" id="{2BDAB250-9F0F-BE4C-9AF8-262BDAFD5E2C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38199" y="3796832"/>
            <a:ext cx="10515599" cy="1325563"/>
          </a:xfrm>
        </p:spPr>
        <p:txBody>
          <a:bodyPr>
            <a:normAutofit/>
          </a:bodyPr>
          <a:lstStyle>
            <a:lvl1pPr marL="0" indent="0" algn="ctr">
              <a:buNone/>
              <a:defRPr sz="3200"/>
            </a:lvl1pPr>
          </a:lstStyle>
          <a:p>
            <a:pPr lvl="0"/>
            <a:r>
              <a:rPr lang="da-DK" dirty="0"/>
              <a:t>Beskrivelse af fakta</a:t>
            </a:r>
          </a:p>
        </p:txBody>
      </p:sp>
      <p:sp>
        <p:nvSpPr>
          <p:cNvPr id="11" name="Rektangel 10">
            <a:extLst>
              <a:ext uri="{FF2B5EF4-FFF2-40B4-BE49-F238E27FC236}">
                <a16:creationId xmlns:a16="http://schemas.microsoft.com/office/drawing/2014/main" id="{F63AA675-F399-D147-A7E0-F1FD67F000FF}"/>
              </a:ext>
            </a:extLst>
          </p:cNvPr>
          <p:cNvSpPr/>
          <p:nvPr userDrawn="1"/>
        </p:nvSpPr>
        <p:spPr>
          <a:xfrm flipV="1">
            <a:off x="4113242" y="3463224"/>
            <a:ext cx="3965512" cy="45719"/>
          </a:xfrm>
          <a:prstGeom prst="rect">
            <a:avLst/>
          </a:prstGeom>
          <a:solidFill>
            <a:srgbClr val="C54D0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31892189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ita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el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Klik for at redigere i master</a:t>
            </a:r>
          </a:p>
        </p:txBody>
      </p:sp>
      <p:sp>
        <p:nvSpPr>
          <p:cNvPr id="4" name="Pladsholder til tekst 3">
            <a:extLst>
              <a:ext uri="{FF2B5EF4-FFF2-40B4-BE49-F238E27FC236}">
                <a16:creationId xmlns:a16="http://schemas.microsoft.com/office/drawing/2014/main" id="{740BFE59-D0F2-0545-A8FE-C2A7D4E5BBC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727255" y="1982823"/>
            <a:ext cx="6737485" cy="3055707"/>
          </a:xfrm>
        </p:spPr>
        <p:txBody>
          <a:bodyPr>
            <a:normAutofit/>
          </a:bodyPr>
          <a:lstStyle>
            <a:lvl1pPr marL="0" indent="0" algn="ctr">
              <a:buNone/>
              <a:defRPr sz="4000" b="0" i="0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/>
            <a:r>
              <a:rPr lang="da-DK" dirty="0"/>
              <a:t>Citat indsættes her</a:t>
            </a:r>
          </a:p>
          <a:p>
            <a:pPr lvl="0"/>
            <a:r>
              <a:rPr lang="da-DK" dirty="0"/>
              <a:t>Husk ” før og efter</a:t>
            </a:r>
          </a:p>
        </p:txBody>
      </p:sp>
      <p:sp>
        <p:nvSpPr>
          <p:cNvPr id="8" name="Pladsholder til tekst 3">
            <a:extLst>
              <a:ext uri="{FF2B5EF4-FFF2-40B4-BE49-F238E27FC236}">
                <a16:creationId xmlns:a16="http://schemas.microsoft.com/office/drawing/2014/main" id="{2BDAB250-9F0F-BE4C-9AF8-262BDAFD5E2C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38199" y="5173613"/>
            <a:ext cx="10515599" cy="382239"/>
          </a:xfrm>
        </p:spPr>
        <p:txBody>
          <a:bodyPr>
            <a:normAutofit/>
          </a:bodyPr>
          <a:lstStyle>
            <a:lvl1pPr marL="0" indent="0" algn="ctr">
              <a:buNone/>
              <a:defRPr sz="1800"/>
            </a:lvl1pPr>
          </a:lstStyle>
          <a:p>
            <a:pPr lvl="0"/>
            <a:r>
              <a:rPr lang="da-DK" dirty="0"/>
              <a:t>Kilde til citat skrives her</a:t>
            </a:r>
          </a:p>
        </p:txBody>
      </p:sp>
    </p:spTree>
    <p:extLst>
      <p:ext uri="{BB962C8B-B14F-4D97-AF65-F5344CB8AC3E}">
        <p14:creationId xmlns:p14="http://schemas.microsoft.com/office/powerpoint/2010/main" val="93638828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Forside I">
    <p:bg>
      <p:bgPr>
        <a:solidFill>
          <a:srgbClr val="001F6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19138" y="654050"/>
            <a:ext cx="5213662" cy="1721087"/>
          </a:xfrm>
        </p:spPr>
        <p:txBody>
          <a:bodyPr anchor="t" anchorCtr="0"/>
          <a:lstStyle>
            <a:lvl1pPr algn="l">
              <a:defRPr sz="6500">
                <a:solidFill>
                  <a:schemeClr val="bg1"/>
                </a:solidFill>
              </a:defRPr>
            </a:lvl1pPr>
          </a:lstStyle>
          <a:p>
            <a:r>
              <a:rPr lang="da-DK"/>
              <a:t>Klik for at redigere i master</a:t>
            </a:r>
            <a:endParaRPr lang="da-DK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720000" y="2432121"/>
            <a:ext cx="5212800" cy="900000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​"/>
              <a:defRPr sz="2500" baseline="0">
                <a:solidFill>
                  <a:schemeClr val="bg1"/>
                </a:solidFill>
              </a:defRPr>
            </a:lvl1pPr>
            <a:lvl2pPr marL="800100" indent="-342900" algn="l">
              <a:buFont typeface="Arial" panose="020B0604020202020204" pitchFamily="34" charset="0"/>
              <a:buChar char="•"/>
              <a:defRPr sz="2000"/>
            </a:lvl2pPr>
            <a:lvl3pPr marL="1200150" indent="-285750" algn="l">
              <a:buFont typeface="Arial" panose="020B0604020202020204" pitchFamily="34" charset="0"/>
              <a:buChar char="•"/>
              <a:defRPr sz="2000"/>
            </a:lvl3pPr>
            <a:lvl4pPr marL="1657350" indent="-285750" algn="l">
              <a:buFont typeface="Arial" panose="020B0604020202020204" pitchFamily="34" charset="0"/>
              <a:buChar char="•"/>
              <a:defRPr sz="2000"/>
            </a:lvl4pPr>
            <a:lvl5pPr marL="2114550" indent="-285750" algn="l">
              <a:buFont typeface="Arial" panose="020B0604020202020204" pitchFamily="34" charset="0"/>
              <a:buChar char="•"/>
              <a:defRPr sz="2000"/>
            </a:lvl5pPr>
            <a:lvl6pPr marL="2571750" indent="-285750" algn="l">
              <a:buFont typeface="Arial" panose="020B0604020202020204" pitchFamily="34" charset="0"/>
              <a:buChar char="•"/>
              <a:defRPr sz="2000"/>
            </a:lvl6pPr>
            <a:lvl7pPr marL="3028950" indent="-285750" algn="l">
              <a:buFont typeface="Arial" panose="020B0604020202020204" pitchFamily="34" charset="0"/>
              <a:buChar char="•"/>
              <a:defRPr sz="2000"/>
            </a:lvl7pPr>
            <a:lvl8pPr marL="3486150" indent="-285750" algn="l">
              <a:buFont typeface="Arial" panose="020B0604020202020204" pitchFamily="34" charset="0"/>
              <a:buChar char="•"/>
              <a:defRPr sz="2000"/>
            </a:lvl8pPr>
            <a:lvl9pPr marL="3943350" indent="-285750" algn="l">
              <a:buFont typeface="Arial" panose="020B0604020202020204" pitchFamily="34" charset="0"/>
              <a:buChar char="•"/>
              <a:defRPr sz="2000"/>
            </a:lvl9pPr>
          </a:lstStyle>
          <a:p>
            <a:r>
              <a:rPr lang="da-DK" dirty="0"/>
              <a:t>Klik her for at tilføje undertitel maks. to linjer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quarter" idx="13" hasCustomPrompt="1"/>
          </p:nvPr>
        </p:nvSpPr>
        <p:spPr>
          <a:xfrm>
            <a:off x="719138" y="3529061"/>
            <a:ext cx="5212800" cy="394255"/>
          </a:xfrm>
        </p:spPr>
        <p:txBody>
          <a:bodyPr anchor="b" anchorCtr="0"/>
          <a:lstStyle>
            <a:lvl1pPr marL="0" indent="0">
              <a:lnSpc>
                <a:spcPct val="106000"/>
              </a:lnSpc>
              <a:buNone/>
              <a:defRPr sz="160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da-DK" dirty="0"/>
              <a:t>Indsæt navn og titel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4" hasCustomPrompt="1"/>
          </p:nvPr>
        </p:nvSpPr>
        <p:spPr>
          <a:xfrm>
            <a:off x="719139" y="4063411"/>
            <a:ext cx="5212800" cy="216795"/>
          </a:xfrm>
        </p:spPr>
        <p:txBody>
          <a:bodyPr anchor="b" anchorCtr="0">
            <a:noAutofit/>
          </a:bodyPr>
          <a:lstStyle>
            <a:lvl1pPr marL="0" indent="0">
              <a:lnSpc>
                <a:spcPct val="106000"/>
              </a:lnSpc>
              <a:buNone/>
              <a:defRPr sz="160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da-DK" dirty="0"/>
              <a:t>Indsæt location</a:t>
            </a:r>
          </a:p>
        </p:txBody>
      </p:sp>
      <p:pic>
        <p:nvPicPr>
          <p:cNvPr id="8" name="Logo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2557" y="587088"/>
            <a:ext cx="5304569" cy="5527222"/>
          </a:xfrm>
          <a:prstGeom prst="rect">
            <a:avLst/>
          </a:prstGeom>
        </p:spPr>
      </p:pic>
      <p:sp>
        <p:nvSpPr>
          <p:cNvPr id="4" name="Date_DateCustomA"/>
          <p:cNvSpPr>
            <a:spLocks noGrp="1"/>
          </p:cNvSpPr>
          <p:nvPr>
            <p:ph type="dt" sz="half" idx="10"/>
          </p:nvPr>
        </p:nvSpPr>
        <p:spPr>
          <a:xfrm>
            <a:off x="719138" y="4277666"/>
            <a:ext cx="5212800" cy="180000"/>
          </a:xfrm>
        </p:spPr>
        <p:txBody>
          <a:bodyPr/>
          <a:lstStyle>
            <a:lvl1pPr algn="l">
              <a:defRPr>
                <a:solidFill>
                  <a:schemeClr val="bg1"/>
                </a:solidFill>
              </a:defRPr>
            </a:lvl1pPr>
          </a:lstStyle>
          <a:p>
            <a:fld id="{DCEB35B1-BC5C-4F24-B72D-591F5A33F1B4}" type="datetime5">
              <a:rPr lang="da-DK" smtClean="0"/>
              <a:pPr/>
              <a:t>august 2026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92976131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Overgangs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dsholder til tekst 9">
            <a:extLst>
              <a:ext uri="{FF2B5EF4-FFF2-40B4-BE49-F238E27FC236}">
                <a16:creationId xmlns:a16="http://schemas.microsoft.com/office/drawing/2014/main" id="{5FCD0FD7-5C9A-674E-8A59-EBBA9850CE9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196548" y="2703050"/>
            <a:ext cx="1391202" cy="946150"/>
          </a:xfrm>
        </p:spPr>
        <p:txBody>
          <a:bodyPr>
            <a:normAutofit/>
          </a:bodyPr>
          <a:lstStyle>
            <a:lvl1pPr marL="0" indent="0" algn="r">
              <a:buNone/>
              <a:defRPr sz="4800">
                <a:solidFill>
                  <a:srgbClr val="C54D02"/>
                </a:solidFill>
              </a:defRPr>
            </a:lvl1pPr>
          </a:lstStyle>
          <a:p>
            <a:pPr lvl="0"/>
            <a:r>
              <a:rPr lang="da-DK" dirty="0"/>
              <a:t>Nr.</a:t>
            </a:r>
          </a:p>
        </p:txBody>
      </p:sp>
      <p:sp>
        <p:nvSpPr>
          <p:cNvPr id="11" name="Pladsholder til tekst 9">
            <a:extLst>
              <a:ext uri="{FF2B5EF4-FFF2-40B4-BE49-F238E27FC236}">
                <a16:creationId xmlns:a16="http://schemas.microsoft.com/office/drawing/2014/main" id="{2BD7A4C4-EA91-CC4E-B7A7-3D2817244B7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587750" y="2703049"/>
            <a:ext cx="5016500" cy="2884543"/>
          </a:xfrm>
        </p:spPr>
        <p:txBody>
          <a:bodyPr>
            <a:normAutofit/>
          </a:bodyPr>
          <a:lstStyle>
            <a:lvl1pPr marL="0" indent="0">
              <a:buNone/>
              <a:defRPr sz="4800">
                <a:solidFill>
                  <a:srgbClr val="383838"/>
                </a:solidFill>
              </a:defRPr>
            </a:lvl1pPr>
          </a:lstStyle>
          <a:p>
            <a:pPr lvl="0"/>
            <a:r>
              <a:rPr lang="da-DK" dirty="0"/>
              <a:t>Overgangstitel</a:t>
            </a:r>
          </a:p>
        </p:txBody>
      </p:sp>
    </p:spTree>
    <p:extLst>
      <p:ext uri="{BB962C8B-B14F-4D97-AF65-F5344CB8AC3E}">
        <p14:creationId xmlns:p14="http://schemas.microsoft.com/office/powerpoint/2010/main" val="401053353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vergangs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dsholder til tekst 9">
            <a:extLst>
              <a:ext uri="{FF2B5EF4-FFF2-40B4-BE49-F238E27FC236}">
                <a16:creationId xmlns:a16="http://schemas.microsoft.com/office/drawing/2014/main" id="{5FCD0FD7-5C9A-674E-8A59-EBBA9850CE9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196548" y="2703050"/>
            <a:ext cx="1391202" cy="946150"/>
          </a:xfrm>
        </p:spPr>
        <p:txBody>
          <a:bodyPr>
            <a:normAutofit/>
          </a:bodyPr>
          <a:lstStyle>
            <a:lvl1pPr marL="0" indent="0" algn="r">
              <a:buNone/>
              <a:defRPr sz="4800">
                <a:solidFill>
                  <a:srgbClr val="C54D02"/>
                </a:solidFill>
              </a:defRPr>
            </a:lvl1pPr>
          </a:lstStyle>
          <a:p>
            <a:pPr lvl="0"/>
            <a:r>
              <a:rPr lang="da-DK" dirty="0"/>
              <a:t>Nr.</a:t>
            </a:r>
          </a:p>
        </p:txBody>
      </p:sp>
      <p:sp>
        <p:nvSpPr>
          <p:cNvPr id="11" name="Pladsholder til tekst 9">
            <a:extLst>
              <a:ext uri="{FF2B5EF4-FFF2-40B4-BE49-F238E27FC236}">
                <a16:creationId xmlns:a16="http://schemas.microsoft.com/office/drawing/2014/main" id="{2BD7A4C4-EA91-CC4E-B7A7-3D2817244B7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587750" y="2703049"/>
            <a:ext cx="5016500" cy="2884543"/>
          </a:xfrm>
        </p:spPr>
        <p:txBody>
          <a:bodyPr>
            <a:normAutofit/>
          </a:bodyPr>
          <a:lstStyle>
            <a:lvl1pPr marL="0" indent="0">
              <a:buNone/>
              <a:defRPr sz="4800">
                <a:solidFill>
                  <a:srgbClr val="383838"/>
                </a:solidFill>
              </a:defRPr>
            </a:lvl1pPr>
          </a:lstStyle>
          <a:p>
            <a:pPr lvl="0"/>
            <a:r>
              <a:rPr lang="da-DK" dirty="0"/>
              <a:t>Overgangstitel</a:t>
            </a:r>
          </a:p>
        </p:txBody>
      </p:sp>
      <p:sp>
        <p:nvSpPr>
          <p:cNvPr id="2" name="Retvinklet trekant 1">
            <a:extLst>
              <a:ext uri="{FF2B5EF4-FFF2-40B4-BE49-F238E27FC236}">
                <a16:creationId xmlns:a16="http://schemas.microsoft.com/office/drawing/2014/main" id="{EB95D17B-09AB-E292-E074-BADC7270985C}"/>
              </a:ext>
            </a:extLst>
          </p:cNvPr>
          <p:cNvSpPr/>
          <p:nvPr userDrawn="1"/>
        </p:nvSpPr>
        <p:spPr>
          <a:xfrm>
            <a:off x="0" y="5232400"/>
            <a:ext cx="7585494" cy="1625600"/>
          </a:xfrm>
          <a:prstGeom prst="rtTriangle">
            <a:avLst/>
          </a:prstGeom>
          <a:solidFill>
            <a:srgbClr val="FFFDE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3" name="Retvinklet trekant 2">
            <a:extLst>
              <a:ext uri="{FF2B5EF4-FFF2-40B4-BE49-F238E27FC236}">
                <a16:creationId xmlns:a16="http://schemas.microsoft.com/office/drawing/2014/main" id="{6381607A-C8C0-885E-F49C-C78CD71E5149}"/>
              </a:ext>
            </a:extLst>
          </p:cNvPr>
          <p:cNvSpPr/>
          <p:nvPr userDrawn="1"/>
        </p:nvSpPr>
        <p:spPr>
          <a:xfrm flipH="1">
            <a:off x="4606506" y="3429000"/>
            <a:ext cx="7585494" cy="3429000"/>
          </a:xfrm>
          <a:prstGeom prst="rtTriangle">
            <a:avLst/>
          </a:prstGeom>
          <a:solidFill>
            <a:srgbClr val="EEFBF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4" name="Rektangel 3">
            <a:extLst>
              <a:ext uri="{FF2B5EF4-FFF2-40B4-BE49-F238E27FC236}">
                <a16:creationId xmlns:a16="http://schemas.microsoft.com/office/drawing/2014/main" id="{E252231E-6360-73D8-16BF-71A3BEBD9ABB}"/>
              </a:ext>
            </a:extLst>
          </p:cNvPr>
          <p:cNvSpPr/>
          <p:nvPr userDrawn="1"/>
        </p:nvSpPr>
        <p:spPr>
          <a:xfrm>
            <a:off x="0" y="0"/>
            <a:ext cx="12192000" cy="182880"/>
          </a:xfrm>
          <a:prstGeom prst="rect">
            <a:avLst/>
          </a:prstGeom>
          <a:solidFill>
            <a:srgbClr val="002C6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5" name="Rektangel 4">
            <a:extLst>
              <a:ext uri="{FF2B5EF4-FFF2-40B4-BE49-F238E27FC236}">
                <a16:creationId xmlns:a16="http://schemas.microsoft.com/office/drawing/2014/main" id="{E4354DDF-3F63-7A02-C6A9-506EA78BBFE3}"/>
              </a:ext>
            </a:extLst>
          </p:cNvPr>
          <p:cNvSpPr/>
          <p:nvPr userDrawn="1"/>
        </p:nvSpPr>
        <p:spPr>
          <a:xfrm>
            <a:off x="0" y="6675120"/>
            <a:ext cx="12192000" cy="182880"/>
          </a:xfrm>
          <a:prstGeom prst="rect">
            <a:avLst/>
          </a:prstGeom>
          <a:solidFill>
            <a:srgbClr val="002C6B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033F13C4-2D70-98C1-A72A-82A2621E0C0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37406" y="6284880"/>
            <a:ext cx="1201588" cy="2723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428154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2.sv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1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tvinklet trekant 9">
            <a:extLst>
              <a:ext uri="{FF2B5EF4-FFF2-40B4-BE49-F238E27FC236}">
                <a16:creationId xmlns:a16="http://schemas.microsoft.com/office/drawing/2014/main" id="{B2E927CB-EAD8-FCB5-1D72-C6E6C30392E9}"/>
              </a:ext>
            </a:extLst>
          </p:cNvPr>
          <p:cNvSpPr/>
          <p:nvPr userDrawn="1"/>
        </p:nvSpPr>
        <p:spPr>
          <a:xfrm>
            <a:off x="0" y="5232400"/>
            <a:ext cx="7585494" cy="1625600"/>
          </a:xfrm>
          <a:prstGeom prst="rtTriangle">
            <a:avLst/>
          </a:prstGeom>
          <a:solidFill>
            <a:srgbClr val="FFFDE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7" name="Retvinklet trekant 6">
            <a:extLst>
              <a:ext uri="{FF2B5EF4-FFF2-40B4-BE49-F238E27FC236}">
                <a16:creationId xmlns:a16="http://schemas.microsoft.com/office/drawing/2014/main" id="{B9386030-25BC-7C68-9A54-625D2ABE0AA8}"/>
              </a:ext>
            </a:extLst>
          </p:cNvPr>
          <p:cNvSpPr/>
          <p:nvPr userDrawn="1"/>
        </p:nvSpPr>
        <p:spPr>
          <a:xfrm flipH="1">
            <a:off x="4606506" y="3429000"/>
            <a:ext cx="7585494" cy="3429000"/>
          </a:xfrm>
          <a:prstGeom prst="rtTriangle">
            <a:avLst/>
          </a:prstGeom>
          <a:solidFill>
            <a:srgbClr val="EEFBF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2" name="Pladsholder til titel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a-DK" dirty="0"/>
              <a:t>Klik for at redigere i master</a:t>
            </a:r>
          </a:p>
        </p:txBody>
      </p:sp>
      <p:sp>
        <p:nvSpPr>
          <p:cNvPr id="3" name="Pladsholder til tekst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a-DK" dirty="0"/>
              <a:t>Rediger typografien i masterens</a:t>
            </a:r>
          </a:p>
          <a:p>
            <a:pPr lvl="1"/>
            <a:r>
              <a:rPr lang="da-DK" dirty="0"/>
              <a:t>Andet niveau</a:t>
            </a:r>
          </a:p>
          <a:p>
            <a:pPr lvl="2"/>
            <a:r>
              <a:rPr lang="da-DK" dirty="0"/>
              <a:t>Tredje niveau</a:t>
            </a:r>
          </a:p>
          <a:p>
            <a:pPr lvl="3"/>
            <a:r>
              <a:rPr lang="da-DK" dirty="0"/>
              <a:t>Fjerde niveau</a:t>
            </a:r>
          </a:p>
          <a:p>
            <a:pPr lvl="4"/>
            <a:r>
              <a:rPr lang="da-DK" dirty="0"/>
              <a:t>Femte niveau</a:t>
            </a:r>
          </a:p>
        </p:txBody>
      </p:sp>
      <p:sp>
        <p:nvSpPr>
          <p:cNvPr id="14" name="Pladsholder til slidenummer 2"/>
          <p:cNvSpPr txBox="1">
            <a:spLocks/>
          </p:cNvSpPr>
          <p:nvPr userDrawn="1"/>
        </p:nvSpPr>
        <p:spPr>
          <a:xfrm>
            <a:off x="8685417" y="6284880"/>
            <a:ext cx="324089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da-DK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17F11F75-2774-4BDF-B167-252AE011E0A9}" type="slidenum">
              <a:rPr lang="da-DK" smtClean="0">
                <a:solidFill>
                  <a:srgbClr val="383838"/>
                </a:solidFill>
              </a:rPr>
              <a:pPr/>
              <a:t>‹#›</a:t>
            </a:fld>
            <a:endParaRPr lang="da-DK" dirty="0">
              <a:solidFill>
                <a:srgbClr val="383838"/>
              </a:solidFill>
            </a:endParaRPr>
          </a:p>
        </p:txBody>
      </p:sp>
      <p:pic>
        <p:nvPicPr>
          <p:cNvPr id="6" name="Billede 5">
            <a:extLst>
              <a:ext uri="{FF2B5EF4-FFF2-40B4-BE49-F238E27FC236}">
                <a16:creationId xmlns:a16="http://schemas.microsoft.com/office/drawing/2014/main" id="{C9CEE631-06D6-5648-A109-0D386A61A6E8}"/>
              </a:ext>
            </a:extLst>
          </p:cNvPr>
          <p:cNvPicPr>
            <a:picLocks noChangeAspect="1"/>
          </p:cNvPicPr>
          <p:nvPr userDrawn="1"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182880"/>
          </a:xfrm>
          <a:prstGeom prst="rect">
            <a:avLst/>
          </a:prstGeom>
        </p:spPr>
      </p:pic>
      <p:pic>
        <p:nvPicPr>
          <p:cNvPr id="11" name="Billede 10">
            <a:extLst>
              <a:ext uri="{FF2B5EF4-FFF2-40B4-BE49-F238E27FC236}">
                <a16:creationId xmlns:a16="http://schemas.microsoft.com/office/drawing/2014/main" id="{17B39725-0A99-FD4E-85B1-337C6F1DAF80}"/>
              </a:ext>
            </a:extLst>
          </p:cNvPr>
          <p:cNvPicPr>
            <a:picLocks noChangeAspect="1"/>
          </p:cNvPicPr>
          <p:nvPr userDrawn="1"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675120"/>
            <a:ext cx="12192000" cy="182880"/>
          </a:xfrm>
          <a:prstGeom prst="rect">
            <a:avLst/>
          </a:prstGeom>
        </p:spPr>
      </p:pic>
      <p:sp>
        <p:nvSpPr>
          <p:cNvPr id="4" name="Rektangel 3">
            <a:extLst>
              <a:ext uri="{FF2B5EF4-FFF2-40B4-BE49-F238E27FC236}">
                <a16:creationId xmlns:a16="http://schemas.microsoft.com/office/drawing/2014/main" id="{4872FA53-1E88-F21C-691B-818CAB7B82C3}"/>
              </a:ext>
            </a:extLst>
          </p:cNvPr>
          <p:cNvSpPr/>
          <p:nvPr userDrawn="1"/>
        </p:nvSpPr>
        <p:spPr>
          <a:xfrm>
            <a:off x="0" y="0"/>
            <a:ext cx="12192000" cy="182880"/>
          </a:xfrm>
          <a:prstGeom prst="rect">
            <a:avLst/>
          </a:prstGeom>
          <a:solidFill>
            <a:srgbClr val="002C6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5" name="Rektangel 4">
            <a:extLst>
              <a:ext uri="{FF2B5EF4-FFF2-40B4-BE49-F238E27FC236}">
                <a16:creationId xmlns:a16="http://schemas.microsoft.com/office/drawing/2014/main" id="{D94951B6-6CFC-8F89-7B65-2C3A2F06527A}"/>
              </a:ext>
            </a:extLst>
          </p:cNvPr>
          <p:cNvSpPr/>
          <p:nvPr userDrawn="1"/>
        </p:nvSpPr>
        <p:spPr>
          <a:xfrm>
            <a:off x="0" y="6675120"/>
            <a:ext cx="12192000" cy="182880"/>
          </a:xfrm>
          <a:prstGeom prst="rect">
            <a:avLst/>
          </a:prstGeom>
          <a:solidFill>
            <a:srgbClr val="002C6B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AE24F5C2-BD4F-0A86-A1A2-0FAFF8DFC3A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237406" y="6284880"/>
            <a:ext cx="1201588" cy="2723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1366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82" r:id="rId2"/>
    <p:sldLayoutId id="2147483714" r:id="rId3"/>
    <p:sldLayoutId id="2147483678" r:id="rId4"/>
    <p:sldLayoutId id="2147483709" r:id="rId5"/>
    <p:sldLayoutId id="2147483675" r:id="rId6"/>
    <p:sldLayoutId id="2147483710" r:id="rId7"/>
    <p:sldLayoutId id="2147483729" r:id="rId8"/>
    <p:sldLayoutId id="2147483677" r:id="rId9"/>
    <p:sldLayoutId id="2147483676" r:id="rId10"/>
    <p:sldLayoutId id="2147483711" r:id="rId11"/>
    <p:sldLayoutId id="2147483731" r:id="rId12"/>
    <p:sldLayoutId id="2147483733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800" b="0" i="0" kern="1200">
          <a:solidFill>
            <a:srgbClr val="B8580A"/>
          </a:solidFill>
          <a:latin typeface="Calibri Light" panose="020F0302020204030204" pitchFamily="34" charset="0"/>
          <a:ea typeface="+mj-ea"/>
          <a:cs typeface="Calibri Light" panose="020F030202020403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rgbClr val="383838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rgbClr val="383838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383838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rgbClr val="383838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rgbClr val="383838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a-DK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titel 1">
            <a:extLst>
              <a:ext uri="{FF2B5EF4-FFF2-40B4-BE49-F238E27FC236}">
                <a16:creationId xmlns:a16="http://schemas.microsoft.com/office/drawing/2014/main" id="{1A86782B-4E6E-0B4B-B4DC-6380705BF6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a-DK"/>
              <a:t>Klik for at redigere titeltypografien i masteren</a:t>
            </a:r>
          </a:p>
        </p:txBody>
      </p:sp>
      <p:sp>
        <p:nvSpPr>
          <p:cNvPr id="3" name="Pladsholder til tekst 2">
            <a:extLst>
              <a:ext uri="{FF2B5EF4-FFF2-40B4-BE49-F238E27FC236}">
                <a16:creationId xmlns:a16="http://schemas.microsoft.com/office/drawing/2014/main" id="{67C3217D-BCCB-9B42-9152-0393F6FB61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</a:p>
        </p:txBody>
      </p:sp>
      <p:sp>
        <p:nvSpPr>
          <p:cNvPr id="4" name="Pladsholder til dato 3">
            <a:extLst>
              <a:ext uri="{FF2B5EF4-FFF2-40B4-BE49-F238E27FC236}">
                <a16:creationId xmlns:a16="http://schemas.microsoft.com/office/drawing/2014/main" id="{4A95A279-8FE0-EB4D-B6CC-8FE9927506C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3F101B6-9FE4-A441-BA9E-EB4796521961}" type="datetimeFigureOut">
              <a:rPr lang="da-DK" smtClean="0"/>
              <a:t>17.08.2026</a:t>
            </a:fld>
            <a:endParaRPr lang="da-DK"/>
          </a:p>
        </p:txBody>
      </p:sp>
      <p:sp>
        <p:nvSpPr>
          <p:cNvPr id="5" name="Pladsholder til sidefod 4">
            <a:extLst>
              <a:ext uri="{FF2B5EF4-FFF2-40B4-BE49-F238E27FC236}">
                <a16:creationId xmlns:a16="http://schemas.microsoft.com/office/drawing/2014/main" id="{EE866B57-A80B-824D-B1E5-EECD402E7F8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da-DK"/>
          </a:p>
        </p:txBody>
      </p:sp>
      <p:sp>
        <p:nvSpPr>
          <p:cNvPr id="6" name="Pladsholder til slidenummer 5">
            <a:extLst>
              <a:ext uri="{FF2B5EF4-FFF2-40B4-BE49-F238E27FC236}">
                <a16:creationId xmlns:a16="http://schemas.microsoft.com/office/drawing/2014/main" id="{0E449ADB-4206-4F44-B909-487682656F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5CD3F01-BE8D-0C47-92DA-22F72A1178FD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6902283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8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a-DK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notalib/workshop-helm-charts" TargetMode="Externa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github.com/Notalib/workshop-kubernetes/tree/solutions/5-composite-system" TargetMode="Externa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Notalib/workshop-helm-chart" TargetMode="External"/><Relationship Id="rId2" Type="http://schemas.openxmlformats.org/officeDocument/2006/relationships/hyperlink" Target="https://helm.sh/docs" TargetMode="Externa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Notalib/workshop-helm-chart" TargetMode="External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kb-dk.atlassian.net/wiki/x/B4BAUQ" TargetMode="Externa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Notalib/devops-demo" TargetMode="External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da-DK" dirty="0"/>
              <a:t>Helm-</a:t>
            </a:r>
            <a:r>
              <a:rPr lang="da-DK" dirty="0" err="1"/>
              <a:t>chart</a:t>
            </a:r>
            <a:r>
              <a:rPr lang="da-DK" dirty="0"/>
              <a:t> Workshop</a:t>
            </a:r>
            <a:br>
              <a:rPr lang="da-DK" dirty="0"/>
            </a:br>
            <a:endParaRPr lang="da-DK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Subtitle 7">
            <a:extLst>
              <a:ext uri="{FF2B5EF4-FFF2-40B4-BE49-F238E27FC236}">
                <a16:creationId xmlns:a16="http://schemas.microsoft.com/office/drawing/2014/main" id="{9A4294B2-87FA-99C2-8EF7-AC6BC8E424D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n-DK" sz="2000" dirty="0"/>
              <a:t>DevOps workshop #3</a:t>
            </a:r>
          </a:p>
        </p:txBody>
      </p:sp>
      <p:sp>
        <p:nvSpPr>
          <p:cNvPr id="6" name="Pladsholder til dato 5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a-DK" sz="1600" dirty="0">
                <a:latin typeface="Calibri" panose="020F0502020204030204" pitchFamily="34" charset="0"/>
                <a:cs typeface="Calibri" panose="020F0502020204030204" pitchFamily="34" charset="0"/>
              </a:rPr>
              <a:t>august 2026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1ECF4BB4-14E3-6F76-849C-B3D19197886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19138" y="3832941"/>
            <a:ext cx="5212800" cy="394255"/>
          </a:xfrm>
        </p:spPr>
        <p:txBody>
          <a:bodyPr/>
          <a:lstStyle/>
          <a:p>
            <a:r>
              <a:rPr lang="da-DK" dirty="0">
                <a:latin typeface="Calibri" panose="020F0502020204030204" pitchFamily="34" charset="0"/>
                <a:cs typeface="Calibri" panose="020F0502020204030204" pitchFamily="34" charset="0"/>
              </a:rPr>
              <a:t>af Daniel Freiling</a:t>
            </a:r>
          </a:p>
        </p:txBody>
      </p:sp>
    </p:spTree>
    <p:extLst>
      <p:ext uri="{BB962C8B-B14F-4D97-AF65-F5344CB8AC3E}">
        <p14:creationId xmlns:p14="http://schemas.microsoft.com/office/powerpoint/2010/main" val="29113801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F9E3A0-B150-708C-E36D-CEC6BAB133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DevOps Workshops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300221-BFE8-A6BB-3486-43C8BA3A05AD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pPr marL="457200" lvl="0" indent="-457200">
              <a:buFont typeface="+mj-lt"/>
              <a:buAutoNum type="arabicPeriod"/>
            </a:pPr>
            <a:r>
              <a:rPr lang="en-DK" b="1" dirty="0"/>
              <a:t>Containerisation</a:t>
            </a:r>
            <a:r>
              <a:rPr lang="en-DK" dirty="0"/>
              <a:t> — byg </a:t>
            </a:r>
            <a:r>
              <a:rPr lang="en-DK" i="1" dirty="0"/>
              <a:t>én</a:t>
            </a:r>
            <a:r>
              <a:rPr lang="en-DK" dirty="0"/>
              <a:t> container</a:t>
            </a:r>
            <a:br>
              <a:rPr lang="en-DK" dirty="0"/>
            </a:br>
            <a:endParaRPr lang="en-DK" dirty="0"/>
          </a:p>
          <a:p>
            <a:pPr marL="457200" lvl="0" indent="-457200">
              <a:buFont typeface="+mj-lt"/>
              <a:buAutoNum type="arabicPeriod"/>
            </a:pPr>
            <a:r>
              <a:rPr lang="en-DK" b="1" dirty="0"/>
              <a:t>Kubernetes</a:t>
            </a:r>
            <a:r>
              <a:rPr lang="en-DK" dirty="0"/>
              <a:t> — kør, skalér og eksponér containere i et cluster</a:t>
            </a:r>
            <a:br>
              <a:rPr lang="en-DK" dirty="0"/>
            </a:br>
            <a:endParaRPr lang="en-DK" dirty="0"/>
          </a:p>
          <a:p>
            <a:pPr marL="457200" lvl="0" indent="-457200">
              <a:buFont typeface="+mj-lt"/>
              <a:buAutoNum type="arabicPeriod"/>
            </a:pPr>
            <a:r>
              <a:rPr lang="en-DK" b="1" dirty="0"/>
              <a:t>Helm</a:t>
            </a:r>
            <a:r>
              <a:rPr lang="en-DK" dirty="0"/>
              <a:t> — pak hele systemet som </a:t>
            </a:r>
            <a:r>
              <a:rPr lang="en-DK" i="1" dirty="0"/>
              <a:t>ét</a:t>
            </a:r>
            <a:r>
              <a:rPr lang="en-DK" dirty="0"/>
              <a:t> versioneret release</a:t>
            </a:r>
          </a:p>
          <a:p>
            <a:pPr marL="1143000" lvl="1" indent="-457200"/>
            <a:r>
              <a:rPr lang="en-DK" dirty="0"/>
              <a:t>+ Processen herfra, skabelon for system-migrering</a:t>
            </a:r>
            <a:br>
              <a:rPr lang="en-DK" dirty="0"/>
            </a:br>
            <a:endParaRPr lang="en-DK" dirty="0"/>
          </a:p>
          <a:p>
            <a:pPr marL="457200" lvl="0" indent="-457200">
              <a:buFont typeface="+mj-lt"/>
              <a:buAutoNum type="arabicPeriod"/>
            </a:pPr>
            <a:r>
              <a:rPr lang="en-DK" b="1" dirty="0"/>
              <a:t>Platformen</a:t>
            </a:r>
            <a:r>
              <a:rPr lang="en-DK" dirty="0"/>
              <a:t> — intro til den nye platform og alle dens værktøjer</a:t>
            </a:r>
          </a:p>
          <a:p>
            <a:endParaRPr lang="en-DK" dirty="0"/>
          </a:p>
        </p:txBody>
      </p:sp>
      <p:sp>
        <p:nvSpPr>
          <p:cNvPr id="5" name="Right Arrow 4">
            <a:extLst>
              <a:ext uri="{FF2B5EF4-FFF2-40B4-BE49-F238E27FC236}">
                <a16:creationId xmlns:a16="http://schemas.microsoft.com/office/drawing/2014/main" id="{FF6ED695-3A7A-53BA-4047-7752C076E3EC}"/>
              </a:ext>
            </a:extLst>
          </p:cNvPr>
          <p:cNvSpPr/>
          <p:nvPr/>
        </p:nvSpPr>
        <p:spPr>
          <a:xfrm>
            <a:off x="230938" y="3303871"/>
            <a:ext cx="587875" cy="308008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420922723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CDEC703-19F7-3DDC-DD3D-A811BE743CD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51557" y="836054"/>
            <a:ext cx="2211435" cy="1402497"/>
          </a:xfrm>
        </p:spPr>
        <p:txBody>
          <a:bodyPr>
            <a:normAutofit fontScale="77500" lnSpcReduction="20000"/>
          </a:bodyPr>
          <a:lstStyle/>
          <a:p>
            <a:r>
              <a:rPr lang="en-DK" dirty="0"/>
              <a:t>Workshop</a:t>
            </a:r>
            <a:br>
              <a:rPr lang="en-DK" dirty="0"/>
            </a:br>
            <a:r>
              <a:rPr lang="en-DK" dirty="0"/>
              <a:t>indhold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9F70071-98AF-1E51-A08C-DC0949918E43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657261" y="822087"/>
            <a:ext cx="9308806" cy="5415083"/>
          </a:xfrm>
        </p:spPr>
        <p:txBody>
          <a:bodyPr>
            <a:normAutofit/>
          </a:bodyPr>
          <a:lstStyle/>
          <a:p>
            <a:pPr marL="914400" indent="-914400">
              <a:buFont typeface="+mj-lt"/>
              <a:buAutoNum type="arabicPeriod"/>
            </a:pPr>
            <a:r>
              <a:rPr lang="en-DK" sz="3600" dirty="0"/>
              <a:t>Resumé</a:t>
            </a:r>
          </a:p>
          <a:p>
            <a:pPr marL="914400" indent="-914400">
              <a:buFont typeface="+mj-lt"/>
              <a:buAutoNum type="arabicPeriod"/>
            </a:pPr>
            <a:r>
              <a:rPr lang="en-DK" sz="3600" dirty="0"/>
              <a:t>Helm-chart basics</a:t>
            </a:r>
          </a:p>
          <a:p>
            <a:pPr marL="914400" indent="-914400">
              <a:buFont typeface="+mj-lt"/>
              <a:buAutoNum type="arabicPeriod"/>
            </a:pPr>
            <a:r>
              <a:rPr lang="en-DK" sz="3600" dirty="0"/>
              <a:t>CLI/Live demo</a:t>
            </a:r>
          </a:p>
          <a:p>
            <a:pPr marL="914400" indent="-914400">
              <a:buFont typeface="+mj-lt"/>
              <a:buAutoNum type="arabicPeriod"/>
            </a:pPr>
            <a:r>
              <a:rPr lang="en-DK" sz="3600" dirty="0"/>
              <a:t>Et simpelt helm-chart </a:t>
            </a:r>
            <a:r>
              <a:rPr lang="en-DK" sz="3600" dirty="0">
                <a:solidFill>
                  <a:srgbClr val="C54D02"/>
                </a:solidFill>
              </a:rPr>
              <a:t>[+Exercise]</a:t>
            </a:r>
            <a:endParaRPr lang="en-DK" sz="3600" dirty="0"/>
          </a:p>
          <a:p>
            <a:pPr marL="914400" indent="-914400">
              <a:buFont typeface="+mj-lt"/>
              <a:buAutoNum type="arabicPeriod"/>
            </a:pPr>
            <a:r>
              <a:rPr lang="en-DK" sz="3600" dirty="0"/>
              <a:t>Chart Templating </a:t>
            </a:r>
            <a:r>
              <a:rPr lang="en-DK" sz="3600" dirty="0">
                <a:solidFill>
                  <a:srgbClr val="C54D02"/>
                </a:solidFill>
              </a:rPr>
              <a:t>[+Exercise]</a:t>
            </a:r>
            <a:endParaRPr lang="en-DK" sz="3600" dirty="0"/>
          </a:p>
          <a:p>
            <a:pPr marL="914400" indent="-914400">
              <a:buFont typeface="+mj-lt"/>
              <a:buAutoNum type="arabicPeriod"/>
            </a:pPr>
            <a:r>
              <a:rPr lang="da-DK" sz="3600" dirty="0"/>
              <a:t>Charts i drift &amp; </a:t>
            </a:r>
            <a:r>
              <a:rPr lang="da-DK" sz="3600" dirty="0" err="1"/>
              <a:t>GitOps</a:t>
            </a:r>
            <a:endParaRPr lang="en-DK" sz="3600" dirty="0">
              <a:solidFill>
                <a:srgbClr val="C54D02"/>
              </a:solidFill>
            </a:endParaRPr>
          </a:p>
          <a:p>
            <a:pPr marL="914400" indent="-914400">
              <a:buFont typeface="+mj-lt"/>
              <a:buAutoNum type="arabicPeriod"/>
            </a:pPr>
            <a:r>
              <a:rPr lang="en-DK" sz="3600" dirty="0">
                <a:solidFill>
                  <a:schemeClr val="tx1"/>
                </a:solidFill>
              </a:rPr>
              <a:t>Processen herfra &amp; skabelon</a:t>
            </a:r>
          </a:p>
          <a:p>
            <a:pPr marL="914400" indent="-914400">
              <a:buFont typeface="+mj-lt"/>
              <a:buAutoNum type="arabicPeriod"/>
            </a:pPr>
            <a:r>
              <a:rPr lang="en-DK" sz="3600" dirty="0">
                <a:solidFill>
                  <a:schemeClr val="tx1"/>
                </a:solidFill>
              </a:rPr>
              <a:t>Chart dit eget system! </a:t>
            </a:r>
            <a:r>
              <a:rPr lang="en-DK" sz="3600" dirty="0">
                <a:solidFill>
                  <a:srgbClr val="C54D02"/>
                </a:solidFill>
              </a:rPr>
              <a:t>[100% Exercise]</a:t>
            </a:r>
          </a:p>
          <a:p>
            <a:pPr marL="914400" indent="-914400">
              <a:buFont typeface="+mj-lt"/>
              <a:buAutoNum type="arabicPeriod"/>
            </a:pPr>
            <a:endParaRPr lang="en-DK" sz="3600" dirty="0"/>
          </a:p>
        </p:txBody>
      </p:sp>
    </p:spTree>
    <p:extLst>
      <p:ext uri="{BB962C8B-B14F-4D97-AF65-F5344CB8AC3E}">
        <p14:creationId xmlns:p14="http://schemas.microsoft.com/office/powerpoint/2010/main" val="25948622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tekst 1">
            <a:extLst>
              <a:ext uri="{FF2B5EF4-FFF2-40B4-BE49-F238E27FC236}">
                <a16:creationId xmlns:a16="http://schemas.microsoft.com/office/drawing/2014/main" id="{9D24A061-C323-8A4F-8E89-14C21DF6239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da-DK"/>
              <a:t>1.</a:t>
            </a:r>
          </a:p>
        </p:txBody>
      </p:sp>
      <p:sp>
        <p:nvSpPr>
          <p:cNvPr id="3" name="Pladsholder til tekst 2">
            <a:extLst>
              <a:ext uri="{FF2B5EF4-FFF2-40B4-BE49-F238E27FC236}">
                <a16:creationId xmlns:a16="http://schemas.microsoft.com/office/drawing/2014/main" id="{4EFCCC45-2736-FB49-8F57-5E5E55DF5903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>
            <a:normAutofit/>
          </a:bodyPr>
          <a:lstStyle/>
          <a:p>
            <a:r>
              <a:rPr lang="da-DK" dirty="0"/>
              <a:t>Resumé</a:t>
            </a:r>
          </a:p>
          <a:p>
            <a:r>
              <a:rPr lang="da-DK" sz="3600" dirty="0"/>
              <a:t>Vigtige pointer fra tidligere workshops</a:t>
            </a:r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3620625581"/>
      </p:ext>
    </p:extLst>
  </p:cSld>
  <p:clrMapOvr>
    <a:masterClrMapping/>
  </p:clrMapOvr>
  <p:transition spd="slow">
    <p:push dir="u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EF6486-3651-9A06-5A6F-3E23E06ED6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Container = Legoklods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381E595-117E-B275-CAF8-CF920DBC83C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8130" y="1690688"/>
            <a:ext cx="10605517" cy="4442517"/>
          </a:xfrm>
        </p:spPr>
        <p:txBody>
          <a:bodyPr>
            <a:normAutofit/>
          </a:bodyPr>
          <a:lstStyle/>
          <a:p>
            <a:r>
              <a:rPr lang="en-DK" dirty="0"/>
              <a:t>Hvis vi kan bygge hvert komponent</a:t>
            </a:r>
            <a:br>
              <a:rPr lang="en-DK" dirty="0"/>
            </a:br>
            <a:r>
              <a:rPr lang="en-DK" dirty="0"/>
              <a:t>i vores system som selvstændige</a:t>
            </a:r>
            <a:br>
              <a:rPr lang="en-DK" dirty="0"/>
            </a:br>
            <a:r>
              <a:rPr lang="en-DK" dirty="0"/>
              <a:t>isolerede komponenter…</a:t>
            </a:r>
            <a:br>
              <a:rPr lang="en-DK" dirty="0"/>
            </a:br>
            <a:endParaRPr lang="en-DK" dirty="0"/>
          </a:p>
          <a:p>
            <a:pPr lvl="1">
              <a:buFont typeface="Wingdings" pitchFamily="2" charset="2"/>
              <a:buChar char="Ø"/>
            </a:pPr>
            <a:r>
              <a:rPr lang="en-DK" dirty="0"/>
              <a:t>Kan vi køre systemet </a:t>
            </a:r>
            <a:r>
              <a:rPr lang="en-DK" u="sng" dirty="0"/>
              <a:t>hvor som helst</a:t>
            </a:r>
            <a:r>
              <a:rPr lang="en-DK" dirty="0"/>
              <a:t>.</a:t>
            </a:r>
          </a:p>
          <a:p>
            <a:endParaRPr lang="en-DK" dirty="0"/>
          </a:p>
          <a:p>
            <a:pPr lvl="1">
              <a:buFont typeface="Wingdings" pitchFamily="2" charset="2"/>
              <a:buChar char="Ø"/>
            </a:pPr>
            <a:r>
              <a:rPr lang="en-DK" dirty="0"/>
              <a:t>Kan vi hurtigt </a:t>
            </a:r>
            <a:r>
              <a:rPr lang="en-DK" u="sng" dirty="0"/>
              <a:t>skalere efter behov</a:t>
            </a:r>
            <a:r>
              <a:rPr lang="en-DK" dirty="0"/>
              <a:t>, ved at sætte flere af de samme legoklodser på pladen.</a:t>
            </a:r>
          </a:p>
          <a:p>
            <a:endParaRPr lang="en-DK" dirty="0"/>
          </a:p>
          <a:p>
            <a:pPr lvl="1">
              <a:buFont typeface="Wingdings" pitchFamily="2" charset="2"/>
              <a:buChar char="Ø"/>
            </a:pPr>
            <a:r>
              <a:rPr lang="en-DK" dirty="0"/>
              <a:t>Kan vi </a:t>
            </a:r>
            <a:r>
              <a:rPr lang="en-DK" u="sng" dirty="0"/>
              <a:t>opbygge komplekse systemer</a:t>
            </a:r>
            <a:r>
              <a:rPr lang="en-DK" dirty="0"/>
              <a:t> ud af flere lego-klodser, ved at sætte dem sammen.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43617030-578C-F4AF-ECE3-DBE0E89D8B6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27548" y="1088617"/>
            <a:ext cx="6655483" cy="27725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826503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DC576AD-C039-BBB7-C924-818AB6DC04A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8869"/>
          <a:stretch>
            <a:fillRect/>
          </a:stretch>
        </p:blipFill>
        <p:spPr>
          <a:xfrm>
            <a:off x="1276350" y="262730"/>
            <a:ext cx="10510730" cy="63857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718181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578AD8-1D55-B56D-CD65-DB1D44CC71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243681"/>
            <a:ext cx="10515600" cy="1325563"/>
          </a:xfrm>
        </p:spPr>
        <p:txBody>
          <a:bodyPr/>
          <a:lstStyle/>
          <a:p>
            <a:r>
              <a:rPr lang="en-DK" dirty="0"/>
              <a:t>Kubernetes Cluster</a:t>
            </a:r>
          </a:p>
        </p:txBody>
      </p:sp>
      <p:pic>
        <p:nvPicPr>
          <p:cNvPr id="4098" name="Picture 2" descr="Kubernetes vs Docker - Kubernetes components. Kubernetes vs Docker">
            <a:extLst>
              <a:ext uri="{FF2B5EF4-FFF2-40B4-BE49-F238E27FC236}">
                <a16:creationId xmlns:a16="http://schemas.microsoft.com/office/drawing/2014/main" id="{36FFC76C-9A9F-F423-F94D-B27F0C86F9B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87625" y="1296367"/>
            <a:ext cx="7928918" cy="53179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FECDFFA-55AC-3ED7-F3FF-275EE8011DA9}"/>
              </a:ext>
            </a:extLst>
          </p:cNvPr>
          <p:cNvSpPr txBox="1"/>
          <p:nvPr/>
        </p:nvSpPr>
        <p:spPr>
          <a:xfrm>
            <a:off x="6338711" y="1153745"/>
            <a:ext cx="224139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K" sz="4800" dirty="0"/>
              <a:t>🧠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9C8AEEB-96C8-A2E7-720B-BD3ED79F0C8D}"/>
              </a:ext>
            </a:extLst>
          </p:cNvPr>
          <p:cNvSpPr txBox="1"/>
          <p:nvPr/>
        </p:nvSpPr>
        <p:spPr>
          <a:xfrm>
            <a:off x="6095999" y="4165373"/>
            <a:ext cx="224139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K" sz="4000" dirty="0"/>
              <a:t>💪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C1DC6EC-0C42-F360-1D23-FB6D6D306B11}"/>
              </a:ext>
            </a:extLst>
          </p:cNvPr>
          <p:cNvSpPr txBox="1"/>
          <p:nvPr/>
        </p:nvSpPr>
        <p:spPr>
          <a:xfrm>
            <a:off x="2096792" y="4142197"/>
            <a:ext cx="224139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K" sz="4000" dirty="0"/>
              <a:t>💪</a:t>
            </a:r>
          </a:p>
        </p:txBody>
      </p:sp>
    </p:spTree>
    <p:extLst>
      <p:ext uri="{BB962C8B-B14F-4D97-AF65-F5344CB8AC3E}">
        <p14:creationId xmlns:p14="http://schemas.microsoft.com/office/powerpoint/2010/main" val="186016647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28880C9-FF6F-6E89-5436-7E96866C11C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31" t="15766" r="2858" b="3870"/>
          <a:stretch>
            <a:fillRect/>
          </a:stretch>
        </p:blipFill>
        <p:spPr>
          <a:xfrm>
            <a:off x="1172816" y="635228"/>
            <a:ext cx="9846367" cy="55875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765654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75ECD7-F04F-2B34-9AEB-589F9D56AB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06425"/>
          </a:xfrm>
        </p:spPr>
        <p:txBody>
          <a:bodyPr>
            <a:normAutofit fontScale="90000"/>
          </a:bodyPr>
          <a:lstStyle/>
          <a:p>
            <a:pPr algn="ctr"/>
            <a:r>
              <a:rPr lang="en-DK" dirty="0"/>
              <a:t>Fra kubectl til kørende Pod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0A3B0B8-D137-6EF2-DBAC-00DEF395B00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59" t="16500" r="1687" b="5097"/>
          <a:stretch>
            <a:fillRect/>
          </a:stretch>
        </p:blipFill>
        <p:spPr>
          <a:xfrm>
            <a:off x="25875" y="1121664"/>
            <a:ext cx="12140249" cy="5502276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8FB1D976-778C-11C6-F662-ABB0358C703C}"/>
              </a:ext>
            </a:extLst>
          </p:cNvPr>
          <p:cNvSpPr/>
          <p:nvPr/>
        </p:nvSpPr>
        <p:spPr>
          <a:xfrm>
            <a:off x="4158114" y="2261937"/>
            <a:ext cx="1780673" cy="2868328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K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1D7C5C9-80AB-29B7-B5B4-4BE4F827EEB8}"/>
              </a:ext>
            </a:extLst>
          </p:cNvPr>
          <p:cNvSpPr txBox="1"/>
          <p:nvPr/>
        </p:nvSpPr>
        <p:spPr>
          <a:xfrm rot="20804853">
            <a:off x="1885317" y="4963025"/>
            <a:ext cx="224268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K" sz="2800" dirty="0">
                <a:solidFill>
                  <a:srgbClr val="FF0000"/>
                </a:solidFill>
              </a:rPr>
              <a:t>Vores fokus -&gt;</a:t>
            </a:r>
          </a:p>
        </p:txBody>
      </p:sp>
    </p:spTree>
    <p:extLst>
      <p:ext uri="{BB962C8B-B14F-4D97-AF65-F5344CB8AC3E}">
        <p14:creationId xmlns:p14="http://schemas.microsoft.com/office/powerpoint/2010/main" val="140282420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F17E6F-603F-B191-18D4-9C76887DAB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tekst 1">
            <a:extLst>
              <a:ext uri="{FF2B5EF4-FFF2-40B4-BE49-F238E27FC236}">
                <a16:creationId xmlns:a16="http://schemas.microsoft.com/office/drawing/2014/main" id="{DA3E4D65-EB7A-D35E-28FA-2FEA620029C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da-DK" dirty="0"/>
              <a:t>2.</a:t>
            </a:r>
          </a:p>
        </p:txBody>
      </p:sp>
      <p:sp>
        <p:nvSpPr>
          <p:cNvPr id="3" name="Pladsholder til tekst 2">
            <a:extLst>
              <a:ext uri="{FF2B5EF4-FFF2-40B4-BE49-F238E27FC236}">
                <a16:creationId xmlns:a16="http://schemas.microsoft.com/office/drawing/2014/main" id="{38808E94-A188-1521-3493-A0722902771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>
            <a:normAutofit/>
          </a:bodyPr>
          <a:lstStyle/>
          <a:p>
            <a:r>
              <a:rPr lang="da-DK" dirty="0"/>
              <a:t>Helm-</a:t>
            </a:r>
            <a:r>
              <a:rPr lang="da-DK" dirty="0" err="1"/>
              <a:t>chart</a:t>
            </a:r>
            <a:br>
              <a:rPr lang="da-DK" dirty="0"/>
            </a:br>
            <a:r>
              <a:rPr lang="da-DK" dirty="0"/>
              <a:t>basics</a:t>
            </a:r>
          </a:p>
          <a:p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4162990059"/>
      </p:ext>
    </p:extLst>
  </p:cSld>
  <p:clrMapOvr>
    <a:masterClrMapping/>
  </p:clrMapOvr>
  <p:transition spd="slow">
    <p:push dir="u"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276574E-FBC0-9850-10FC-535E0197FB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9688" y="4004989"/>
            <a:ext cx="7113765" cy="232464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449DF90-E4E3-04A9-423A-8612CD2A56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Hvilket problem løser det?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A6FC19C-0C2F-8BB7-FCFF-A4BC24C827E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DK" i="1" dirty="0">
                <a:solidFill>
                  <a:srgbClr val="005DE0"/>
                </a:solidFill>
              </a:rPr>
              <a:t>"Skal jeg virkelig copy-paste al den YAML for hver eneste app og hvert miljø?"</a:t>
            </a:r>
            <a:r>
              <a:rPr lang="en-DK" dirty="0">
                <a:solidFill>
                  <a:srgbClr val="005DE0"/>
                </a:solidFill>
              </a:rPr>
              <a:t> </a:t>
            </a:r>
            <a:endParaRPr lang="en-GB" sz="2800" dirty="0">
              <a:solidFill>
                <a:srgbClr val="005DE0"/>
              </a:solidFill>
            </a:endParaRPr>
          </a:p>
          <a:p>
            <a:endParaRPr lang="en-GB" sz="2000" dirty="0"/>
          </a:p>
          <a:p>
            <a:pPr marL="0" indent="0">
              <a:buNone/>
            </a:pPr>
            <a:r>
              <a:rPr lang="en-GB" sz="2000" b="1" dirty="0"/>
              <a:t>Raw Kubernetes YAML is</a:t>
            </a:r>
          </a:p>
          <a:p>
            <a:pPr lvl="1"/>
            <a:r>
              <a:rPr lang="en-GB" sz="1800" dirty="0"/>
              <a:t>Repetitive</a:t>
            </a:r>
          </a:p>
          <a:p>
            <a:pPr lvl="1"/>
            <a:r>
              <a:rPr lang="en-GB" sz="1800" dirty="0"/>
              <a:t>Hard to reuse</a:t>
            </a:r>
          </a:p>
          <a:p>
            <a:pPr lvl="1"/>
            <a:r>
              <a:rPr lang="en-GB" sz="1800" dirty="0"/>
              <a:t>Hard to configure per environment</a:t>
            </a:r>
          </a:p>
          <a:p>
            <a:pPr lvl="1"/>
            <a:endParaRPr lang="en-GB" sz="1800" dirty="0"/>
          </a:p>
          <a:p>
            <a:pPr marL="0" indent="0">
              <a:buNone/>
            </a:pPr>
            <a:r>
              <a:rPr lang="en-GB" sz="2000" b="1" u="sng" dirty="0"/>
              <a:t>Helm comes to the rescue!</a:t>
            </a:r>
            <a:endParaRPr lang="en-GB" sz="1800" b="1" u="sng" dirty="0"/>
          </a:p>
          <a:p>
            <a:pPr lvl="1">
              <a:buFont typeface="Wingdings" pitchFamily="2" charset="2"/>
              <a:buChar char="Ø"/>
            </a:pPr>
            <a:endParaRPr lang="en-GB" sz="1800" b="1" dirty="0"/>
          </a:p>
          <a:p>
            <a:endParaRPr lang="en-DK" sz="1800" dirty="0"/>
          </a:p>
        </p:txBody>
      </p:sp>
    </p:spTree>
    <p:extLst>
      <p:ext uri="{BB962C8B-B14F-4D97-AF65-F5344CB8AC3E}">
        <p14:creationId xmlns:p14="http://schemas.microsoft.com/office/powerpoint/2010/main" val="198542232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C19EC4-18FC-E2BD-09B9-DF018FC322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Det Helm giver os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FC34B10-091B-067E-D5E9-A53FA6E1192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pPr lvl="0"/>
            <a:r>
              <a:rPr lang="en-DK" b="1" dirty="0"/>
              <a:t>Packaging</a:t>
            </a:r>
            <a:br>
              <a:rPr lang="en-DK" b="1" dirty="0"/>
            </a:br>
            <a:r>
              <a:rPr lang="en-DK" dirty="0"/>
              <a:t>Hele systemet som ét artefakt med ét semantisk versionsnummer.</a:t>
            </a:r>
            <a:br>
              <a:rPr lang="en-DK" dirty="0"/>
            </a:br>
            <a:endParaRPr lang="en-DK" dirty="0"/>
          </a:p>
          <a:p>
            <a:pPr lvl="0"/>
            <a:r>
              <a:rPr lang="en-DK" b="1" dirty="0"/>
              <a:t>Configuration</a:t>
            </a:r>
            <a:br>
              <a:rPr lang="en-DK" b="1" dirty="0"/>
            </a:br>
            <a:r>
              <a:rPr lang="en-DK" dirty="0"/>
              <a:t>Knapper (aka. </a:t>
            </a:r>
            <a:r>
              <a:rPr lang="en-GB" dirty="0"/>
              <a:t>k</a:t>
            </a:r>
            <a:r>
              <a:rPr lang="en-DK" dirty="0"/>
              <a:t>nobs) i stedet for redigering af rå YAML.</a:t>
            </a:r>
            <a:br>
              <a:rPr lang="en-DK" dirty="0"/>
            </a:br>
            <a:endParaRPr lang="en-DK" dirty="0"/>
          </a:p>
          <a:p>
            <a:pPr lvl="0"/>
            <a:r>
              <a:rPr lang="en-DK" b="1" dirty="0"/>
              <a:t>Releases</a:t>
            </a:r>
            <a:br>
              <a:rPr lang="en-DK" b="1" dirty="0"/>
            </a:br>
            <a:r>
              <a:rPr lang="en-DK" dirty="0"/>
              <a:t>Nummererede revisioner, med rollback funktion.</a:t>
            </a:r>
            <a:br>
              <a:rPr lang="en-DK" dirty="0"/>
            </a:br>
            <a:endParaRPr lang="en-DK" dirty="0"/>
          </a:p>
          <a:p>
            <a:pPr lvl="0"/>
            <a:r>
              <a:rPr lang="en-DK" b="1" dirty="0"/>
              <a:t>Distribution</a:t>
            </a:r>
            <a:br>
              <a:rPr lang="en-DK" b="1" dirty="0"/>
            </a:br>
            <a:r>
              <a:rPr lang="en-DK" dirty="0"/>
              <a:t>Charts pushes til et fælles registry (app-store), ved siden af vores images.</a:t>
            </a:r>
          </a:p>
          <a:p>
            <a:endParaRPr lang="en-DK" dirty="0"/>
          </a:p>
        </p:txBody>
      </p:sp>
    </p:spTree>
    <p:extLst>
      <p:ext uri="{BB962C8B-B14F-4D97-AF65-F5344CB8AC3E}">
        <p14:creationId xmlns:p14="http://schemas.microsoft.com/office/powerpoint/2010/main" val="97443958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756B03-B713-6A3A-ABC3-B482C358AF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Hvad er Helm?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9D69098-E7FB-72F7-4B78-AD6BED8ABE4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pPr lvl="0"/>
            <a:r>
              <a:rPr lang="en-DK" b="1" dirty="0"/>
              <a:t>En package manager for Kubernetes</a:t>
            </a:r>
            <a:r>
              <a:rPr lang="en-DK" dirty="0"/>
              <a:t> — apt/npm, men for cluster-workloads</a:t>
            </a:r>
          </a:p>
          <a:p>
            <a:pPr lvl="0"/>
            <a:endParaRPr lang="en-DK" dirty="0"/>
          </a:p>
          <a:p>
            <a:pPr lvl="0"/>
            <a:r>
              <a:rPr lang="en-DK" dirty="0"/>
              <a:t>Termer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DK" dirty="0"/>
              <a:t>Chart = pakken 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DK" dirty="0"/>
              <a:t>Repository = registry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DK" dirty="0"/>
              <a:t>Release = installation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DK" dirty="0"/>
              <a:t>Revision = version af installationen</a:t>
            </a:r>
          </a:p>
          <a:p>
            <a:pPr lvl="0"/>
            <a:endParaRPr lang="en-DK" dirty="0"/>
          </a:p>
          <a:p>
            <a:pPr lvl="0"/>
            <a:r>
              <a:rPr lang="en-DK" dirty="0"/>
              <a:t>Bare en CLI + noget metadata i clusteret </a:t>
            </a:r>
            <a:r>
              <a:rPr lang="en-DK" dirty="0">
                <a:sym typeface="Wingdings" pitchFamily="2" charset="2"/>
              </a:rPr>
              <a:t> </a:t>
            </a:r>
            <a:r>
              <a:rPr lang="en-DK" b="1" dirty="0"/>
              <a:t>Ingen server eller controller.</a:t>
            </a:r>
            <a:endParaRPr lang="en-DK" dirty="0"/>
          </a:p>
          <a:p>
            <a:endParaRPr lang="en-DK" dirty="0"/>
          </a:p>
        </p:txBody>
      </p:sp>
    </p:spTree>
    <p:extLst>
      <p:ext uri="{BB962C8B-B14F-4D97-AF65-F5344CB8AC3E}">
        <p14:creationId xmlns:p14="http://schemas.microsoft.com/office/powerpoint/2010/main" val="147757819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DEF0BA6-D142-11B7-4D1D-AF61A3ECDAC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77" t="15342" r="1550" b="12192"/>
          <a:stretch>
            <a:fillRect/>
          </a:stretch>
        </p:blipFill>
        <p:spPr>
          <a:xfrm>
            <a:off x="4940135" y="3305812"/>
            <a:ext cx="7053943" cy="294832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21DD70F-0023-735C-EFDB-BA16DE2BDE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Chart = Byggesæt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22CA3A2-7848-3D06-BEDE-D44FBC52BB7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8131" y="1690689"/>
            <a:ext cx="5408290" cy="4282600"/>
          </a:xfrm>
        </p:spPr>
        <p:txBody>
          <a:bodyPr/>
          <a:lstStyle/>
          <a:p>
            <a:r>
              <a:rPr lang="en-DK" dirty="0"/>
              <a:t>Vi brygger videre på lego-analogien…</a:t>
            </a:r>
            <a:br>
              <a:rPr lang="en-DK" dirty="0"/>
            </a:br>
            <a:endParaRPr lang="en-DK" dirty="0"/>
          </a:p>
          <a:p>
            <a:r>
              <a:rPr lang="en-DK" dirty="0"/>
              <a:t>Løse brikker (containers &amp; manifester)</a:t>
            </a:r>
            <a:br>
              <a:rPr lang="en-DK" dirty="0"/>
            </a:br>
            <a:r>
              <a:rPr lang="en-DK" dirty="0"/>
              <a:t>→ packaged as a boxed set with parts list and instruction booklet.</a:t>
            </a:r>
            <a:br>
              <a:rPr lang="en-DK" dirty="0"/>
            </a:br>
            <a:endParaRPr lang="en-DK" dirty="0"/>
          </a:p>
          <a:p>
            <a:r>
              <a:rPr lang="en-DK" dirty="0"/>
              <a:t>Same bricks. Now shippable, and someone else can build it.</a:t>
            </a:r>
          </a:p>
        </p:txBody>
      </p:sp>
    </p:spTree>
    <p:extLst>
      <p:ext uri="{BB962C8B-B14F-4D97-AF65-F5344CB8AC3E}">
        <p14:creationId xmlns:p14="http://schemas.microsoft.com/office/powerpoint/2010/main" val="301953913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AB0BA4-B745-C0FA-8A10-63A9872731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3623D8-FF87-6AE2-D9DB-AEF7AF97EC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Helm chart – Structure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4671CC4-4B65-2247-BCD1-03C0310820C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8132" y="1690688"/>
            <a:ext cx="10840724" cy="4442517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GB" b="1" dirty="0" err="1">
                <a:latin typeface="Consolas" panose="020B0609020204030204" pitchFamily="49" charset="0"/>
                <a:cs typeface="Consolas" panose="020B0609020204030204" pitchFamily="49" charset="0"/>
              </a:rPr>
              <a:t>Chart.yaml</a:t>
            </a:r>
            <a:endParaRPr lang="en-GB" b="1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GB" dirty="0"/>
              <a:t>Metadata about the application.</a:t>
            </a:r>
          </a:p>
          <a:p>
            <a:pPr lvl="1"/>
            <a:r>
              <a:rPr lang="en-GB" dirty="0"/>
              <a:t>v</a:t>
            </a:r>
            <a:r>
              <a:rPr lang="en-DK" dirty="0"/>
              <a:t>ersion: Semver of the helm chart, can change independently of the app.</a:t>
            </a:r>
          </a:p>
          <a:p>
            <a:pPr lvl="1"/>
            <a:r>
              <a:rPr lang="en-DK" dirty="0"/>
              <a:t>appVersion: Semver of the contained app which will be installed.</a:t>
            </a:r>
          </a:p>
          <a:p>
            <a:pPr lvl="1"/>
            <a:endParaRPr lang="en-DK" dirty="0"/>
          </a:p>
          <a:p>
            <a:pPr marL="0" indent="0">
              <a:buNone/>
            </a:pPr>
            <a:r>
              <a:rPr lang="en-DK" b="1" dirty="0">
                <a:latin typeface="Consolas" panose="020B0609020204030204" pitchFamily="49" charset="0"/>
                <a:cs typeface="Consolas" panose="020B0609020204030204" pitchFamily="49" charset="0"/>
              </a:rPr>
              <a:t>values.yaml</a:t>
            </a:r>
          </a:p>
          <a:p>
            <a:pPr lvl="1"/>
            <a:r>
              <a:rPr lang="en-DK" dirty="0">
                <a:latin typeface="Calibri" panose="020F0502020204030204" pitchFamily="34" charset="0"/>
                <a:cs typeface="Calibri" panose="020F0502020204030204" pitchFamily="34" charset="0"/>
              </a:rPr>
              <a:t>Values used to template in k8s resources.</a:t>
            </a:r>
          </a:p>
          <a:p>
            <a:pPr lvl="1"/>
            <a:r>
              <a:rPr lang="en-DK" dirty="0">
                <a:latin typeface="Calibri" panose="020F0502020204030204" pitchFamily="34" charset="0"/>
                <a:cs typeface="Calibri" panose="020F0502020204030204" pitchFamily="34" charset="0"/>
              </a:rPr>
              <a:t>Should have sane defaults for installation.</a:t>
            </a:r>
          </a:p>
          <a:p>
            <a:pPr lvl="1"/>
            <a:r>
              <a:rPr lang="en-DK" dirty="0">
                <a:latin typeface="Calibri" panose="020F0502020204030204" pitchFamily="34" charset="0"/>
                <a:cs typeface="Calibri" panose="020F0502020204030204" pitchFamily="34" charset="0"/>
              </a:rPr>
              <a:t>Can have a full schema for validation before install.</a:t>
            </a:r>
          </a:p>
          <a:p>
            <a:pPr lvl="1"/>
            <a:endParaRPr lang="en-DK" dirty="0"/>
          </a:p>
          <a:p>
            <a:pPr marL="0" indent="0">
              <a:buNone/>
            </a:pPr>
            <a:r>
              <a:rPr lang="en-GB" b="1" dirty="0">
                <a:latin typeface="Consolas" panose="020B0609020204030204" pitchFamily="49" charset="0"/>
                <a:cs typeface="Consolas" panose="020B0609020204030204" pitchFamily="49" charset="0"/>
              </a:rPr>
              <a:t>t</a:t>
            </a:r>
            <a:r>
              <a:rPr lang="en-DK" b="1" dirty="0">
                <a:latin typeface="Consolas" panose="020B0609020204030204" pitchFamily="49" charset="0"/>
                <a:cs typeface="Consolas" panose="020B0609020204030204" pitchFamily="49" charset="0"/>
              </a:rPr>
              <a:t>emplates/*</a:t>
            </a:r>
          </a:p>
          <a:p>
            <a:pPr lvl="1"/>
            <a:r>
              <a:rPr lang="en-GB" dirty="0"/>
              <a:t>A directory of Kubernetes (k8s) resource templates </a:t>
            </a:r>
            <a:r>
              <a:rPr lang="en-DK" dirty="0">
                <a:latin typeface="Calibri" panose="020F0502020204030204" pitchFamily="34" charset="0"/>
                <a:cs typeface="Calibri" panose="020F0502020204030204" pitchFamily="34" charset="0"/>
              </a:rPr>
              <a:t>(Deployments, Secrets, Services, etc.)</a:t>
            </a:r>
            <a:endParaRPr lang="en-GB" dirty="0"/>
          </a:p>
          <a:p>
            <a:pPr lvl="1"/>
            <a:r>
              <a:rPr lang="en-GB" dirty="0"/>
              <a:t>Combined with values, they will generate valid Kubernetes manifest files.</a:t>
            </a:r>
            <a:endParaRPr lang="en-DK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1771703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0E5EAB-C3D3-9E02-2924-672D4FEE5B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1254" y="365125"/>
            <a:ext cx="10515600" cy="1325563"/>
          </a:xfrm>
        </p:spPr>
        <p:txBody>
          <a:bodyPr/>
          <a:lstStyle/>
          <a:p>
            <a:r>
              <a:rPr lang="en-DK" dirty="0"/>
              <a:t>Chart.yaml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B56BFC6-D3AF-B418-1DC5-A370EF9E23A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731254" y="1690688"/>
            <a:ext cx="10515600" cy="4442517"/>
          </a:xfrm>
        </p:spPr>
        <p:txBody>
          <a:bodyPr/>
          <a:lstStyle/>
          <a:p>
            <a:r>
              <a:rPr lang="en-DK" dirty="0">
                <a:latin typeface="Consolas" panose="020B0609020204030204" pitchFamily="49" charset="0"/>
                <a:cs typeface="Consolas" panose="020B0609020204030204" pitchFamily="49" charset="0"/>
              </a:rPr>
              <a:t>apiVersion: v2</a:t>
            </a:r>
          </a:p>
          <a:p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n</a:t>
            </a:r>
            <a:r>
              <a:rPr lang="en-DK" dirty="0">
                <a:latin typeface="Consolas" panose="020B0609020204030204" pitchFamily="49" charset="0"/>
                <a:cs typeface="Consolas" panose="020B0609020204030204" pitchFamily="49" charset="0"/>
              </a:rPr>
              <a:t>ame</a:t>
            </a:r>
          </a:p>
          <a:p>
            <a:r>
              <a:rPr lang="en-DK" dirty="0">
                <a:latin typeface="Consolas" panose="020B0609020204030204" pitchFamily="49" charset="0"/>
                <a:cs typeface="Consolas" panose="020B0609020204030204" pitchFamily="49" charset="0"/>
              </a:rPr>
              <a:t>version (of chart)</a:t>
            </a:r>
          </a:p>
          <a:p>
            <a:r>
              <a:rPr lang="en-DK" dirty="0">
                <a:latin typeface="Consolas" panose="020B0609020204030204" pitchFamily="49" charset="0"/>
                <a:cs typeface="Consolas" panose="020B0609020204030204" pitchFamily="49" charset="0"/>
              </a:rPr>
              <a:t>appVersion (of app)</a:t>
            </a:r>
          </a:p>
          <a:p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d</a:t>
            </a:r>
            <a:r>
              <a:rPr lang="en-DK" dirty="0">
                <a:latin typeface="Consolas" panose="020B0609020204030204" pitchFamily="49" charset="0"/>
                <a:cs typeface="Consolas" panose="020B0609020204030204" pitchFamily="49" charset="0"/>
              </a:rPr>
              <a:t>ependencies</a:t>
            </a:r>
          </a:p>
          <a:p>
            <a:pPr lvl="1"/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S</a:t>
            </a:r>
            <a:r>
              <a:rPr lang="en-DK" dirty="0">
                <a:latin typeface="Consolas" panose="020B0609020204030204" pitchFamily="49" charset="0"/>
                <a:cs typeface="Consolas" panose="020B0609020204030204" pitchFamily="49" charset="0"/>
              </a:rPr>
              <a:t>ub-charts</a:t>
            </a:r>
          </a:p>
          <a:p>
            <a:pPr lvl="1"/>
            <a:endParaRPr lang="en-DK" sz="18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DK" sz="2000" dirty="0">
                <a:latin typeface="Consolas" panose="020B0609020204030204" pitchFamily="49" charset="0"/>
                <a:cs typeface="Consolas" panose="020B0609020204030204" pitchFamily="49" charset="0"/>
              </a:rPr>
              <a:t>Optional:</a:t>
            </a:r>
            <a:br>
              <a:rPr lang="en-DK" sz="200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DK" sz="2000" dirty="0">
                <a:latin typeface="Consolas" panose="020B0609020204030204" pitchFamily="49" charset="0"/>
                <a:cs typeface="Consolas" panose="020B0609020204030204" pitchFamily="49" charset="0"/>
              </a:rPr>
              <a:t>keywords, home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1E435B8-DF75-47C2-1814-AF5287B19D8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726"/>
          <a:stretch>
            <a:fillRect/>
          </a:stretch>
        </p:blipFill>
        <p:spPr>
          <a:xfrm>
            <a:off x="4556083" y="1690689"/>
            <a:ext cx="7378700" cy="3581956"/>
          </a:xfrm>
          <a:prstGeom prst="rect">
            <a:avLst/>
          </a:prstGeom>
          <a:ln>
            <a:solidFill>
              <a:schemeClr val="accent1">
                <a:shade val="1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44109741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B80A40-C339-15FC-2BF6-EF91E8A9D1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Values.yaml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FDE99AF-F3C1-5619-4F46-4D77148CED6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8132" y="1690688"/>
            <a:ext cx="4659566" cy="4442517"/>
          </a:xfrm>
        </p:spPr>
        <p:txBody>
          <a:bodyPr/>
          <a:lstStyle/>
          <a:p>
            <a:r>
              <a:rPr lang="en-DK" dirty="0"/>
              <a:t>API’en til opsætning systemet.</a:t>
            </a:r>
          </a:p>
          <a:p>
            <a:r>
              <a:rPr lang="en-DK" dirty="0"/>
              <a:t>Chartet’s eksterne “kontrakt”.</a:t>
            </a:r>
          </a:p>
          <a:p>
            <a:pPr lvl="0"/>
            <a:r>
              <a:rPr lang="en-DK" dirty="0"/>
              <a:t>Defaults til nem opsætning</a:t>
            </a:r>
          </a:p>
          <a:p>
            <a:pPr lvl="0"/>
            <a:r>
              <a:rPr lang="en-DK" dirty="0"/>
              <a:t>Hver key er et løfte til den der installerer</a:t>
            </a:r>
          </a:p>
          <a:p>
            <a:pPr lvl="0"/>
            <a:r>
              <a:rPr lang="en-DK" dirty="0"/>
              <a:t>Omdøb value = </a:t>
            </a:r>
            <a:r>
              <a:rPr lang="en-DK" b="1" dirty="0"/>
              <a:t>breaking change </a:t>
            </a:r>
            <a:r>
              <a:rPr lang="en-DK" dirty="0"/>
              <a:t>→ derfor versioneret</a:t>
            </a:r>
          </a:p>
          <a:p>
            <a:r>
              <a:rPr lang="en-DK" dirty="0"/>
              <a:t>Values overskrives med prioritet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DK" sz="1400" dirty="0">
                <a:latin typeface="Consolas" panose="020B0609020204030204" pitchFamily="49" charset="0"/>
                <a:cs typeface="Consolas" panose="020B0609020204030204" pitchFamily="49" charset="0"/>
              </a:rPr>
              <a:t>--set replicas=3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DK" sz="1400" dirty="0">
                <a:latin typeface="Consolas" panose="020B0609020204030204" pitchFamily="49" charset="0"/>
                <a:cs typeface="Consolas" panose="020B0609020204030204" pitchFamily="49" charset="0"/>
              </a:rPr>
              <a:t>-f my-values.yml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DK" sz="1400" dirty="0">
                <a:latin typeface="Consolas" panose="020B0609020204030204" pitchFamily="49" charset="0"/>
                <a:cs typeface="Consolas" panose="020B0609020204030204" pitchFamily="49" charset="0"/>
              </a:rPr>
              <a:t>Chart default</a:t>
            </a:r>
          </a:p>
          <a:p>
            <a:endParaRPr lang="en-DK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2CADE15-C750-AEB7-5C40-0EB63E8FC94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97698" y="1206500"/>
            <a:ext cx="6540500" cy="4445000"/>
          </a:xfrm>
          <a:prstGeom prst="rect">
            <a:avLst/>
          </a:prstGeom>
          <a:ln>
            <a:solidFill>
              <a:schemeClr val="accent1">
                <a:shade val="1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333147182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E9365C9B-CB18-CDFC-630C-105C5E3539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13222" y="1727121"/>
            <a:ext cx="7383776" cy="415116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050F6D8-328E-3A1D-107C-B6BE26F031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DK" dirty="0"/>
              <a:t>Chart ≠ Release 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DA4A48C-B93E-F2A1-1E6A-59CA9965D5B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8132" y="1690688"/>
            <a:ext cx="6477068" cy="4442517"/>
          </a:xfrm>
        </p:spPr>
        <p:txBody>
          <a:bodyPr/>
          <a:lstStyle/>
          <a:p>
            <a:r>
              <a:rPr lang="en-DK" dirty="0"/>
              <a:t>A single chart can be installed </a:t>
            </a:r>
            <a:r>
              <a:rPr lang="en-DK" u="sng" dirty="0"/>
              <a:t>many</a:t>
            </a:r>
            <a:r>
              <a:rPr lang="en-DK" dirty="0"/>
              <a:t> times.</a:t>
            </a:r>
          </a:p>
          <a:p>
            <a:r>
              <a:rPr lang="en-DK" dirty="0"/>
              <a:t>One chart → dev + stage + prod releases</a:t>
            </a:r>
          </a:p>
          <a:p>
            <a:r>
              <a:rPr lang="en-DK" dirty="0"/>
              <a:t>One chart </a:t>
            </a:r>
            <a:r>
              <a:rPr lang="en-DK" dirty="0">
                <a:sym typeface="Wingdings" pitchFamily="2" charset="2"/>
              </a:rPr>
              <a:t> </a:t>
            </a:r>
            <a:r>
              <a:rPr lang="en-DK" dirty="0"/>
              <a:t>several namespaces (same cluster)</a:t>
            </a:r>
          </a:p>
          <a:p>
            <a:r>
              <a:rPr lang="en-DK" dirty="0"/>
              <a:t>Each release exists independently of the other.</a:t>
            </a:r>
          </a:p>
          <a:p>
            <a:endParaRPr lang="en-DK" dirty="0"/>
          </a:p>
        </p:txBody>
      </p:sp>
    </p:spTree>
    <p:extLst>
      <p:ext uri="{BB962C8B-B14F-4D97-AF65-F5344CB8AC3E}">
        <p14:creationId xmlns:p14="http://schemas.microsoft.com/office/powerpoint/2010/main" val="332117282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D9EACF-E4C5-FCD1-3169-1C4E17BAE3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Release revisioner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63E8057-D07F-CE20-07CC-B18A38BC2D7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8200" y="1571933"/>
            <a:ext cx="10515600" cy="4442517"/>
          </a:xfrm>
        </p:spPr>
        <p:txBody>
          <a:bodyPr>
            <a:normAutofit/>
          </a:bodyPr>
          <a:lstStyle/>
          <a:p>
            <a:r>
              <a:rPr lang="en-DK" dirty="0"/>
              <a:t>Revision timeline er </a:t>
            </a:r>
            <a:r>
              <a:rPr lang="en-DK" u="sng" dirty="0"/>
              <a:t>altid sekventiel.</a:t>
            </a:r>
          </a:p>
          <a:p>
            <a:r>
              <a:rPr lang="en-DK" dirty="0"/>
              <a:t>Rollback går ikke tilbage i historikken — den tilføjer en ny revision.</a:t>
            </a:r>
          </a:p>
          <a:p>
            <a:r>
              <a:rPr lang="en-DK" dirty="0"/>
              <a:t>Release historik: </a:t>
            </a:r>
            <a:r>
              <a:rPr lang="en-GB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helm history greetings -n stage</a:t>
            </a:r>
            <a:br>
              <a:rPr lang="en-GB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</a:br>
            <a:endParaRPr lang="en-DK" dirty="0"/>
          </a:p>
          <a:p>
            <a:pPr marL="0" indent="0">
              <a:buNone/>
            </a:pPr>
            <a:endParaRPr lang="en-DK" dirty="0"/>
          </a:p>
          <a:p>
            <a:pPr marL="0" indent="0">
              <a:buNone/>
            </a:pPr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rev 1       rev 2       rev 3       rev 4       rev 5</a:t>
            </a:r>
          </a:p>
          <a:p>
            <a:pPr marL="0" indent="0">
              <a:buNone/>
            </a:pPr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install     upgrade     upgrade     upgrade     rollback → 3</a:t>
            </a:r>
          </a:p>
          <a:p>
            <a:pPr marL="0" indent="0">
              <a:buNone/>
            </a:pPr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v1.0.0      v1.0.1      v1.1.0      v1.2.0      v1.1.0</a:t>
            </a:r>
          </a:p>
          <a:p>
            <a:pPr marL="0" indent="0">
              <a:buNone/>
            </a:pPr>
            <a:r>
              <a:rPr lang="en-DK" dirty="0">
                <a:latin typeface="Consolas" panose="020B0609020204030204" pitchFamily="49" charset="0"/>
                <a:cs typeface="Consolas" panose="020B0609020204030204" pitchFamily="49" charset="0"/>
              </a:rPr>
              <a:t>✅          ✅          ✅          ❌ </a:t>
            </a:r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FAILED   </a:t>
            </a:r>
            <a:r>
              <a:rPr lang="en-DK" dirty="0">
                <a:latin typeface="Consolas" panose="020B0609020204030204" pitchFamily="49" charset="0"/>
                <a:cs typeface="Consolas" panose="020B0609020204030204" pitchFamily="49" charset="0"/>
              </a:rPr>
              <a:t>✅</a:t>
            </a:r>
          </a:p>
        </p:txBody>
      </p:sp>
      <p:sp>
        <p:nvSpPr>
          <p:cNvPr id="14" name="Curved Down Arrow 13">
            <a:extLst>
              <a:ext uri="{FF2B5EF4-FFF2-40B4-BE49-F238E27FC236}">
                <a16:creationId xmlns:a16="http://schemas.microsoft.com/office/drawing/2014/main" id="{C762C8D9-2E1C-7788-F975-199A47F63EB7}"/>
              </a:ext>
            </a:extLst>
          </p:cNvPr>
          <p:cNvSpPr/>
          <p:nvPr/>
        </p:nvSpPr>
        <p:spPr>
          <a:xfrm rot="10800000">
            <a:off x="4975754" y="5511742"/>
            <a:ext cx="4144489" cy="651552"/>
          </a:xfrm>
          <a:prstGeom prst="curvedDownArrow">
            <a:avLst/>
          </a:prstGeom>
          <a:solidFill>
            <a:srgbClr val="FFC000"/>
          </a:solidFill>
          <a:ln w="19050">
            <a:solidFill>
              <a:schemeClr val="tx1"/>
            </a:solidFill>
            <a:miter lim="800000"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2030122 w 4144489"/>
                      <a:gd name="csY0" fmla="*/ 632 h 673966"/>
                      <a:gd name="csX1" fmla="*/ 168492 w 4144489"/>
                      <a:gd name="csY1" fmla="*/ 673966 h 673966"/>
                      <a:gd name="csX2" fmla="*/ 0 w 4144489"/>
                      <a:gd name="csY2" fmla="*/ 673966 h 673966"/>
                      <a:gd name="csX3" fmla="*/ 1945876 w 4144489"/>
                      <a:gd name="csY3" fmla="*/ 0 h 673966"/>
                      <a:gd name="csX4" fmla="*/ 2114367 w 4144489"/>
                      <a:gd name="csY4" fmla="*/ 0 h 673966"/>
                      <a:gd name="csX5" fmla="*/ 3998453 w 4144489"/>
                      <a:gd name="csY5" fmla="*/ 505474 h 673966"/>
                      <a:gd name="csX6" fmla="*/ 4082699 w 4144489"/>
                      <a:gd name="csY6" fmla="*/ 505475 h 673966"/>
                      <a:gd name="csX7" fmla="*/ 3975998 w 4144489"/>
                      <a:gd name="csY7" fmla="*/ 673966 h 673966"/>
                      <a:gd name="csX8" fmla="*/ 3745716 w 4144489"/>
                      <a:gd name="csY8" fmla="*/ 505475 h 673966"/>
                      <a:gd name="csX9" fmla="*/ 3829962 w 4144489"/>
                      <a:gd name="csY9" fmla="*/ 505475 h 673966"/>
                      <a:gd name="csX10" fmla="*/ 1945876 w 4144489"/>
                      <a:gd name="csY10" fmla="*/ 1 h 673966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  <a:cxn ang="0">
                        <a:pos x="csX7" y="csY7"/>
                      </a:cxn>
                      <a:cxn ang="0">
                        <a:pos x="csX8" y="csY8"/>
                      </a:cxn>
                      <a:cxn ang="0">
                        <a:pos x="csX9" y="csY9"/>
                      </a:cxn>
                      <a:cxn ang="0">
                        <a:pos x="csX10" y="csY10"/>
                      </a:cxn>
                    </a:cxnLst>
                    <a:rect l="l" t="t" r="r" b="b"/>
                    <a:pathLst>
                      <a:path w="4144489" h="673966" stroke="0" extrusionOk="0">
                        <a:moveTo>
                          <a:pt x="3975998" y="673966"/>
                        </a:moveTo>
                        <a:cubicBezTo>
                          <a:pt x="3846607" y="611663"/>
                          <a:pt x="3860508" y="555830"/>
                          <a:pt x="3745716" y="505475"/>
                        </a:cubicBezTo>
                        <a:cubicBezTo>
                          <a:pt x="3774887" y="498014"/>
                          <a:pt x="3807737" y="508123"/>
                          <a:pt x="3829962" y="505475"/>
                        </a:cubicBezTo>
                        <a:cubicBezTo>
                          <a:pt x="3570594" y="415399"/>
                          <a:pt x="2731884" y="-55427"/>
                          <a:pt x="1945876" y="1"/>
                        </a:cubicBezTo>
                        <a:cubicBezTo>
                          <a:pt x="2028693" y="-18383"/>
                          <a:pt x="2055768" y="12157"/>
                          <a:pt x="2114367" y="0"/>
                        </a:cubicBezTo>
                        <a:cubicBezTo>
                          <a:pt x="2981549" y="-13202"/>
                          <a:pt x="3790541" y="185258"/>
                          <a:pt x="3998453" y="505474"/>
                        </a:cubicBezTo>
                        <a:cubicBezTo>
                          <a:pt x="4024249" y="499796"/>
                          <a:pt x="4050399" y="509291"/>
                          <a:pt x="4082699" y="505475"/>
                        </a:cubicBezTo>
                        <a:cubicBezTo>
                          <a:pt x="4044776" y="592086"/>
                          <a:pt x="4004390" y="593651"/>
                          <a:pt x="3975998" y="673966"/>
                        </a:cubicBezTo>
                        <a:close/>
                      </a:path>
                      <a:path w="4144489" h="673966" fill="darkenLess" stroke="0" extrusionOk="0">
                        <a:moveTo>
                          <a:pt x="2030122" y="632"/>
                        </a:moveTo>
                        <a:cubicBezTo>
                          <a:pt x="974662" y="15425"/>
                          <a:pt x="171250" y="305531"/>
                          <a:pt x="168492" y="673966"/>
                        </a:cubicBezTo>
                        <a:cubicBezTo>
                          <a:pt x="89262" y="685124"/>
                          <a:pt x="60195" y="669939"/>
                          <a:pt x="0" y="673966"/>
                        </a:cubicBezTo>
                        <a:cubicBezTo>
                          <a:pt x="114065" y="517364"/>
                          <a:pt x="586572" y="91773"/>
                          <a:pt x="1376973" y="29447"/>
                        </a:cubicBezTo>
                        <a:cubicBezTo>
                          <a:pt x="1598093" y="-38612"/>
                          <a:pt x="1800182" y="-1192"/>
                          <a:pt x="2030122" y="632"/>
                        </a:cubicBezTo>
                        <a:close/>
                      </a:path>
                      <a:path w="4144489" h="673966" fill="none" extrusionOk="0">
                        <a:moveTo>
                          <a:pt x="2030122" y="632"/>
                        </a:moveTo>
                        <a:cubicBezTo>
                          <a:pt x="971664" y="70882"/>
                          <a:pt x="151661" y="260090"/>
                          <a:pt x="168492" y="673966"/>
                        </a:cubicBezTo>
                        <a:cubicBezTo>
                          <a:pt x="117597" y="682262"/>
                          <a:pt x="57505" y="662736"/>
                          <a:pt x="0" y="673966"/>
                        </a:cubicBezTo>
                        <a:cubicBezTo>
                          <a:pt x="14825" y="315492"/>
                          <a:pt x="1003157" y="-78899"/>
                          <a:pt x="1945876" y="0"/>
                        </a:cubicBezTo>
                        <a:cubicBezTo>
                          <a:pt x="2012910" y="-7079"/>
                          <a:pt x="2080473" y="19300"/>
                          <a:pt x="2114367" y="0"/>
                        </a:cubicBezTo>
                        <a:cubicBezTo>
                          <a:pt x="2991562" y="37873"/>
                          <a:pt x="3789085" y="211480"/>
                          <a:pt x="3998453" y="505474"/>
                        </a:cubicBezTo>
                        <a:cubicBezTo>
                          <a:pt x="4039648" y="500693"/>
                          <a:pt x="4062914" y="512198"/>
                          <a:pt x="4082699" y="505475"/>
                        </a:cubicBezTo>
                        <a:cubicBezTo>
                          <a:pt x="4057277" y="558588"/>
                          <a:pt x="3985966" y="621976"/>
                          <a:pt x="3975998" y="673966"/>
                        </a:cubicBezTo>
                        <a:cubicBezTo>
                          <a:pt x="3884470" y="643345"/>
                          <a:pt x="3838343" y="538782"/>
                          <a:pt x="3745716" y="505475"/>
                        </a:cubicBezTo>
                        <a:cubicBezTo>
                          <a:pt x="3770020" y="500968"/>
                          <a:pt x="3793360" y="508815"/>
                          <a:pt x="3829962" y="505475"/>
                        </a:cubicBezTo>
                        <a:cubicBezTo>
                          <a:pt x="3553729" y="110731"/>
                          <a:pt x="2632757" y="93153"/>
                          <a:pt x="1945876" y="1"/>
                        </a:cubicBezTo>
                      </a:path>
                      <a:path w="4144489" h="673966" fill="none" stroke="0" extrusionOk="0">
                        <a:moveTo>
                          <a:pt x="2030122" y="632"/>
                        </a:moveTo>
                        <a:cubicBezTo>
                          <a:pt x="978476" y="8866"/>
                          <a:pt x="148923" y="311704"/>
                          <a:pt x="168492" y="673966"/>
                        </a:cubicBezTo>
                        <a:cubicBezTo>
                          <a:pt x="99645" y="681608"/>
                          <a:pt x="41340" y="655180"/>
                          <a:pt x="0" y="673966"/>
                        </a:cubicBezTo>
                        <a:cubicBezTo>
                          <a:pt x="42859" y="293038"/>
                          <a:pt x="983445" y="18235"/>
                          <a:pt x="1945876" y="0"/>
                        </a:cubicBezTo>
                        <a:cubicBezTo>
                          <a:pt x="1983346" y="-9196"/>
                          <a:pt x="2057353" y="14225"/>
                          <a:pt x="2114367" y="0"/>
                        </a:cubicBezTo>
                        <a:cubicBezTo>
                          <a:pt x="2956665" y="71469"/>
                          <a:pt x="3668993" y="213645"/>
                          <a:pt x="3998453" y="505474"/>
                        </a:cubicBezTo>
                        <a:cubicBezTo>
                          <a:pt x="4029833" y="499732"/>
                          <a:pt x="4047245" y="505482"/>
                          <a:pt x="4082699" y="505475"/>
                        </a:cubicBezTo>
                        <a:cubicBezTo>
                          <a:pt x="4059182" y="571712"/>
                          <a:pt x="4018848" y="583891"/>
                          <a:pt x="3975998" y="673966"/>
                        </a:cubicBezTo>
                        <a:cubicBezTo>
                          <a:pt x="3900707" y="619061"/>
                          <a:pt x="3865910" y="569438"/>
                          <a:pt x="3745716" y="505475"/>
                        </a:cubicBezTo>
                        <a:cubicBezTo>
                          <a:pt x="3783270" y="502094"/>
                          <a:pt x="3800211" y="508240"/>
                          <a:pt x="3829962" y="505475"/>
                        </a:cubicBezTo>
                        <a:cubicBezTo>
                          <a:pt x="3719355" y="277976"/>
                          <a:pt x="2636213" y="43226"/>
                          <a:pt x="1945876" y="1"/>
                        </a:cubicBezTo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K">
              <a:solidFill>
                <a:schemeClr val="tx1"/>
              </a:solidFill>
            </a:endParaRPr>
          </a:p>
        </p:txBody>
      </p:sp>
      <p:sp>
        <p:nvSpPr>
          <p:cNvPr id="15" name="Striped Right Arrow 14">
            <a:extLst>
              <a:ext uri="{FF2B5EF4-FFF2-40B4-BE49-F238E27FC236}">
                <a16:creationId xmlns:a16="http://schemas.microsoft.com/office/drawing/2014/main" id="{D6F549A0-9991-4C9C-B5A0-B01D55DCA17E}"/>
              </a:ext>
            </a:extLst>
          </p:cNvPr>
          <p:cNvSpPr/>
          <p:nvPr/>
        </p:nvSpPr>
        <p:spPr>
          <a:xfrm>
            <a:off x="671945" y="3245905"/>
            <a:ext cx="10419676" cy="484939"/>
          </a:xfrm>
          <a:prstGeom prst="stripedRightArrow">
            <a:avLst/>
          </a:prstGeom>
          <a:solidFill>
            <a:srgbClr val="00B0F0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K" dirty="0"/>
          </a:p>
        </p:txBody>
      </p:sp>
    </p:spTree>
    <p:extLst>
      <p:ext uri="{BB962C8B-B14F-4D97-AF65-F5344CB8AC3E}">
        <p14:creationId xmlns:p14="http://schemas.microsoft.com/office/powerpoint/2010/main" val="69590975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7097CF-0ADD-1270-2001-E3881A6E73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Hvor bor et release?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3E748392-0CB6-97E6-F1A1-3EF3119808B5}"/>
              </a:ext>
            </a:extLst>
          </p:cNvPr>
          <p:cNvGrpSpPr/>
          <p:nvPr/>
        </p:nvGrpSpPr>
        <p:grpSpPr>
          <a:xfrm>
            <a:off x="6787311" y="1017176"/>
            <a:ext cx="5168766" cy="5116029"/>
            <a:chOff x="3426593" y="1372371"/>
            <a:chExt cx="5168766" cy="5116029"/>
          </a:xfrm>
        </p:grpSpPr>
        <p:sp>
          <p:nvSpPr>
            <p:cNvPr id="4" name="Rounded Rectangle 3">
              <a:extLst>
                <a:ext uri="{FF2B5EF4-FFF2-40B4-BE49-F238E27FC236}">
                  <a16:creationId xmlns:a16="http://schemas.microsoft.com/office/drawing/2014/main" id="{9522A52E-B61E-7E86-5CDD-AE63FB194B82}"/>
                </a:ext>
              </a:extLst>
            </p:cNvPr>
            <p:cNvSpPr/>
            <p:nvPr/>
          </p:nvSpPr>
          <p:spPr>
            <a:xfrm>
              <a:off x="3426593" y="1372371"/>
              <a:ext cx="5168766" cy="5116029"/>
            </a:xfrm>
            <a:prstGeom prst="roundRect">
              <a:avLst/>
            </a:prstGeom>
            <a:solidFill>
              <a:schemeClr val="accent3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br>
                <a:rPr lang="da-DK" sz="2000" dirty="0">
                  <a:solidFill>
                    <a:schemeClr val="tx1"/>
                  </a:solidFill>
                </a:rPr>
              </a:br>
              <a:r>
                <a:rPr lang="da-DK" sz="2000" b="1" dirty="0">
                  <a:solidFill>
                    <a:schemeClr val="tx1"/>
                  </a:solidFill>
                </a:rPr>
                <a:t>Helm release:</a:t>
              </a:r>
              <a:r>
                <a:rPr lang="da-DK" sz="2000" dirty="0">
                  <a:solidFill>
                    <a:schemeClr val="tx1"/>
                  </a:solidFill>
                </a:rPr>
                <a:t> </a:t>
              </a:r>
              <a:r>
                <a:rPr lang="da-DK" sz="2000" dirty="0" err="1">
                  <a:solidFill>
                    <a:schemeClr val="tx1"/>
                  </a:solidFill>
                </a:rPr>
                <a:t>greetings</a:t>
              </a:r>
              <a:endParaRPr lang="en-DK" sz="2000" dirty="0">
                <a:solidFill>
                  <a:schemeClr val="tx1"/>
                </a:solidFill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49E3369A-5477-E133-5AEA-4B2CAB4432E1}"/>
                </a:ext>
              </a:extLst>
            </p:cNvPr>
            <p:cNvSpPr/>
            <p:nvPr/>
          </p:nvSpPr>
          <p:spPr>
            <a:xfrm>
              <a:off x="3825917" y="2465592"/>
              <a:ext cx="4370119" cy="102138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DK" dirty="0"/>
                <a:t>Secret</a:t>
              </a:r>
              <a:br>
                <a:rPr lang="en-DK" dirty="0"/>
              </a:br>
              <a:r>
                <a:rPr lang="en-GB" dirty="0"/>
                <a:t>sh.helm.release.v1.greetings.v1</a:t>
              </a:r>
              <a:br>
                <a:rPr lang="en-GB" dirty="0"/>
              </a:br>
              <a:r>
                <a:rPr lang="en-GB" dirty="0"/>
                <a:t>revision 1</a:t>
              </a:r>
              <a:endParaRPr lang="en-DK" dirty="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A2CCEB28-C7A9-F073-ED5E-2D10F740101F}"/>
                </a:ext>
              </a:extLst>
            </p:cNvPr>
            <p:cNvSpPr/>
            <p:nvPr/>
          </p:nvSpPr>
          <p:spPr>
            <a:xfrm>
              <a:off x="3825917" y="3672402"/>
              <a:ext cx="4370119" cy="102138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DK" dirty="0"/>
                <a:t>Secret</a:t>
              </a:r>
              <a:br>
                <a:rPr lang="en-DK" dirty="0"/>
              </a:br>
              <a:r>
                <a:rPr lang="en-GB" dirty="0"/>
                <a:t>sh.helm.release.v1.greetings.v2</a:t>
              </a:r>
              <a:br>
                <a:rPr lang="en-GB" dirty="0"/>
              </a:br>
              <a:r>
                <a:rPr lang="en-GB" dirty="0"/>
                <a:t>revision 2</a:t>
              </a:r>
              <a:endParaRPr lang="en-DK" dirty="0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4DB97920-3128-078F-8664-3F09F5C50734}"/>
                </a:ext>
              </a:extLst>
            </p:cNvPr>
            <p:cNvSpPr/>
            <p:nvPr/>
          </p:nvSpPr>
          <p:spPr>
            <a:xfrm>
              <a:off x="3825917" y="4879212"/>
              <a:ext cx="4370119" cy="102138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DK" dirty="0"/>
                <a:t>Secret</a:t>
              </a:r>
              <a:br>
                <a:rPr lang="en-DK" dirty="0"/>
              </a:br>
              <a:r>
                <a:rPr lang="en-GB" dirty="0"/>
                <a:t>sh.helm.release.v1.greetings.v3</a:t>
              </a:r>
              <a:br>
                <a:rPr lang="en-GB" dirty="0"/>
              </a:br>
              <a:r>
                <a:rPr lang="en-GB" dirty="0"/>
                <a:t>revision 3</a:t>
              </a:r>
              <a:endParaRPr lang="en-DK" dirty="0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28C82853-BEE0-1DB4-59C6-34AFCCDAA5ED}"/>
                </a:ext>
              </a:extLst>
            </p:cNvPr>
            <p:cNvSpPr txBox="1"/>
            <p:nvPr/>
          </p:nvSpPr>
          <p:spPr>
            <a:xfrm>
              <a:off x="4809588" y="1372371"/>
              <a:ext cx="262436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000" b="1" dirty="0"/>
                <a:t>n</a:t>
              </a:r>
              <a:r>
                <a:rPr lang="en-DK" sz="2000" b="1" dirty="0"/>
                <a:t>amespace:</a:t>
              </a:r>
              <a:r>
                <a:rPr lang="en-DK" sz="2000" dirty="0"/>
                <a:t> stage</a:t>
              </a:r>
            </a:p>
          </p:txBody>
        </p:sp>
      </p:grp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B7820AA2-0E08-EADB-37BE-C430AE0D74D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8200" y="1690688"/>
            <a:ext cx="10515600" cy="444251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DK" dirty="0"/>
              <a:t>Find release historikken:</a:t>
            </a:r>
          </a:p>
          <a:p>
            <a:pPr marL="0" indent="0">
              <a:buNone/>
            </a:pPr>
            <a:r>
              <a:rPr lang="en-GB" dirty="0" err="1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kubectl</a:t>
            </a:r>
            <a:r>
              <a:rPr lang="en-GB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get secret -l owner=helm</a:t>
            </a:r>
            <a:endParaRPr lang="en-DK" dirty="0"/>
          </a:p>
          <a:p>
            <a:endParaRPr lang="en-DK" dirty="0"/>
          </a:p>
          <a:p>
            <a:pPr marL="0" indent="0">
              <a:buNone/>
            </a:pPr>
            <a:r>
              <a:rPr lang="en-DK" dirty="0"/>
              <a:t>Pointer:</a:t>
            </a:r>
          </a:p>
          <a:p>
            <a:r>
              <a:rPr lang="en-DK" dirty="0"/>
              <a:t>Historik bor i clusteret</a:t>
            </a:r>
          </a:p>
          <a:p>
            <a:pPr lvl="0"/>
            <a:r>
              <a:rPr lang="en-DK" dirty="0"/>
              <a:t>Slet namespace → historikken forsvinder</a:t>
            </a:r>
          </a:p>
          <a:p>
            <a:pPr marL="0" indent="0">
              <a:buNone/>
            </a:pPr>
            <a:endParaRPr lang="en-DK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0837810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BAF2ACED-803C-0B02-FB7E-C0497DA417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DK" dirty="0"/>
              <a:t>Hvor helms arbejde slutter</a:t>
            </a:r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6B088D89-E96C-950A-8741-ECBB1667BA51}"/>
              </a:ext>
            </a:extLst>
          </p:cNvPr>
          <p:cNvSpPr txBox="1">
            <a:spLocks/>
          </p:cNvSpPr>
          <p:nvPr/>
        </p:nvSpPr>
        <p:spPr>
          <a:xfrm>
            <a:off x="838200" y="1690688"/>
            <a:ext cx="10894621" cy="444975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400" kern="1200">
                <a:solidFill>
                  <a:srgbClr val="383838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rgbClr val="383838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rgbClr val="383838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rgbClr val="383838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rgbClr val="383838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DK" dirty="0"/>
              <a:t>Helm templater/renderer manifester og afleverer dem til Kubernetes.</a:t>
            </a:r>
          </a:p>
          <a:p>
            <a:r>
              <a:rPr lang="en-DK" dirty="0"/>
              <a:t>Stadig Kubernetes der holder det kørende - helm følger ikke med i hvad der sker.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D76472AE-A3A1-D226-5669-4FBC118EED03}"/>
              </a:ext>
            </a:extLst>
          </p:cNvPr>
          <p:cNvGrpSpPr/>
          <p:nvPr/>
        </p:nvGrpSpPr>
        <p:grpSpPr>
          <a:xfrm>
            <a:off x="2304735" y="2836748"/>
            <a:ext cx="7772400" cy="3825309"/>
            <a:chOff x="2304735" y="2836748"/>
            <a:chExt cx="7772400" cy="3825309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958C08D1-211B-E164-D533-74B0DB81557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t="17184" b="5839"/>
            <a:stretch>
              <a:fillRect/>
            </a:stretch>
          </p:blipFill>
          <p:spPr>
            <a:xfrm>
              <a:off x="2304735" y="3298413"/>
              <a:ext cx="7772400" cy="3363644"/>
            </a:xfrm>
            <a:prstGeom prst="rect">
              <a:avLst/>
            </a:prstGeom>
          </p:spPr>
        </p:pic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7747E3A6-C6FC-F55B-470D-8FC9D76E83AD}"/>
                </a:ext>
              </a:extLst>
            </p:cNvPr>
            <p:cNvSpPr txBox="1"/>
            <p:nvPr/>
          </p:nvSpPr>
          <p:spPr>
            <a:xfrm>
              <a:off x="4821382" y="2836748"/>
              <a:ext cx="419199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DK" sz="2400" b="1" dirty="0"/>
                <a:t>Helm                        Kubernetes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95601670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B195D6-4312-A608-E3E2-36FCA088BC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Helm: Bottom-line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58BAB28-D87F-5BE5-7C89-A11EF5FEA8C8}"/>
              </a:ext>
            </a:extLst>
          </p:cNvPr>
          <p:cNvSpPr txBox="1"/>
          <p:nvPr/>
        </p:nvSpPr>
        <p:spPr>
          <a:xfrm>
            <a:off x="838132" y="2045045"/>
            <a:ext cx="5669546" cy="510778"/>
          </a:xfrm>
          <a:prstGeom prst="roundRect">
            <a:avLst/>
          </a:prstGeom>
          <a:ln/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wrap="square" lIns="180000" rtlCol="0">
            <a:spAutoFit/>
          </a:bodyPr>
          <a:lstStyle/>
          <a:p>
            <a:r>
              <a:rPr lang="en-GB" sz="2400" dirty="0"/>
              <a:t>Helm = Template Engine &amp; Release Ledger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938C142-2FA9-48A4-17FD-0DAFA7263DF3}"/>
              </a:ext>
            </a:extLst>
          </p:cNvPr>
          <p:cNvSpPr txBox="1"/>
          <p:nvPr/>
        </p:nvSpPr>
        <p:spPr>
          <a:xfrm>
            <a:off x="838131" y="2729341"/>
            <a:ext cx="7961485" cy="510778"/>
          </a:xfrm>
          <a:prstGeom prst="roundRect">
            <a:avLst/>
          </a:prstGeom>
          <a:ln/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wrap="square" lIns="180000" rtlCol="0">
            <a:spAutoFit/>
          </a:bodyPr>
          <a:lstStyle/>
          <a:p>
            <a:r>
              <a:rPr lang="en-GB" sz="2400" dirty="0"/>
              <a:t>Helm renders and submits, Kubernetes keeps things running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2C1E76D-D3C0-165D-AD07-C29B16D13DD1}"/>
              </a:ext>
            </a:extLst>
          </p:cNvPr>
          <p:cNvSpPr txBox="1"/>
          <p:nvPr/>
        </p:nvSpPr>
        <p:spPr>
          <a:xfrm>
            <a:off x="838132" y="3969047"/>
            <a:ext cx="5432040" cy="919401"/>
          </a:xfrm>
          <a:prstGeom prst="roundRect">
            <a:avLst/>
          </a:prstGeom>
          <a:ln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lIns="180000" rtlCol="0">
            <a:spAutoFit/>
          </a:bodyPr>
          <a:lstStyle/>
          <a:p>
            <a:r>
              <a:rPr lang="en-GB" sz="2400" dirty="0"/>
              <a:t>if I delete a Pod from a Helm release, what recreates it?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2855F22-88AF-3728-C831-3E4EBA994AE7}"/>
              </a:ext>
            </a:extLst>
          </p:cNvPr>
          <p:cNvSpPr txBox="1"/>
          <p:nvPr/>
        </p:nvSpPr>
        <p:spPr>
          <a:xfrm>
            <a:off x="838131" y="3515096"/>
            <a:ext cx="387637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K" sz="2400" dirty="0"/>
              <a:t>Question: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3EDC160-4F98-0387-27BC-03AAECAEC9C9}"/>
              </a:ext>
            </a:extLst>
          </p:cNvPr>
          <p:cNvSpPr txBox="1"/>
          <p:nvPr/>
        </p:nvSpPr>
        <p:spPr>
          <a:xfrm>
            <a:off x="838130" y="1562977"/>
            <a:ext cx="387637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K" sz="2400" dirty="0"/>
              <a:t>Remember:</a:t>
            </a:r>
          </a:p>
        </p:txBody>
      </p:sp>
    </p:spTree>
    <p:extLst>
      <p:ext uri="{BB962C8B-B14F-4D97-AF65-F5344CB8AC3E}">
        <p14:creationId xmlns:p14="http://schemas.microsoft.com/office/powerpoint/2010/main" val="7483072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6" grpId="0" animBg="1"/>
      <p:bldP spid="9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BB6A64-3240-3F82-79D5-5A979B8F79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Helm er IKKE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64BC3D1-9662-83B2-C589-B92105BF8D6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DK" sz="2800" dirty="0"/>
              <a:t>❌ Ikke et CD-værktøj — noget andet skal beslutte </a:t>
            </a:r>
            <a:r>
              <a:rPr lang="en-DK" sz="2800" i="1" dirty="0"/>
              <a:t>hvornår</a:t>
            </a:r>
            <a:br>
              <a:rPr lang="en-DK" sz="2800" i="1" dirty="0"/>
            </a:br>
            <a:endParaRPr lang="en-DK" sz="2800" dirty="0"/>
          </a:p>
          <a:p>
            <a:pPr marL="0" lvl="0" indent="0">
              <a:buNone/>
            </a:pPr>
            <a:r>
              <a:rPr lang="en-DK" sz="2800" dirty="0"/>
              <a:t>❌ Ikke en secrets manager — credentials hører ikke til i en values-fil</a:t>
            </a:r>
            <a:br>
              <a:rPr lang="en-DK" sz="2800" dirty="0"/>
            </a:br>
            <a:endParaRPr lang="en-DK" sz="2800" dirty="0"/>
          </a:p>
          <a:p>
            <a:pPr marL="0" lvl="0" indent="0">
              <a:buNone/>
            </a:pPr>
            <a:r>
              <a:rPr lang="en-DK" sz="2800" dirty="0"/>
              <a:t>❌ Ikke reconciliation — det er stadig Kubernetes</a:t>
            </a:r>
            <a:br>
              <a:rPr lang="en-DK" sz="2800" dirty="0"/>
            </a:br>
            <a:endParaRPr lang="en-DK" sz="2800" dirty="0"/>
          </a:p>
          <a:p>
            <a:pPr marL="0" lvl="0" indent="0">
              <a:buNone/>
            </a:pPr>
            <a:r>
              <a:rPr lang="en-DK" sz="2800" dirty="0"/>
              <a:t>❌ Ikke en garanti for at din app virker</a:t>
            </a:r>
          </a:p>
          <a:p>
            <a:endParaRPr lang="en-DK" dirty="0"/>
          </a:p>
        </p:txBody>
      </p:sp>
    </p:spTree>
    <p:extLst>
      <p:ext uri="{BB962C8B-B14F-4D97-AF65-F5344CB8AC3E}">
        <p14:creationId xmlns:p14="http://schemas.microsoft.com/office/powerpoint/2010/main" val="15539424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5CA0B0-7ECA-809D-A83F-6684F1072D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Helm CLI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400E88A-F360-4446-899A-C66E17B6C03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DK" dirty="0">
                <a:solidFill>
                  <a:schemeClr val="tx1"/>
                </a:solidFill>
              </a:rPr>
              <a:t>Install &amp; upgrade</a:t>
            </a:r>
          </a:p>
          <a:p>
            <a:pPr lvl="1"/>
            <a:r>
              <a:rPr lang="en-GB" dirty="0">
                <a:solidFill>
                  <a:schemeClr val="tx1"/>
                </a:solidFill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h</a:t>
            </a:r>
            <a:r>
              <a:rPr lang="en-DK" dirty="0">
                <a:solidFill>
                  <a:schemeClr val="tx1"/>
                </a:solidFill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elm install &lt;release-name&gt; &lt;repo&gt;/&lt;chart-name&gt; \</a:t>
            </a:r>
            <a:br>
              <a:rPr lang="en-DK" dirty="0">
                <a:solidFill>
                  <a:schemeClr val="tx1"/>
                </a:solidFill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DK" dirty="0">
                <a:solidFill>
                  <a:schemeClr val="tx1"/>
                </a:solidFill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 --file my-values.yml --set a.value=b</a:t>
            </a:r>
          </a:p>
          <a:p>
            <a:pPr lvl="1"/>
            <a:r>
              <a:rPr lang="en-GB" dirty="0">
                <a:solidFill>
                  <a:schemeClr val="tx1"/>
                </a:solidFill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h</a:t>
            </a:r>
            <a:r>
              <a:rPr lang="en-DK" dirty="0">
                <a:solidFill>
                  <a:schemeClr val="tx1"/>
                </a:solidFill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elm upgrade &lt;release-name&gt; --reset-then-reuse-values --set a.foo=bar</a:t>
            </a:r>
          </a:p>
          <a:p>
            <a:pPr lvl="1"/>
            <a:r>
              <a:rPr lang="en-GB" dirty="0">
                <a:solidFill>
                  <a:schemeClr val="tx1"/>
                </a:solidFill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h</a:t>
            </a:r>
            <a:r>
              <a:rPr lang="en-DK" dirty="0">
                <a:solidFill>
                  <a:schemeClr val="tx1"/>
                </a:solidFill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elm uninstall &lt;release-name&gt;</a:t>
            </a:r>
          </a:p>
          <a:p>
            <a:endParaRPr lang="en-DK" dirty="0"/>
          </a:p>
          <a:p>
            <a:r>
              <a:rPr lang="en-DK" dirty="0">
                <a:solidFill>
                  <a:schemeClr val="tx1"/>
                </a:solidFill>
              </a:rPr>
              <a:t>History and rollback</a:t>
            </a:r>
          </a:p>
          <a:p>
            <a:pPr lvl="1"/>
            <a:r>
              <a:rPr lang="en-GB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helm list</a:t>
            </a:r>
            <a:r>
              <a:rPr lang="en-GB" dirty="0"/>
              <a:t> </a:t>
            </a:r>
            <a:r>
              <a:rPr lang="en-GB" dirty="0" err="1">
                <a:solidFill>
                  <a:schemeClr val="tx1"/>
                </a:solidFill>
              </a:rPr>
              <a:t>Hvilke</a:t>
            </a:r>
            <a:r>
              <a:rPr lang="en-GB" dirty="0">
                <a:solidFill>
                  <a:schemeClr val="tx1"/>
                </a:solidFill>
              </a:rPr>
              <a:t> releases er </a:t>
            </a:r>
            <a:r>
              <a:rPr lang="en-GB" dirty="0" err="1">
                <a:solidFill>
                  <a:schemeClr val="tx1"/>
                </a:solidFill>
              </a:rPr>
              <a:t>installeret</a:t>
            </a:r>
            <a:r>
              <a:rPr lang="en-GB" dirty="0">
                <a:solidFill>
                  <a:schemeClr val="tx1"/>
                </a:solidFill>
              </a:rPr>
              <a:t>?</a:t>
            </a:r>
          </a:p>
          <a:p>
            <a:pPr lvl="1"/>
            <a:r>
              <a:rPr lang="en-GB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h</a:t>
            </a:r>
            <a:r>
              <a:rPr lang="en-DK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elm history &lt;release-name&gt; -n &lt;namespace&gt;</a:t>
            </a:r>
            <a:r>
              <a:rPr lang="en-DK" dirty="0">
                <a:solidFill>
                  <a:schemeClr val="tx1"/>
                </a:solidFill>
              </a:rPr>
              <a:t> Hvilke revisioner har det release?</a:t>
            </a:r>
          </a:p>
          <a:p>
            <a:pPr lvl="1"/>
            <a:r>
              <a:rPr lang="en-DK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helm rollback &lt;release-name&gt; &lt;id&gt;</a:t>
            </a:r>
          </a:p>
          <a:p>
            <a:endParaRPr lang="en-DK" dirty="0"/>
          </a:p>
        </p:txBody>
      </p:sp>
    </p:spTree>
    <p:extLst>
      <p:ext uri="{BB962C8B-B14F-4D97-AF65-F5344CB8AC3E}">
        <p14:creationId xmlns:p14="http://schemas.microsoft.com/office/powerpoint/2010/main" val="334850893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9393AB-DBBE-F033-9C55-FDF40BB72B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How templating works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253A32-BA9B-8878-ACFC-565D744BE3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92500" lnSpcReduction="10000"/>
          </a:bodyPr>
          <a:lstStyle/>
          <a:p>
            <a:pPr marL="457200" indent="-457200">
              <a:buFont typeface="+mj-lt"/>
              <a:buAutoNum type="arabicPeriod"/>
            </a:pPr>
            <a:r>
              <a:rPr lang="en-GB" dirty="0"/>
              <a:t>You start by writing </a:t>
            </a:r>
            <a:r>
              <a:rPr lang="en-GB" b="1" dirty="0"/>
              <a:t>normal Kubernetes YAML manifests.</a:t>
            </a:r>
          </a:p>
          <a:p>
            <a:pPr marL="457200" indent="-457200">
              <a:buFont typeface="+mj-lt"/>
              <a:buAutoNum type="arabicPeriod"/>
            </a:pPr>
            <a:r>
              <a:rPr lang="en-GB" dirty="0"/>
              <a:t>You replace hardcoded values with </a:t>
            </a:r>
            <a:r>
              <a:rPr lang="en-GB" b="1" dirty="0"/>
              <a:t>variable references.</a:t>
            </a:r>
            <a:br>
              <a:rPr lang="en-GB" b="1" dirty="0"/>
            </a:br>
            <a:br>
              <a:rPr lang="en-GB" b="1" dirty="0"/>
            </a:br>
            <a:r>
              <a:rPr lang="en-GB" b="1" dirty="0"/>
              <a:t>Before</a:t>
            </a:r>
            <a:br>
              <a:rPr lang="en-GB" b="1" dirty="0"/>
            </a:br>
            <a:r>
              <a:rPr lang="en-GB" sz="2000" dirty="0">
                <a:latin typeface="Consolas" panose="020B0609020204030204" pitchFamily="49" charset="0"/>
                <a:cs typeface="Consolas" panose="020B0609020204030204" pitchFamily="49" charset="0"/>
              </a:rPr>
              <a:t>image: </a:t>
            </a:r>
            <a:r>
              <a:rPr lang="en-GB" sz="2000" dirty="0" err="1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harbor.kb.dk</a:t>
            </a:r>
            <a:r>
              <a:rPr lang="en-GB" sz="2000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/</a:t>
            </a:r>
            <a:r>
              <a:rPr lang="en-GB" sz="2000" dirty="0" err="1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myapp</a:t>
            </a:r>
            <a:r>
              <a:rPr lang="en-GB" sz="2000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/frontend:1.2.3</a:t>
            </a:r>
            <a:br>
              <a:rPr lang="en-GB" sz="200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b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GB" b="1" dirty="0"/>
              <a:t>After</a:t>
            </a:r>
            <a:br>
              <a:rPr lang="en-GB" b="1" dirty="0"/>
            </a:br>
            <a:r>
              <a:rPr lang="en-GB" sz="2000" dirty="0">
                <a:solidFill>
                  <a:schemeClr val="bg2">
                    <a:lumMod val="1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image: </a:t>
            </a:r>
            <a:r>
              <a:rPr lang="en-GB" sz="2000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{{ .</a:t>
            </a:r>
            <a:r>
              <a:rPr lang="en-GB" sz="2000" dirty="0" err="1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Values.image.repo</a:t>
            </a:r>
            <a:r>
              <a:rPr lang="en-GB" sz="2000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}}:{{ .</a:t>
            </a:r>
            <a:r>
              <a:rPr lang="en-GB" sz="2000" dirty="0" err="1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Values.image.tag</a:t>
            </a:r>
            <a:r>
              <a:rPr lang="en-GB" sz="2000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}}</a:t>
            </a:r>
            <a:br>
              <a:rPr lang="en-GB" b="1" dirty="0">
                <a:solidFill>
                  <a:srgbClr val="005DE0"/>
                </a:solidFill>
                <a:highlight>
                  <a:srgbClr val="C0C0C0"/>
                </a:highlight>
              </a:rPr>
            </a:br>
            <a:endParaRPr lang="en-GB" b="1" dirty="0">
              <a:solidFill>
                <a:srgbClr val="005DE0"/>
              </a:solidFill>
              <a:highlight>
                <a:srgbClr val="C0C0C0"/>
              </a:highlight>
            </a:endParaRPr>
          </a:p>
          <a:p>
            <a:pPr marL="457200" indent="-457200">
              <a:buFont typeface="+mj-lt"/>
              <a:buAutoNum type="arabicPeriod"/>
            </a:pPr>
            <a:r>
              <a:rPr lang="en-GB" dirty="0"/>
              <a:t>Define defaults for those variables in </a:t>
            </a:r>
            <a:r>
              <a:rPr lang="en-GB" b="1" dirty="0" err="1"/>
              <a:t>values.yaml</a:t>
            </a:r>
            <a:br>
              <a:rPr lang="en-GB" dirty="0"/>
            </a:br>
            <a:br>
              <a:rPr lang="en-GB" dirty="0"/>
            </a:br>
            <a:r>
              <a:rPr lang="en-GB" sz="2200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image:</a:t>
            </a:r>
          </a:p>
          <a:p>
            <a:pPr marL="0" indent="0">
              <a:buNone/>
            </a:pPr>
            <a:r>
              <a:rPr lang="en-GB" sz="2200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repo: "</a:t>
            </a:r>
            <a:r>
              <a:rPr lang="en-GB" sz="2200" dirty="0" err="1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harbor.kb.dk</a:t>
            </a:r>
            <a:r>
              <a:rPr lang="en-GB" sz="2200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/</a:t>
            </a:r>
            <a:r>
              <a:rPr lang="en-GB" sz="2200" dirty="0" err="1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examsystem</a:t>
            </a:r>
            <a:r>
              <a:rPr lang="en-GB" sz="2200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/exam-backend"</a:t>
            </a:r>
          </a:p>
          <a:p>
            <a:pPr marL="0" indent="0">
              <a:buNone/>
            </a:pPr>
            <a:r>
              <a:rPr lang="en-GB" sz="2200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tag: "1.2.3”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F9DBFA6-0040-0CEA-EBDD-29C540AC1E89}"/>
              </a:ext>
            </a:extLst>
          </p:cNvPr>
          <p:cNvSpPr txBox="1"/>
          <p:nvPr/>
        </p:nvSpPr>
        <p:spPr>
          <a:xfrm>
            <a:off x="6377470" y="5537028"/>
            <a:ext cx="4976262" cy="715089"/>
          </a:xfrm>
          <a:prstGeom prst="roundRect">
            <a:avLst/>
          </a:prstGeom>
          <a:ln/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GB" dirty="0"/>
              <a:t>Value references use a “dot notation” into</a:t>
            </a:r>
            <a:br>
              <a:rPr lang="en-GB" dirty="0"/>
            </a:br>
            <a:r>
              <a:rPr lang="en-GB" dirty="0"/>
              <a:t>the nested YAML structure</a:t>
            </a:r>
          </a:p>
        </p:txBody>
      </p:sp>
    </p:spTree>
    <p:extLst>
      <p:ext uri="{BB962C8B-B14F-4D97-AF65-F5344CB8AC3E}">
        <p14:creationId xmlns:p14="http://schemas.microsoft.com/office/powerpoint/2010/main" val="13758388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1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FB4575-6F4C-F78F-B293-8C0C116716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What helm does on install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E5B46F3-6C9F-7913-D0FA-05C5EB13FF7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8132" y="1690689"/>
            <a:ext cx="10515600" cy="2186830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da-DK" dirty="0"/>
              <a:t>Helm </a:t>
            </a:r>
            <a:r>
              <a:rPr lang="da-DK" dirty="0" err="1"/>
              <a:t>simply</a:t>
            </a:r>
            <a:r>
              <a:rPr lang="da-DK" dirty="0"/>
              <a:t> </a:t>
            </a:r>
            <a:r>
              <a:rPr lang="da-DK" dirty="0" err="1"/>
              <a:t>substitutes</a:t>
            </a:r>
            <a:r>
              <a:rPr lang="da-DK" dirty="0"/>
              <a:t> the templates with given variables, </a:t>
            </a:r>
            <a:r>
              <a:rPr lang="da-DK" dirty="0" err="1"/>
              <a:t>then</a:t>
            </a:r>
            <a:r>
              <a:rPr lang="da-DK" dirty="0"/>
              <a:t> </a:t>
            </a:r>
            <a:r>
              <a:rPr lang="da-DK" dirty="0" err="1"/>
              <a:t>applies</a:t>
            </a:r>
            <a:r>
              <a:rPr lang="da-DK" dirty="0"/>
              <a:t> the </a:t>
            </a:r>
            <a:r>
              <a:rPr lang="da-DK" dirty="0" err="1"/>
              <a:t>generated</a:t>
            </a:r>
            <a:r>
              <a:rPr lang="da-DK" dirty="0"/>
              <a:t> k8s </a:t>
            </a:r>
            <a:r>
              <a:rPr lang="da-DK" dirty="0" err="1"/>
              <a:t>resources</a:t>
            </a:r>
            <a:r>
              <a:rPr lang="da-DK" dirty="0"/>
              <a:t> to the </a:t>
            </a:r>
            <a:r>
              <a:rPr lang="da-DK" dirty="0" err="1"/>
              <a:t>current</a:t>
            </a:r>
            <a:r>
              <a:rPr lang="da-DK" dirty="0"/>
              <a:t> </a:t>
            </a:r>
            <a:r>
              <a:rPr lang="da-DK" dirty="0" err="1"/>
              <a:t>Kubernetes</a:t>
            </a:r>
            <a:r>
              <a:rPr lang="da-DK" dirty="0"/>
              <a:t> </a:t>
            </a:r>
            <a:r>
              <a:rPr lang="da-DK" dirty="0" err="1"/>
              <a:t>context</a:t>
            </a:r>
            <a:r>
              <a:rPr lang="da-DK" dirty="0"/>
              <a:t>.</a:t>
            </a:r>
            <a:endParaRPr lang="en-DK" dirty="0"/>
          </a:p>
          <a:p>
            <a:endParaRPr lang="en-DK" dirty="0"/>
          </a:p>
          <a:p>
            <a:pPr marL="0" indent="0">
              <a:buNone/>
            </a:pPr>
            <a:r>
              <a:rPr lang="en-DK" dirty="0">
                <a:highlight>
                  <a:srgbClr val="D6ECCB"/>
                </a:highlight>
              </a:rPr>
              <a:t>helm install</a:t>
            </a:r>
            <a:r>
              <a:rPr lang="en-DK" dirty="0"/>
              <a:t> =</a:t>
            </a:r>
          </a:p>
          <a:p>
            <a:pPr marL="457200" indent="-457200">
              <a:buFont typeface="+mj-lt"/>
              <a:buAutoNum type="arabicPeriod"/>
            </a:pPr>
            <a:r>
              <a:rPr lang="en-GB" sz="20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h</a:t>
            </a:r>
            <a:r>
              <a:rPr lang="en-DK" sz="20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elm template ./my-chart -f -my-values.yml</a:t>
            </a:r>
          </a:p>
          <a:p>
            <a:pPr marL="457200" indent="-457200">
              <a:buFont typeface="+mj-lt"/>
              <a:buAutoNum type="arabicPeriod"/>
            </a:pPr>
            <a:r>
              <a:rPr lang="en-DK" sz="2000" dirty="0">
                <a:latin typeface="Consolas" panose="020B0609020204030204" pitchFamily="49" charset="0"/>
                <a:cs typeface="Consolas" panose="020B0609020204030204" pitchFamily="49" charset="0"/>
              </a:rPr>
              <a:t>&gt;&gt; turned into Kubernetes resources</a:t>
            </a:r>
          </a:p>
          <a:p>
            <a:pPr marL="457200" indent="-457200">
              <a:buFont typeface="+mj-lt"/>
              <a:buAutoNum type="arabicPeriod"/>
            </a:pPr>
            <a:r>
              <a:rPr lang="en-GB" sz="20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k</a:t>
            </a:r>
            <a:r>
              <a:rPr lang="en-DK" sz="20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ubectl apply</a:t>
            </a:r>
            <a:r>
              <a:rPr lang="en-DK" sz="2000" dirty="0">
                <a:latin typeface="Consolas" panose="020B0609020204030204" pitchFamily="49" charset="0"/>
                <a:cs typeface="Consolas" panose="020B0609020204030204" pitchFamily="49" charset="0"/>
              </a:rPr>
              <a:t> those resources (into a specific namespace)</a:t>
            </a:r>
          </a:p>
        </p:txBody>
      </p:sp>
      <p:pic>
        <p:nvPicPr>
          <p:cNvPr id="5" name="Picture 4" descr="4 - Helm Template Engine">
            <a:extLst>
              <a:ext uri="{FF2B5EF4-FFF2-40B4-BE49-F238E27FC236}">
                <a16:creationId xmlns:a16="http://schemas.microsoft.com/office/drawing/2014/main" id="{94100575-5AA0-2C21-34C6-5AA23754137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3913" b="6107"/>
          <a:stretch>
            <a:fillRect/>
          </a:stretch>
        </p:blipFill>
        <p:spPr>
          <a:xfrm>
            <a:off x="2241842" y="4020580"/>
            <a:ext cx="7708315" cy="24722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523363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E0184D-FA02-65E6-F5B5-6420B87E8F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Helm features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C605F4F-368C-7805-9913-67C22FF7DF8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DK" b="1" dirty="0"/>
              <a:t>But it also:</a:t>
            </a:r>
          </a:p>
          <a:p>
            <a:pPr lvl="1"/>
            <a:r>
              <a:rPr lang="en-DK" dirty="0"/>
              <a:t>Has hooks for install/upgrade events</a:t>
            </a:r>
          </a:p>
          <a:p>
            <a:pPr lvl="2"/>
            <a:r>
              <a:rPr lang="en-DK" dirty="0"/>
              <a:t>Fx. run this DB migration job as a hook on every upgrade.</a:t>
            </a:r>
          </a:p>
          <a:p>
            <a:pPr lvl="1"/>
            <a:r>
              <a:rPr lang="en-DK" dirty="0"/>
              <a:t>Keeps a release history</a:t>
            </a:r>
          </a:p>
          <a:p>
            <a:pPr lvl="2"/>
            <a:r>
              <a:rPr lang="en-DK" dirty="0"/>
              <a:t>Chart version and values used for each revision number.</a:t>
            </a:r>
          </a:p>
          <a:p>
            <a:pPr lvl="1"/>
            <a:r>
              <a:rPr lang="en-DK" dirty="0"/>
              <a:t>Validates that applied resources settles into a “ready” state.</a:t>
            </a:r>
          </a:p>
          <a:p>
            <a:pPr lvl="1"/>
            <a:r>
              <a:rPr lang="en-DK" dirty="0"/>
              <a:t>Can auto-rollback if the upgraded resources never become “ready”.</a:t>
            </a:r>
          </a:p>
          <a:p>
            <a:endParaRPr lang="en-DK" dirty="0"/>
          </a:p>
          <a:p>
            <a:pPr marL="0" indent="0">
              <a:buNone/>
            </a:pPr>
            <a:r>
              <a:rPr lang="en-DK" b="1" dirty="0"/>
              <a:t>In short</a:t>
            </a:r>
          </a:p>
          <a:p>
            <a:pPr marL="0" indent="0">
              <a:buNone/>
            </a:pPr>
            <a:r>
              <a:rPr lang="en-GB" dirty="0"/>
              <a:t>&gt; Helm is a </a:t>
            </a:r>
            <a:r>
              <a:rPr lang="en-GB" b="1" dirty="0"/>
              <a:t>release manager and templating engine </a:t>
            </a:r>
            <a:r>
              <a:rPr lang="en-GB" dirty="0"/>
              <a:t>- NOT a runtime controller.</a:t>
            </a:r>
            <a:endParaRPr lang="en-DK" dirty="0"/>
          </a:p>
        </p:txBody>
      </p:sp>
    </p:spTree>
    <p:extLst>
      <p:ext uri="{BB962C8B-B14F-4D97-AF65-F5344CB8AC3E}">
        <p14:creationId xmlns:p14="http://schemas.microsoft.com/office/powerpoint/2010/main" val="212485706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tekst 1">
            <a:extLst>
              <a:ext uri="{FF2B5EF4-FFF2-40B4-BE49-F238E27FC236}">
                <a16:creationId xmlns:a16="http://schemas.microsoft.com/office/drawing/2014/main" id="{9D24A061-C323-8A4F-8E89-14C21DF6239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da-DK" dirty="0"/>
              <a:t>3.</a:t>
            </a:r>
          </a:p>
        </p:txBody>
      </p:sp>
      <p:sp>
        <p:nvSpPr>
          <p:cNvPr id="3" name="Pladsholder til tekst 2">
            <a:extLst>
              <a:ext uri="{FF2B5EF4-FFF2-40B4-BE49-F238E27FC236}">
                <a16:creationId xmlns:a16="http://schemas.microsoft.com/office/drawing/2014/main" id="{4EFCCC45-2736-FB49-8F57-5E5E55DF5903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da-DK" dirty="0"/>
              <a:t>Live Demo</a:t>
            </a:r>
          </a:p>
          <a:p>
            <a:r>
              <a:rPr lang="da-DK" sz="2800" dirty="0">
                <a:solidFill>
                  <a:srgbClr val="C54D02"/>
                </a:solidFill>
              </a:rPr>
              <a:t>How do Helm Charts </a:t>
            </a:r>
            <a:r>
              <a:rPr lang="da-DK" sz="2800" dirty="0" err="1">
                <a:solidFill>
                  <a:srgbClr val="C54D02"/>
                </a:solidFill>
              </a:rPr>
              <a:t>help</a:t>
            </a:r>
            <a:r>
              <a:rPr lang="da-DK" sz="2800" dirty="0">
                <a:solidFill>
                  <a:srgbClr val="C54D02"/>
                </a:solidFill>
              </a:rPr>
              <a:t> </a:t>
            </a:r>
            <a:r>
              <a:rPr lang="da-DK" sz="2800" dirty="0" err="1">
                <a:solidFill>
                  <a:srgbClr val="C54D02"/>
                </a:solidFill>
              </a:rPr>
              <a:t>us</a:t>
            </a:r>
            <a:r>
              <a:rPr lang="da-DK" sz="2800" dirty="0">
                <a:solidFill>
                  <a:srgbClr val="C54D02"/>
                </a:solidFill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295397214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9BA069-99C0-61C5-1AB8-8BA5E561D6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Demo Content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7039D91-0490-2C3D-0E21-089FFAC4DE8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pPr lvl="0"/>
            <a:r>
              <a:rPr lang="en-DK" dirty="0"/>
              <a:t>Ét system, én kommando</a:t>
            </a:r>
          </a:p>
          <a:p>
            <a:pPr lvl="0"/>
            <a:r>
              <a:rPr lang="en-DK" dirty="0"/>
              <a:t>Clusteret ser </a:t>
            </a:r>
            <a:r>
              <a:rPr lang="en-DK" b="1" dirty="0"/>
              <a:t>almindelige manifests</a:t>
            </a:r>
            <a:r>
              <a:rPr lang="en-DK" dirty="0"/>
              <a:t> — Helm forsvinder</a:t>
            </a:r>
          </a:p>
          <a:p>
            <a:pPr lvl="0"/>
            <a:r>
              <a:rPr lang="en-DK" dirty="0"/>
              <a:t>Samme chart som dev </a:t>
            </a:r>
            <a:r>
              <a:rPr lang="en-DK" b="1" dirty="0"/>
              <a:t>og</a:t>
            </a:r>
            <a:r>
              <a:rPr lang="en-DK" dirty="0"/>
              <a:t> prod, side om side</a:t>
            </a:r>
          </a:p>
          <a:p>
            <a:pPr lvl="0"/>
            <a:r>
              <a:rPr lang="en-DK" b="1" dirty="0"/>
              <a:t>Revisioner</a:t>
            </a:r>
            <a:r>
              <a:rPr lang="en-DK" dirty="0"/>
              <a:t>: upgrade, historik, rollback</a:t>
            </a:r>
          </a:p>
          <a:p>
            <a:pPr lvl="0"/>
            <a:r>
              <a:rPr lang="en-DK" dirty="0"/>
              <a:t>Vi ødelægger det med vilje — og det retter sig selv via </a:t>
            </a:r>
            <a:r>
              <a:rPr lang="en-DK" b="1" dirty="0"/>
              <a:t>self-healing</a:t>
            </a:r>
            <a:endParaRPr lang="en-DK" dirty="0"/>
          </a:p>
          <a:p>
            <a:endParaRPr lang="en-DK" dirty="0"/>
          </a:p>
          <a:p>
            <a:r>
              <a:rPr lang="en-DK" dirty="0"/>
              <a:t>Observationer?</a:t>
            </a:r>
          </a:p>
        </p:txBody>
      </p:sp>
    </p:spTree>
    <p:extLst>
      <p:ext uri="{BB962C8B-B14F-4D97-AF65-F5344CB8AC3E}">
        <p14:creationId xmlns:p14="http://schemas.microsoft.com/office/powerpoint/2010/main" val="260691109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8DF83C-7FE4-C3A6-04CF-80473887CC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tekst 1">
            <a:extLst>
              <a:ext uri="{FF2B5EF4-FFF2-40B4-BE49-F238E27FC236}">
                <a16:creationId xmlns:a16="http://schemas.microsoft.com/office/drawing/2014/main" id="{F43008A7-9083-349B-315F-469083839E3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da-DK" dirty="0"/>
              <a:t>3.</a:t>
            </a:r>
          </a:p>
        </p:txBody>
      </p:sp>
      <p:sp>
        <p:nvSpPr>
          <p:cNvPr id="3" name="Pladsholder til tekst 2">
            <a:extLst>
              <a:ext uri="{FF2B5EF4-FFF2-40B4-BE49-F238E27FC236}">
                <a16:creationId xmlns:a16="http://schemas.microsoft.com/office/drawing/2014/main" id="{37F96A89-187B-01C8-22C3-932E933C278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587749" y="2703049"/>
            <a:ext cx="5354119" cy="2884543"/>
          </a:xfrm>
        </p:spPr>
        <p:txBody>
          <a:bodyPr/>
          <a:lstStyle/>
          <a:p>
            <a:r>
              <a:rPr lang="da-DK" dirty="0"/>
              <a:t>Basic </a:t>
            </a:r>
            <a:r>
              <a:rPr lang="da-DK" dirty="0" err="1"/>
              <a:t>chart</a:t>
            </a:r>
            <a:r>
              <a:rPr lang="da-DK" dirty="0"/>
              <a:t> anatomi</a:t>
            </a:r>
          </a:p>
          <a:p>
            <a:r>
              <a:rPr lang="da-DK" sz="2800" dirty="0">
                <a:solidFill>
                  <a:srgbClr val="C54D02"/>
                </a:solidFill>
              </a:rPr>
              <a:t>Hvad består et Helm Chart af?</a:t>
            </a:r>
          </a:p>
        </p:txBody>
      </p:sp>
    </p:spTree>
    <p:extLst>
      <p:ext uri="{BB962C8B-B14F-4D97-AF65-F5344CB8AC3E}">
        <p14:creationId xmlns:p14="http://schemas.microsoft.com/office/powerpoint/2010/main" val="179119040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953373-B0D2-3DF2-1781-285D501636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DK" dirty="0"/>
              <a:t>Helm chart – Basics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64FC3F5-1B53-5760-2ABF-5E313010EDF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DK" u="sng" dirty="0"/>
              <a:t>Required files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DK" dirty="0">
                <a:latin typeface="Consolas" panose="020B0609020204030204" pitchFamily="49" charset="0"/>
                <a:cs typeface="Consolas" panose="020B0609020204030204" pitchFamily="49" charset="0"/>
              </a:rPr>
              <a:t>Chart.yml 		</a:t>
            </a:r>
            <a:r>
              <a:rPr lang="en-DK" dirty="0">
                <a:latin typeface="Consolas" panose="020B0609020204030204" pitchFamily="49" charset="0"/>
                <a:cs typeface="Consolas" panose="020B0609020204030204" pitchFamily="49" charset="0"/>
                <a:sym typeface="Wingdings" pitchFamily="2" charset="2"/>
              </a:rPr>
              <a:t>  </a:t>
            </a:r>
            <a:r>
              <a:rPr lang="en-DK" dirty="0">
                <a:latin typeface="Consolas" panose="020B0609020204030204" pitchFamily="49" charset="0"/>
                <a:cs typeface="Consolas" panose="020B0609020204030204" pitchFamily="49" charset="0"/>
              </a:rPr>
              <a:t>Metadata about chart/app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v</a:t>
            </a:r>
            <a:r>
              <a:rPr lang="en-DK" dirty="0">
                <a:latin typeface="Consolas" panose="020B0609020204030204" pitchFamily="49" charset="0"/>
                <a:cs typeface="Consolas" panose="020B0609020204030204" pitchFamily="49" charset="0"/>
              </a:rPr>
              <a:t>alues.yml 		</a:t>
            </a:r>
            <a:r>
              <a:rPr lang="en-DK" dirty="0">
                <a:latin typeface="Consolas" panose="020B0609020204030204" pitchFamily="49" charset="0"/>
                <a:cs typeface="Consolas" panose="020B0609020204030204" pitchFamily="49" charset="0"/>
                <a:sym typeface="Wingdings" pitchFamily="2" charset="2"/>
              </a:rPr>
              <a:t>  </a:t>
            </a:r>
            <a:r>
              <a:rPr lang="en-DK" dirty="0">
                <a:latin typeface="Consolas" panose="020B0609020204030204" pitchFamily="49" charset="0"/>
                <a:cs typeface="Consolas" panose="020B0609020204030204" pitchFamily="49" charset="0"/>
              </a:rPr>
              <a:t>Template variables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t</a:t>
            </a:r>
            <a:r>
              <a:rPr lang="en-DK" dirty="0">
                <a:latin typeface="Consolas" panose="020B0609020204030204" pitchFamily="49" charset="0"/>
                <a:cs typeface="Consolas" panose="020B0609020204030204" pitchFamily="49" charset="0"/>
              </a:rPr>
              <a:t>emplate/*.yml 	</a:t>
            </a:r>
            <a:r>
              <a:rPr lang="en-DK" dirty="0">
                <a:latin typeface="Consolas" panose="020B0609020204030204" pitchFamily="49" charset="0"/>
                <a:cs typeface="Consolas" panose="020B0609020204030204" pitchFamily="49" charset="0"/>
                <a:sym typeface="Wingdings" pitchFamily="2" charset="2"/>
              </a:rPr>
              <a:t>  </a:t>
            </a:r>
            <a:r>
              <a:rPr lang="en-DK" dirty="0">
                <a:latin typeface="Consolas" panose="020B0609020204030204" pitchFamily="49" charset="0"/>
                <a:cs typeface="Consolas" panose="020B0609020204030204" pitchFamily="49" charset="0"/>
              </a:rPr>
              <a:t>Templated kubernetes manifests</a:t>
            </a:r>
          </a:p>
          <a:p>
            <a:pPr lvl="1"/>
            <a:endParaRPr lang="en-DK" dirty="0"/>
          </a:p>
          <a:p>
            <a:pPr marL="0" indent="0">
              <a:buNone/>
            </a:pPr>
            <a:r>
              <a:rPr lang="en-DK" u="sng" dirty="0"/>
              <a:t>Optional files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DK" dirty="0">
                <a:latin typeface="Consolas" panose="020B0609020204030204" pitchFamily="49" charset="0"/>
                <a:cs typeface="Consolas" panose="020B0609020204030204" pitchFamily="49" charset="0"/>
              </a:rPr>
              <a:t>template/_helpers.tpl		</a:t>
            </a:r>
            <a:r>
              <a:rPr lang="en-DK" dirty="0">
                <a:cs typeface="Consolas" panose="020B0609020204030204" pitchFamily="49" charset="0"/>
                <a:sym typeface="Wingdings" pitchFamily="2" charset="2"/>
              </a:rPr>
              <a:t> Helper scripts available in all templates</a:t>
            </a:r>
            <a:endParaRPr lang="en-DK" dirty="0">
              <a:cs typeface="Consolas" panose="020B0609020204030204" pitchFamily="49" charset="0"/>
            </a:endParaRPr>
          </a:p>
          <a:p>
            <a:pPr lvl="1">
              <a:buFont typeface="Courier New" panose="02070309020205020404" pitchFamily="49" charset="0"/>
              <a:buChar char="o"/>
            </a:pPr>
            <a:r>
              <a:rPr lang="en-DK" dirty="0">
                <a:latin typeface="Consolas" panose="020B0609020204030204" pitchFamily="49" charset="0"/>
                <a:cs typeface="Consolas" panose="020B0609020204030204" pitchFamily="49" charset="0"/>
              </a:rPr>
              <a:t>template/NOTES.txt</a:t>
            </a:r>
            <a:r>
              <a:rPr lang="en-DK" dirty="0">
                <a:latin typeface="Calibri" panose="020F0502020204030204" pitchFamily="34" charset="0"/>
                <a:cs typeface="Calibri" panose="020F0502020204030204" pitchFamily="34" charset="0"/>
              </a:rPr>
              <a:t>		</a:t>
            </a:r>
            <a:r>
              <a:rPr lang="en-DK" dirty="0">
                <a:latin typeface="Calibri" panose="020F0502020204030204" pitchFamily="34" charset="0"/>
                <a:cs typeface="Calibri" panose="020F0502020204030204" pitchFamily="34" charset="0"/>
                <a:sym typeface="Wingdings" pitchFamily="2" charset="2"/>
              </a:rPr>
              <a:t> Notes printed on install</a:t>
            </a:r>
            <a:endParaRPr lang="en-DK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lvl="1">
              <a:buFont typeface="Courier New" panose="02070309020205020404" pitchFamily="49" charset="0"/>
              <a:buChar char="o"/>
            </a:pPr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v</a:t>
            </a:r>
            <a:r>
              <a:rPr lang="en-DK" dirty="0">
                <a:latin typeface="Consolas" panose="020B0609020204030204" pitchFamily="49" charset="0"/>
                <a:cs typeface="Consolas" panose="020B0609020204030204" pitchFamily="49" charset="0"/>
              </a:rPr>
              <a:t>alues.schema.json		</a:t>
            </a:r>
            <a:r>
              <a:rPr lang="en-DK" dirty="0">
                <a:cs typeface="Consolas" panose="020B0609020204030204" pitchFamily="49" charset="0"/>
                <a:sym typeface="Wingdings" pitchFamily="2" charset="2"/>
              </a:rPr>
              <a:t> JSON schema for template variables</a:t>
            </a:r>
            <a:endParaRPr lang="en-DK" dirty="0">
              <a:cs typeface="Consolas" panose="020B0609020204030204" pitchFamily="49" charset="0"/>
            </a:endParaRPr>
          </a:p>
          <a:p>
            <a:pPr lvl="1">
              <a:buFont typeface="Courier New" panose="02070309020205020404" pitchFamily="49" charset="0"/>
              <a:buChar char="o"/>
            </a:pPr>
            <a:r>
              <a:rPr lang="en-DK" dirty="0">
                <a:latin typeface="Consolas" panose="020B0609020204030204" pitchFamily="49" charset="0"/>
                <a:cs typeface="Consolas" panose="020B0609020204030204" pitchFamily="49" charset="0"/>
              </a:rPr>
              <a:t>.helmignore			</a:t>
            </a:r>
            <a:r>
              <a:rPr lang="en-DK" dirty="0">
                <a:cs typeface="Consolas" panose="020B0609020204030204" pitchFamily="49" charset="0"/>
                <a:sym typeface="Wingdings" pitchFamily="2" charset="2"/>
              </a:rPr>
              <a:t> Ignore for chart package</a:t>
            </a:r>
            <a:endParaRPr lang="en-DK" dirty="0">
              <a:cs typeface="Consolas" panose="020B0609020204030204" pitchFamily="49" charset="0"/>
            </a:endParaRPr>
          </a:p>
        </p:txBody>
      </p:sp>
      <p:pic>
        <p:nvPicPr>
          <p:cNvPr id="6" name="Picture 5" descr="helm Vector Icons free download in SVG, PNG Format">
            <a:extLst>
              <a:ext uri="{FF2B5EF4-FFF2-40B4-BE49-F238E27FC236}">
                <a16:creationId xmlns:a16="http://schemas.microsoft.com/office/drawing/2014/main" id="{9F7EB4B4-9327-3909-801C-8FE01E30263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85155" y="724795"/>
            <a:ext cx="1868611" cy="18686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0677281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453C9F-01D2-D9C6-A0E0-4763E964AF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tekst 1">
            <a:extLst>
              <a:ext uri="{FF2B5EF4-FFF2-40B4-BE49-F238E27FC236}">
                <a16:creationId xmlns:a16="http://schemas.microsoft.com/office/drawing/2014/main" id="{61144680-22E6-482F-E739-491EE62342C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da-DK" dirty="0"/>
              <a:t>4.</a:t>
            </a:r>
          </a:p>
        </p:txBody>
      </p:sp>
      <p:sp>
        <p:nvSpPr>
          <p:cNvPr id="3" name="Pladsholder til tekst 2">
            <a:extLst>
              <a:ext uri="{FF2B5EF4-FFF2-40B4-BE49-F238E27FC236}">
                <a16:creationId xmlns:a16="http://schemas.microsoft.com/office/drawing/2014/main" id="{0A037F52-A0CC-4243-3816-CD80136B92E9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578125" y="2703049"/>
            <a:ext cx="6499526" cy="2884543"/>
          </a:xfrm>
        </p:spPr>
        <p:txBody>
          <a:bodyPr/>
          <a:lstStyle/>
          <a:p>
            <a:r>
              <a:rPr lang="da-DK" dirty="0" err="1"/>
              <a:t>Exercise</a:t>
            </a:r>
            <a:r>
              <a:rPr lang="da-DK" dirty="0"/>
              <a:t>:</a:t>
            </a:r>
            <a:br>
              <a:rPr lang="da-DK" dirty="0"/>
            </a:br>
            <a:r>
              <a:rPr lang="da-DK" sz="3600" dirty="0">
                <a:solidFill>
                  <a:srgbClr val="C54D02"/>
                </a:solidFill>
              </a:rPr>
              <a:t>Lav et helt simpelt helm-</a:t>
            </a:r>
            <a:r>
              <a:rPr lang="da-DK" sz="3600" dirty="0" err="1">
                <a:solidFill>
                  <a:srgbClr val="C54D02"/>
                </a:solidFill>
              </a:rPr>
              <a:t>chart</a:t>
            </a:r>
            <a:endParaRPr lang="da-DK" dirty="0">
              <a:solidFill>
                <a:srgbClr val="C54D0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4248156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E92848-06E7-EDA7-70E7-E8385E224F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Workshop repository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C57ED57-886A-B59D-5F7A-D3216F9A566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lnSpcReduction="10000"/>
          </a:bodyPr>
          <a:lstStyle/>
          <a:p>
            <a:pPr marL="457200" indent="-457200">
              <a:buFont typeface="+mj-lt"/>
              <a:buAutoNum type="arabicPeriod"/>
            </a:pPr>
            <a:r>
              <a:rPr lang="en-DK" dirty="0"/>
              <a:t>Sørg for at Kubernetes kører lokalt</a:t>
            </a:r>
          </a:p>
          <a:p>
            <a:pPr lvl="1"/>
            <a:r>
              <a:rPr lang="en-DK" dirty="0"/>
              <a:t>Tjek at</a:t>
            </a:r>
            <a:r>
              <a:rPr lang="en-DK" sz="1800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kubectl get nodes </a:t>
            </a:r>
            <a:r>
              <a:rPr lang="en-DK" dirty="0"/>
              <a:t>virker og viser din egen maskine som node.</a:t>
            </a:r>
          </a:p>
          <a:p>
            <a:pPr marL="457200" indent="-457200">
              <a:buFont typeface="+mj-lt"/>
              <a:buAutoNum type="arabicPeriod"/>
            </a:pPr>
            <a:endParaRPr lang="en-DK" dirty="0"/>
          </a:p>
          <a:p>
            <a:pPr marL="457200" indent="-457200">
              <a:buFont typeface="+mj-lt"/>
              <a:buAutoNum type="arabicPeriod"/>
            </a:pPr>
            <a:r>
              <a:rPr lang="en-DK" dirty="0"/>
              <a:t>Hent repo:  </a:t>
            </a:r>
            <a:r>
              <a:rPr lang="en-DK" sz="2000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git clone </a:t>
            </a:r>
            <a:r>
              <a:rPr lang="en-GB" sz="2000" dirty="0">
                <a:latin typeface="Consolas" panose="020B0609020204030204" pitchFamily="49" charset="0"/>
                <a:cs typeface="Consolas" panose="020B0609020204030204" pitchFamily="49" charset="0"/>
                <a:hlinkClick r:id="rId3"/>
              </a:rPr>
              <a:t>https://github.com/notalib/workshop-helm-charts</a:t>
            </a:r>
            <a:endParaRPr lang="en-GB" sz="20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457200" indent="-457200">
              <a:buFont typeface="+mj-lt"/>
              <a:buAutoNum type="arabicPeriod"/>
            </a:pPr>
            <a:endParaRPr lang="en-DK" dirty="0"/>
          </a:p>
          <a:p>
            <a:pPr marL="457200" indent="-457200">
              <a:buFont typeface="+mj-lt"/>
              <a:buAutoNum type="arabicPeriod"/>
            </a:pPr>
            <a:r>
              <a:rPr lang="en-DK" dirty="0"/>
              <a:t>Følg instruktioner i </a:t>
            </a:r>
            <a:r>
              <a:rPr lang="en-GB" b="1" dirty="0"/>
              <a:t>setup/</a:t>
            </a:r>
            <a:r>
              <a:rPr lang="en-GB" b="1" dirty="0" err="1"/>
              <a:t>README.md</a:t>
            </a:r>
            <a:r>
              <a:rPr lang="en-GB" b="1" dirty="0"/>
              <a:t> </a:t>
            </a:r>
            <a:r>
              <a:rPr lang="en-GB" dirty="0"/>
              <a:t>for at </a:t>
            </a:r>
            <a:r>
              <a:rPr lang="en-GB" dirty="0" err="1"/>
              <a:t>få</a:t>
            </a:r>
            <a:r>
              <a:rPr lang="en-GB" dirty="0"/>
              <a:t> </a:t>
            </a:r>
            <a:r>
              <a:rPr lang="en-GB" dirty="0" err="1"/>
              <a:t>lokalt</a:t>
            </a:r>
            <a:r>
              <a:rPr lang="en-GB" dirty="0"/>
              <a:t> cluster op at </a:t>
            </a:r>
            <a:r>
              <a:rPr lang="en-GB" dirty="0" err="1"/>
              <a:t>køre</a:t>
            </a:r>
            <a:r>
              <a:rPr lang="en-GB" dirty="0"/>
              <a:t>.</a:t>
            </a:r>
            <a:endParaRPr lang="en-GB" b="1" dirty="0"/>
          </a:p>
          <a:p>
            <a:pPr marL="457200" indent="-457200">
              <a:buFont typeface="+mj-lt"/>
              <a:buAutoNum type="arabicPeriod"/>
            </a:pPr>
            <a:endParaRPr lang="en-DK" dirty="0"/>
          </a:p>
          <a:p>
            <a:pPr marL="457200" indent="-457200">
              <a:buFont typeface="+mj-lt"/>
              <a:buAutoNum type="arabicPeriod"/>
            </a:pPr>
            <a:r>
              <a:rPr lang="en-DK" dirty="0"/>
              <a:t>Følg instruktioner i </a:t>
            </a:r>
            <a:r>
              <a:rPr lang="en-DK" b="1" dirty="0"/>
              <a:t>1-simple-chart/README.md</a:t>
            </a:r>
          </a:p>
          <a:p>
            <a:pPr marL="457200" indent="-457200">
              <a:buFont typeface="+mj-lt"/>
              <a:buAutoNum type="arabicPeriod"/>
            </a:pPr>
            <a:endParaRPr lang="en-DK" b="1" dirty="0"/>
          </a:p>
          <a:p>
            <a:pPr marL="457200" indent="-457200">
              <a:buFont typeface="+mj-lt"/>
              <a:buAutoNum type="arabicPeriod"/>
            </a:pPr>
            <a:r>
              <a:rPr lang="en-GB" dirty="0" err="1">
                <a:cs typeface="Consolas" panose="020B0609020204030204" pitchFamily="49" charset="0"/>
              </a:rPr>
              <a:t>Værd</a:t>
            </a:r>
            <a:r>
              <a:rPr lang="en-GB" dirty="0">
                <a:cs typeface="Consolas" panose="020B0609020204030204" pitchFamily="49" charset="0"/>
              </a:rPr>
              <a:t> at </a:t>
            </a:r>
            <a:r>
              <a:rPr lang="en-GB" dirty="0" err="1">
                <a:cs typeface="Consolas" panose="020B0609020204030204" pitchFamily="49" charset="0"/>
              </a:rPr>
              <a:t>refere</a:t>
            </a:r>
            <a:r>
              <a:rPr lang="en-GB" dirty="0">
                <a:cs typeface="Consolas" panose="020B0609020204030204" pitchFamily="49" charset="0"/>
              </a:rPr>
              <a:t> </a:t>
            </a:r>
            <a:r>
              <a:rPr lang="en-GB" dirty="0" err="1">
                <a:cs typeface="Consolas" panose="020B0609020204030204" pitchFamily="49" charset="0"/>
              </a:rPr>
              <a:t>til</a:t>
            </a:r>
            <a:r>
              <a:rPr lang="en-GB" dirty="0">
                <a:cs typeface="Consolas" panose="020B0609020204030204" pitchFamily="49" charset="0"/>
              </a:rPr>
              <a:t> </a:t>
            </a:r>
            <a:r>
              <a:rPr lang="en-GB" dirty="0" err="1">
                <a:cs typeface="Consolas" panose="020B0609020204030204" pitchFamily="49" charset="0"/>
              </a:rPr>
              <a:t>vores</a:t>
            </a:r>
            <a:r>
              <a:rPr lang="en-GB" dirty="0">
                <a:cs typeface="Consolas" panose="020B0609020204030204" pitchFamily="49" charset="0"/>
              </a:rPr>
              <a:t> </a:t>
            </a:r>
            <a:r>
              <a:rPr lang="en-GB" dirty="0" err="1">
                <a:cs typeface="Consolas" panose="020B0609020204030204" pitchFamily="49" charset="0"/>
              </a:rPr>
              <a:t>færdige</a:t>
            </a:r>
            <a:r>
              <a:rPr lang="en-GB" dirty="0">
                <a:cs typeface="Consolas" panose="020B0609020204030204" pitchFamily="49" charset="0"/>
              </a:rPr>
              <a:t> k8s manifester </a:t>
            </a:r>
            <a:r>
              <a:rPr lang="en-GB" dirty="0" err="1">
                <a:cs typeface="Consolas" panose="020B0609020204030204" pitchFamily="49" charset="0"/>
              </a:rPr>
              <a:t>fra</a:t>
            </a:r>
            <a:r>
              <a:rPr lang="en-GB" dirty="0">
                <a:cs typeface="Consolas" panose="020B0609020204030204" pitchFamily="49" charset="0"/>
              </a:rPr>
              <a:t> workshop #2 </a:t>
            </a:r>
            <a:r>
              <a:rPr lang="en-GB" sz="1700" dirty="0">
                <a:latin typeface="Consolas" panose="020B0609020204030204" pitchFamily="49" charset="0"/>
                <a:cs typeface="Consolas" panose="020B0609020204030204" pitchFamily="49" charset="0"/>
                <a:hlinkClick r:id="rId4"/>
              </a:rPr>
              <a:t>https://github.com/Notalib/workshop-kubernetes/tree/solutions/5-composite-system</a:t>
            </a:r>
            <a:endParaRPr lang="en-DK" sz="17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457200" indent="-457200">
              <a:buFont typeface="+mj-lt"/>
              <a:buAutoNum type="arabicPeriod"/>
            </a:pPr>
            <a:endParaRPr lang="en-DK" dirty="0"/>
          </a:p>
        </p:txBody>
      </p:sp>
    </p:spTree>
    <p:extLst>
      <p:ext uri="{BB962C8B-B14F-4D97-AF65-F5344CB8AC3E}">
        <p14:creationId xmlns:p14="http://schemas.microsoft.com/office/powerpoint/2010/main" val="206515052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DC29DB-DC8D-7B3A-4C9E-474E703F2F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Let’s write a helm chart!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3D25952-9754-D37B-A8ED-85326CF67CE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8132" y="1690688"/>
            <a:ext cx="10515600" cy="4802187"/>
          </a:xfrm>
        </p:spPr>
        <p:txBody>
          <a:bodyPr>
            <a:normAutofit fontScale="92500" lnSpcReduction="20000"/>
          </a:bodyPr>
          <a:lstStyle/>
          <a:p>
            <a:r>
              <a:rPr lang="en-DK" dirty="0"/>
              <a:t>Assignment:</a:t>
            </a:r>
          </a:p>
          <a:p>
            <a:pPr lvl="1"/>
            <a:r>
              <a:rPr lang="en-DK" dirty="0"/>
              <a:t>Create a small chart that contains a single:</a:t>
            </a:r>
          </a:p>
          <a:p>
            <a:pPr lvl="2"/>
            <a:r>
              <a:rPr lang="en-DK" dirty="0"/>
              <a:t>Deployment, Service and Ingress</a:t>
            </a:r>
          </a:p>
          <a:p>
            <a:pPr lvl="1"/>
            <a:r>
              <a:rPr lang="en-DK" dirty="0"/>
              <a:t>Use this image for Deployment: </a:t>
            </a:r>
            <a:r>
              <a:rPr lang="en-GB" b="1" dirty="0" err="1"/>
              <a:t>hashicorp</a:t>
            </a:r>
            <a:r>
              <a:rPr lang="en-GB" b="1" dirty="0"/>
              <a:t>/http-echo </a:t>
            </a:r>
            <a:r>
              <a:rPr lang="en-GB" dirty="0"/>
              <a:t>(from </a:t>
            </a:r>
            <a:r>
              <a:rPr lang="en-GB" dirty="0" err="1"/>
              <a:t>DockerHub</a:t>
            </a:r>
            <a:r>
              <a:rPr lang="en-GB" dirty="0"/>
              <a:t>)</a:t>
            </a:r>
          </a:p>
          <a:p>
            <a:pPr lvl="1"/>
            <a:r>
              <a:rPr lang="en-GB" dirty="0"/>
              <a:t>Template the following:</a:t>
            </a:r>
          </a:p>
          <a:p>
            <a:pPr lvl="2"/>
            <a:r>
              <a:rPr lang="en-GB" dirty="0"/>
              <a:t>image tag</a:t>
            </a:r>
          </a:p>
          <a:p>
            <a:pPr lvl="2"/>
            <a:r>
              <a:rPr lang="en-GB" dirty="0"/>
              <a:t>text </a:t>
            </a:r>
            <a:r>
              <a:rPr lang="en-GB" dirty="0" err="1"/>
              <a:t>echo’ed</a:t>
            </a:r>
            <a:endParaRPr lang="en-GB" dirty="0"/>
          </a:p>
          <a:p>
            <a:pPr lvl="2"/>
            <a:r>
              <a:rPr lang="en-DK" dirty="0"/>
              <a:t>hostname</a:t>
            </a:r>
          </a:p>
          <a:p>
            <a:pPr marL="457200" lvl="1" indent="0">
              <a:buNone/>
            </a:pPr>
            <a:endParaRPr lang="en-DK" dirty="0"/>
          </a:p>
          <a:p>
            <a:r>
              <a:rPr lang="en-DK" dirty="0"/>
              <a:t>Tools:</a:t>
            </a:r>
          </a:p>
          <a:p>
            <a:pPr lvl="1"/>
            <a:r>
              <a:rPr lang="en-GB" dirty="0"/>
              <a:t>k</a:t>
            </a:r>
            <a:r>
              <a:rPr lang="en-DK" dirty="0"/>
              <a:t>ubectl &amp; helm</a:t>
            </a:r>
          </a:p>
          <a:p>
            <a:pPr lvl="1"/>
            <a:r>
              <a:rPr lang="en-DK" dirty="0"/>
              <a:t>VSCode + Kubernetes extension</a:t>
            </a:r>
          </a:p>
          <a:p>
            <a:endParaRPr lang="en-DK" dirty="0"/>
          </a:p>
          <a:p>
            <a:r>
              <a:rPr lang="en-DK" dirty="0"/>
              <a:t>Resources</a:t>
            </a:r>
          </a:p>
          <a:p>
            <a:pPr lvl="1"/>
            <a:r>
              <a:rPr lang="en-GB" dirty="0">
                <a:hlinkClick r:id="rId2"/>
              </a:rPr>
              <a:t>https://helm.sh/docs</a:t>
            </a:r>
            <a:endParaRPr lang="en-GB" dirty="0"/>
          </a:p>
          <a:p>
            <a:pPr lvl="1"/>
            <a:r>
              <a:rPr lang="en-GB" dirty="0">
                <a:hlinkClick r:id="rId3"/>
              </a:rPr>
              <a:t>https://github.com/Notalib/workshop-helm-chart</a:t>
            </a:r>
            <a:endParaRPr lang="en-DK" dirty="0"/>
          </a:p>
        </p:txBody>
      </p:sp>
    </p:spTree>
    <p:extLst>
      <p:ext uri="{BB962C8B-B14F-4D97-AF65-F5344CB8AC3E}">
        <p14:creationId xmlns:p14="http://schemas.microsoft.com/office/powerpoint/2010/main" val="320970539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01015D-C4BE-6158-A6ED-E29BC4EEE5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Assignment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CC37C84-46B7-3071-1514-6B8B1520900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/>
          </a:bodyPr>
          <a:lstStyle/>
          <a:p>
            <a:r>
              <a:rPr lang="en-GB" dirty="0"/>
              <a:t>Workshop repo:</a:t>
            </a:r>
          </a:p>
          <a:p>
            <a:pPr lvl="1"/>
            <a:r>
              <a:rPr lang="en-GB" dirty="0">
                <a:hlinkClick r:id="rId3"/>
              </a:rPr>
              <a:t>https://github.com/Notalib/workshop-helm-chart</a:t>
            </a:r>
            <a:endParaRPr lang="en-GB" dirty="0"/>
          </a:p>
          <a:p>
            <a:pPr lvl="1"/>
            <a:r>
              <a:rPr lang="en-GB" dirty="0">
                <a:hlinkClick r:id="rId4"/>
              </a:rPr>
              <a:t>https://kb-dk.atlassian.net/wiki/x/B4BAUQ</a:t>
            </a:r>
            <a:br>
              <a:rPr lang="en-GB" dirty="0"/>
            </a:br>
            <a:endParaRPr lang="en-GB" dirty="0"/>
          </a:p>
          <a:p>
            <a:r>
              <a:rPr lang="en-GB" dirty="0"/>
              <a:t>Tasks:</a:t>
            </a:r>
          </a:p>
          <a:p>
            <a:pPr lvl="1"/>
            <a:r>
              <a:rPr lang="en-GB" dirty="0"/>
              <a:t>Implement the TODOs so the chart deploys a working gateway.</a:t>
            </a:r>
            <a:br>
              <a:rPr lang="en-GB" dirty="0"/>
            </a:br>
            <a:endParaRPr lang="en-GB" dirty="0"/>
          </a:p>
          <a:p>
            <a:r>
              <a:rPr lang="en-GB" dirty="0"/>
              <a:t>Must support:</a:t>
            </a:r>
          </a:p>
          <a:p>
            <a:pPr lvl="1"/>
            <a:r>
              <a:rPr lang="en-GB" dirty="0" err="1">
                <a:solidFill>
                  <a:srgbClr val="0074D9"/>
                </a:solidFill>
              </a:rPr>
              <a:t>api.enabled</a:t>
            </a:r>
            <a:r>
              <a:rPr lang="en-GB" dirty="0">
                <a:solidFill>
                  <a:srgbClr val="0074D9"/>
                </a:solidFill>
              </a:rPr>
              <a:t> </a:t>
            </a:r>
            <a:r>
              <a:rPr lang="en-GB" dirty="0"/>
              <a:t>toggles /</a:t>
            </a:r>
            <a:r>
              <a:rPr lang="en-GB" dirty="0" err="1"/>
              <a:t>api</a:t>
            </a:r>
            <a:r>
              <a:rPr lang="en-GB" dirty="0"/>
              <a:t> route</a:t>
            </a:r>
          </a:p>
          <a:p>
            <a:pPr lvl="1"/>
            <a:r>
              <a:rPr lang="en-GB" dirty="0" err="1">
                <a:solidFill>
                  <a:srgbClr val="0074D9"/>
                </a:solidFill>
              </a:rPr>
              <a:t>backend.port</a:t>
            </a:r>
            <a:r>
              <a:rPr lang="en-GB" dirty="0">
                <a:solidFill>
                  <a:srgbClr val="0074D9"/>
                </a:solidFill>
              </a:rPr>
              <a:t> </a:t>
            </a:r>
            <a:r>
              <a:rPr lang="en-GB" dirty="0"/>
              <a:t>controls where nginx proxies</a:t>
            </a:r>
          </a:p>
          <a:p>
            <a:pPr lvl="1"/>
            <a:r>
              <a:rPr lang="en-GB" dirty="0" err="1">
                <a:solidFill>
                  <a:srgbClr val="0074D9"/>
                </a:solidFill>
              </a:rPr>
              <a:t>backend.text</a:t>
            </a:r>
            <a:r>
              <a:rPr lang="en-GB" dirty="0">
                <a:solidFill>
                  <a:srgbClr val="0074D9"/>
                </a:solidFill>
              </a:rPr>
              <a:t> </a:t>
            </a:r>
            <a:r>
              <a:rPr lang="en-GB" dirty="0"/>
              <a:t>changes the /</a:t>
            </a:r>
            <a:r>
              <a:rPr lang="en-GB" dirty="0" err="1"/>
              <a:t>api</a:t>
            </a:r>
            <a:r>
              <a:rPr lang="en-GB" dirty="0"/>
              <a:t> response</a:t>
            </a:r>
          </a:p>
          <a:p>
            <a:pPr lvl="1"/>
            <a:r>
              <a:rPr lang="en-GB" dirty="0" err="1">
                <a:solidFill>
                  <a:srgbClr val="0074D9"/>
                </a:solidFill>
              </a:rPr>
              <a:t>replicaCount</a:t>
            </a:r>
            <a:r>
              <a:rPr lang="en-GB" dirty="0">
                <a:solidFill>
                  <a:srgbClr val="0074D9"/>
                </a:solidFill>
              </a:rPr>
              <a:t> </a:t>
            </a:r>
            <a:r>
              <a:rPr lang="en-GB" dirty="0"/>
              <a:t>affects number of pods</a:t>
            </a:r>
          </a:p>
          <a:p>
            <a:pPr lvl="1"/>
            <a:endParaRPr lang="en-GB" dirty="0"/>
          </a:p>
          <a:p>
            <a:endParaRPr lang="en-DK" dirty="0"/>
          </a:p>
        </p:txBody>
      </p:sp>
    </p:spTree>
    <p:extLst>
      <p:ext uri="{BB962C8B-B14F-4D97-AF65-F5344CB8AC3E}">
        <p14:creationId xmlns:p14="http://schemas.microsoft.com/office/powerpoint/2010/main" val="230706740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426500-3CA6-9267-0FCC-356760BFB1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Assignment details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7B8A090-A5CB-EB7C-C64C-2BA80114EB3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8132" y="1690688"/>
            <a:ext cx="10515600" cy="4909288"/>
          </a:xfrm>
        </p:spPr>
        <p:txBody>
          <a:bodyPr>
            <a:normAutofit fontScale="70000" lnSpcReduction="20000"/>
          </a:bodyPr>
          <a:lstStyle/>
          <a:p>
            <a:pPr marL="0" indent="0">
              <a:buNone/>
            </a:pPr>
            <a:r>
              <a:rPr lang="en-GB" dirty="0"/>
              <a:t>Working your way to a chart</a:t>
            </a:r>
          </a:p>
          <a:p>
            <a:pPr marL="457200" indent="-457200">
              <a:buFont typeface="+mj-lt"/>
              <a:buAutoNum type="arabicPeriod"/>
            </a:pPr>
            <a:r>
              <a:rPr lang="en-GB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helm lint ./gateway-chart</a:t>
            </a:r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 passes</a:t>
            </a:r>
          </a:p>
          <a:p>
            <a:pPr marL="457200" indent="-457200">
              <a:buFont typeface="+mj-lt"/>
              <a:buAutoNum type="arabicPeriod"/>
            </a:pPr>
            <a:r>
              <a:rPr lang="en-GB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helm template ./gateway-chart</a:t>
            </a:r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 renders valid YAML</a:t>
            </a:r>
          </a:p>
          <a:p>
            <a:pPr marL="457200" indent="-457200">
              <a:buFont typeface="+mj-lt"/>
              <a:buAutoNum type="arabicPeriod"/>
            </a:pPr>
            <a:r>
              <a:rPr lang="en-GB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helm upgrade --install &lt;release-name&gt; ./gateway-chart (-n &lt;namespace&gt;)</a:t>
            </a:r>
          </a:p>
          <a:p>
            <a:pPr marL="457200" indent="-457200">
              <a:buFont typeface="+mj-lt"/>
              <a:buAutoNum type="arabicPeriod"/>
            </a:pPr>
            <a:r>
              <a:rPr lang="en-GB" dirty="0"/>
              <a:t>Should work after install:</a:t>
            </a:r>
          </a:p>
          <a:p>
            <a:pPr lvl="1"/>
            <a:r>
              <a:rPr lang="en-GB" b="1" dirty="0"/>
              <a:t>/</a:t>
            </a:r>
            <a:r>
              <a:rPr lang="en-GB" dirty="0"/>
              <a:t> returns gateway text</a:t>
            </a:r>
          </a:p>
          <a:p>
            <a:pPr lvl="1"/>
            <a:r>
              <a:rPr lang="en-GB" b="1" dirty="0"/>
              <a:t>/</a:t>
            </a:r>
            <a:r>
              <a:rPr lang="en-GB" b="1" dirty="0" err="1"/>
              <a:t>api</a:t>
            </a:r>
            <a:r>
              <a:rPr lang="en-GB" dirty="0"/>
              <a:t> returns backend text</a:t>
            </a:r>
          </a:p>
          <a:p>
            <a:pPr marL="0" indent="0">
              <a:buNone/>
            </a:pPr>
            <a:br>
              <a:rPr lang="en-GB" b="1" dirty="0"/>
            </a:br>
            <a:r>
              <a:rPr lang="en-GB" dirty="0"/>
              <a:t>Suggested flow</a:t>
            </a:r>
          </a:p>
          <a:p>
            <a:r>
              <a:rPr lang="en-GB" dirty="0"/>
              <a:t>Start with Deployment (pods running)</a:t>
            </a:r>
          </a:p>
          <a:p>
            <a:r>
              <a:rPr lang="en-GB" dirty="0"/>
              <a:t>Add </a:t>
            </a:r>
            <a:r>
              <a:rPr lang="en-GB" dirty="0" err="1"/>
              <a:t>ConfigMap</a:t>
            </a:r>
            <a:r>
              <a:rPr lang="en-GB" dirty="0"/>
              <a:t> mount (nginx starts)</a:t>
            </a:r>
          </a:p>
          <a:p>
            <a:r>
              <a:rPr lang="en-GB" dirty="0"/>
              <a:t>Add Service</a:t>
            </a:r>
          </a:p>
          <a:p>
            <a:r>
              <a:rPr lang="en-GB" dirty="0"/>
              <a:t>Add Ingress</a:t>
            </a:r>
          </a:p>
          <a:p>
            <a:r>
              <a:rPr lang="en-GB" dirty="0"/>
              <a:t>Then try to break &amp; fix the the gateway</a:t>
            </a:r>
          </a:p>
          <a:p>
            <a:endParaRPr lang="en-GB" dirty="0"/>
          </a:p>
          <a:p>
            <a:r>
              <a:rPr lang="en-GB" dirty="0"/>
              <a:t>Reference example:</a:t>
            </a:r>
          </a:p>
          <a:p>
            <a:pPr lvl="1"/>
            <a:r>
              <a:rPr lang="en-GB" dirty="0">
                <a:hlinkClick r:id="rId3"/>
              </a:rPr>
              <a:t>https://github.com/Notalib/devops-demo</a:t>
            </a:r>
            <a:r>
              <a:rPr lang="en-GB" dirty="0"/>
              <a:t> </a:t>
            </a:r>
          </a:p>
          <a:p>
            <a:endParaRPr lang="en-DK" dirty="0"/>
          </a:p>
        </p:txBody>
      </p:sp>
    </p:spTree>
    <p:extLst>
      <p:ext uri="{BB962C8B-B14F-4D97-AF65-F5344CB8AC3E}">
        <p14:creationId xmlns:p14="http://schemas.microsoft.com/office/powerpoint/2010/main" val="200927146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23DF2A-0E93-8330-C033-0788DF6E50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53579D-37D7-9CD6-1B46-37CDA1AF78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Exercise recap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ADBABFB-C3E7-2354-4FB5-7E05DCCC7FC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/>
          </a:bodyPr>
          <a:lstStyle/>
          <a:p>
            <a:r>
              <a:rPr lang="en-DK" sz="2800" dirty="0"/>
              <a:t>Hvad lærte vi?</a:t>
            </a:r>
          </a:p>
          <a:p>
            <a:endParaRPr lang="en-DK" sz="2800" dirty="0"/>
          </a:p>
          <a:p>
            <a:r>
              <a:rPr lang="en-DK" sz="2800" dirty="0"/>
              <a:t>Hvad var svært?</a:t>
            </a:r>
          </a:p>
          <a:p>
            <a:endParaRPr lang="en-DK" sz="2800" dirty="0"/>
          </a:p>
          <a:p>
            <a:r>
              <a:rPr lang="en-DK" sz="2800" dirty="0"/>
              <a:t>Se på løsning</a:t>
            </a:r>
          </a:p>
        </p:txBody>
      </p:sp>
    </p:spTree>
    <p:extLst>
      <p:ext uri="{BB962C8B-B14F-4D97-AF65-F5344CB8AC3E}">
        <p14:creationId xmlns:p14="http://schemas.microsoft.com/office/powerpoint/2010/main" val="374014568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02C57EF-7185-A34B-07EE-CD4F984AD59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DK" dirty="0"/>
              <a:t>5.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D8CE3E9-45FF-0EAB-1878-1486065E36D0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DK" dirty="0"/>
              <a:t>Chart Templating</a:t>
            </a:r>
          </a:p>
        </p:txBody>
      </p:sp>
    </p:spTree>
    <p:extLst>
      <p:ext uri="{BB962C8B-B14F-4D97-AF65-F5344CB8AC3E}">
        <p14:creationId xmlns:p14="http://schemas.microsoft.com/office/powerpoint/2010/main" val="52922696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1BE604-F236-F50E-7BDE-12BBAFF7FB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4C3C007C-15B4-F72C-1B13-EF8D91E42A3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DK" dirty="0"/>
              <a:t>6.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91FFB1B-B3A7-F18E-A890-FF44D00EAC62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DK" dirty="0"/>
              <a:t>Helm Charts i drift</a:t>
            </a:r>
            <a:br>
              <a:rPr lang="en-DK" dirty="0"/>
            </a:br>
            <a:r>
              <a:rPr lang="en-DK" dirty="0"/>
              <a:t>&amp; GitOps</a:t>
            </a:r>
          </a:p>
        </p:txBody>
      </p:sp>
    </p:spTree>
    <p:extLst>
      <p:ext uri="{BB962C8B-B14F-4D97-AF65-F5344CB8AC3E}">
        <p14:creationId xmlns:p14="http://schemas.microsoft.com/office/powerpoint/2010/main" val="19824969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90E0B8-9894-D5A6-4EF5-0DAE774C3E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Chart repository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B3CBBF2-4BF8-9C65-B00E-C78AD78407C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8132" y="1690688"/>
            <a:ext cx="5481645" cy="4442517"/>
          </a:xfrm>
        </p:spPr>
        <p:txBody>
          <a:bodyPr/>
          <a:lstStyle/>
          <a:p>
            <a:r>
              <a:rPr lang="en-DK" dirty="0"/>
              <a:t>Chart reposity = App catalogue.</a:t>
            </a:r>
          </a:p>
          <a:p>
            <a:endParaRPr lang="en-DK" dirty="0"/>
          </a:p>
          <a:p>
            <a:r>
              <a:rPr lang="en-DK" dirty="0"/>
              <a:t>Chart is “built”, versioned and packaged to a zip file.</a:t>
            </a:r>
          </a:p>
          <a:p>
            <a:pPr lvl="1"/>
            <a:r>
              <a:rPr lang="en-DK" dirty="0"/>
              <a:t>Zip file is uploaded to repo and indexed by name and version.</a:t>
            </a:r>
          </a:p>
          <a:p>
            <a:endParaRPr lang="en-DK" dirty="0"/>
          </a:p>
          <a:p>
            <a:r>
              <a:rPr lang="en-DK" dirty="0"/>
              <a:t>Commands:</a:t>
            </a:r>
          </a:p>
          <a:p>
            <a:pPr lvl="1"/>
            <a:r>
              <a:rPr lang="en-GB" dirty="0">
                <a:solidFill>
                  <a:schemeClr val="bg2">
                    <a:lumMod val="25000"/>
                  </a:schemeClr>
                </a:solidFill>
                <a:highlight>
                  <a:srgbClr val="D6ECCB"/>
                </a:highlight>
              </a:rPr>
              <a:t>h</a:t>
            </a:r>
            <a:r>
              <a:rPr lang="en-DK" dirty="0">
                <a:solidFill>
                  <a:schemeClr val="bg2">
                    <a:lumMod val="25000"/>
                  </a:schemeClr>
                </a:solidFill>
                <a:highlight>
                  <a:srgbClr val="D6ECCB"/>
                </a:highlight>
              </a:rPr>
              <a:t>elm repo list</a:t>
            </a:r>
          </a:p>
          <a:p>
            <a:pPr lvl="1"/>
            <a:r>
              <a:rPr lang="en-DK" dirty="0">
                <a:solidFill>
                  <a:schemeClr val="bg2">
                    <a:lumMod val="25000"/>
                  </a:schemeClr>
                </a:solidFill>
                <a:highlight>
                  <a:srgbClr val="D6ECCB"/>
                </a:highlight>
              </a:rPr>
              <a:t>helm repo add notalib http://nota-ci.dbb.dk</a:t>
            </a:r>
          </a:p>
          <a:p>
            <a:pPr lvl="1"/>
            <a:r>
              <a:rPr lang="en-GB" dirty="0">
                <a:solidFill>
                  <a:schemeClr val="bg2">
                    <a:lumMod val="25000"/>
                  </a:schemeClr>
                </a:solidFill>
                <a:highlight>
                  <a:srgbClr val="D6ECCB"/>
                </a:highlight>
              </a:rPr>
              <a:t>h</a:t>
            </a:r>
            <a:r>
              <a:rPr lang="en-DK" dirty="0">
                <a:solidFill>
                  <a:schemeClr val="bg2">
                    <a:lumMod val="25000"/>
                  </a:schemeClr>
                </a:solidFill>
                <a:highlight>
                  <a:srgbClr val="D6ECCB"/>
                </a:highlight>
              </a:rPr>
              <a:t>elm search repo notalib</a:t>
            </a:r>
            <a:r>
              <a:rPr lang="en-DK" dirty="0">
                <a:solidFill>
                  <a:schemeClr val="bg2">
                    <a:lumMod val="25000"/>
                  </a:schemeClr>
                </a:solidFill>
              </a:rPr>
              <a:t> (--versions)</a:t>
            </a:r>
          </a:p>
        </p:txBody>
      </p:sp>
      <p:pic>
        <p:nvPicPr>
          <p:cNvPr id="4" name="Picture 2" descr="Intro to Helm Charts for Complete Beginners">
            <a:extLst>
              <a:ext uri="{FF2B5EF4-FFF2-40B4-BE49-F238E27FC236}">
                <a16:creationId xmlns:a16="http://schemas.microsoft.com/office/drawing/2014/main" id="{35F0F4FE-2DB8-E77F-40D8-69DFCB70012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65058" y="1945034"/>
            <a:ext cx="5626942" cy="3367746"/>
          </a:xfrm>
          <a:prstGeom prst="rect">
            <a:avLst/>
          </a:prstGeom>
          <a:noFill/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4799214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0F562C-2C3C-71B0-4117-A919F179CD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Helm install &amp; upgrade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1B43892-9DD4-210F-4818-374C9767E89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DK" dirty="0">
                <a:solidFill>
                  <a:schemeClr val="bg2">
                    <a:lumMod val="25000"/>
                  </a:schemeClr>
                </a:solidFill>
              </a:rPr>
              <a:t>Install &amp; upgrade</a:t>
            </a:r>
          </a:p>
          <a:p>
            <a:pPr lvl="1"/>
            <a:r>
              <a:rPr lang="en-GB" dirty="0">
                <a:solidFill>
                  <a:schemeClr val="bg2">
                    <a:lumMod val="25000"/>
                  </a:schemeClr>
                </a:solidFill>
                <a:highlight>
                  <a:srgbClr val="D6ECCB"/>
                </a:highlight>
              </a:rPr>
              <a:t>h</a:t>
            </a:r>
            <a:r>
              <a:rPr lang="en-DK" dirty="0">
                <a:solidFill>
                  <a:schemeClr val="bg2">
                    <a:lumMod val="25000"/>
                  </a:schemeClr>
                </a:solidFill>
                <a:highlight>
                  <a:srgbClr val="D6ECCB"/>
                </a:highlight>
              </a:rPr>
              <a:t>elm install &lt;release-name&gt; &lt;repo&gt;/&lt;chart-name&gt; -f my-values.yml --set a.value=b</a:t>
            </a:r>
          </a:p>
          <a:p>
            <a:pPr lvl="1"/>
            <a:r>
              <a:rPr lang="en-GB" dirty="0">
                <a:solidFill>
                  <a:schemeClr val="bg2">
                    <a:lumMod val="25000"/>
                  </a:schemeClr>
                </a:solidFill>
                <a:highlight>
                  <a:srgbClr val="D6ECCB"/>
                </a:highlight>
              </a:rPr>
              <a:t>h</a:t>
            </a:r>
            <a:r>
              <a:rPr lang="en-DK" dirty="0">
                <a:solidFill>
                  <a:schemeClr val="bg2">
                    <a:lumMod val="25000"/>
                  </a:schemeClr>
                </a:solidFill>
                <a:highlight>
                  <a:srgbClr val="D6ECCB"/>
                </a:highlight>
              </a:rPr>
              <a:t>elm upgrade &lt;release-name&gt; --reset-then-reuse-values --set a.value=c</a:t>
            </a:r>
          </a:p>
          <a:p>
            <a:endParaRPr lang="en-DK" dirty="0"/>
          </a:p>
          <a:p>
            <a:r>
              <a:rPr lang="en-DK" dirty="0"/>
              <a:t>History and rollback</a:t>
            </a:r>
          </a:p>
          <a:p>
            <a:pPr lvl="1"/>
            <a:r>
              <a:rPr lang="en-GB" dirty="0">
                <a:highlight>
                  <a:srgbClr val="D6ECCB"/>
                </a:highlight>
              </a:rPr>
              <a:t>h</a:t>
            </a:r>
            <a:r>
              <a:rPr lang="en-DK" dirty="0">
                <a:highlight>
                  <a:srgbClr val="D6ECCB"/>
                </a:highlight>
              </a:rPr>
              <a:t>elm history &lt;release-name&gt; -n &lt;namespace&gt;</a:t>
            </a:r>
          </a:p>
          <a:p>
            <a:pPr lvl="1"/>
            <a:r>
              <a:rPr lang="en-DK" dirty="0">
                <a:highlight>
                  <a:srgbClr val="D6ECCB"/>
                </a:highlight>
              </a:rPr>
              <a:t>helm rollback &lt;release-name&gt; &lt;id&gt;</a:t>
            </a:r>
          </a:p>
        </p:txBody>
      </p:sp>
    </p:spTree>
    <p:extLst>
      <p:ext uri="{BB962C8B-B14F-4D97-AF65-F5344CB8AC3E}">
        <p14:creationId xmlns:p14="http://schemas.microsoft.com/office/powerpoint/2010/main" val="129377283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C2900C-8D1C-5997-D433-E29A996056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DT-DIT helm charts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29E383-E8F2-1433-4164-37A0E867E92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DK" dirty="0"/>
              <a:t>Let’s look at more complex examples</a:t>
            </a:r>
          </a:p>
          <a:p>
            <a:pPr lvl="1"/>
            <a:r>
              <a:rPr lang="en-DK" dirty="0"/>
              <a:t>BookCoverService</a:t>
            </a:r>
          </a:p>
          <a:p>
            <a:pPr lvl="1"/>
            <a:r>
              <a:rPr lang="en-DK" dirty="0"/>
              <a:t>ExamSystem</a:t>
            </a:r>
            <a:br>
              <a:rPr lang="en-DK" dirty="0"/>
            </a:br>
            <a:endParaRPr lang="en-DK" dirty="0"/>
          </a:p>
          <a:p>
            <a:r>
              <a:rPr lang="en-DK" dirty="0"/>
              <a:t>Common issues:</a:t>
            </a:r>
          </a:p>
          <a:p>
            <a:pPr lvl="1"/>
            <a:r>
              <a:rPr lang="en-DK" dirty="0"/>
              <a:t>A new value broke my chart!</a:t>
            </a:r>
          </a:p>
          <a:p>
            <a:pPr lvl="1"/>
            <a:r>
              <a:rPr lang="en-DK" dirty="0"/>
              <a:t>Why didn’t </a:t>
            </a:r>
            <a:r>
              <a:rPr lang="en-DK" dirty="0">
                <a:highlight>
                  <a:srgbClr val="D6ECCB"/>
                </a:highlight>
              </a:rPr>
              <a:t>helm upgrade</a:t>
            </a:r>
            <a:r>
              <a:rPr lang="en-DK" dirty="0"/>
              <a:t> restart my app!?</a:t>
            </a:r>
          </a:p>
        </p:txBody>
      </p:sp>
    </p:spTree>
    <p:extLst>
      <p:ext uri="{BB962C8B-B14F-4D97-AF65-F5344CB8AC3E}">
        <p14:creationId xmlns:p14="http://schemas.microsoft.com/office/powerpoint/2010/main" val="396415414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85E427-E7BE-EAD6-0193-0B8B0D21F3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E26675E-9B1B-7B80-5201-52061D6685A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DK" dirty="0"/>
              <a:t>7.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0018508-78E2-88B0-A8C6-088BEA3887D3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587749" y="2703049"/>
            <a:ext cx="5488873" cy="2884543"/>
          </a:xfrm>
        </p:spPr>
        <p:txBody>
          <a:bodyPr/>
          <a:lstStyle/>
          <a:p>
            <a:r>
              <a:rPr lang="en-DK" dirty="0"/>
              <a:t>Processen herfra</a:t>
            </a:r>
          </a:p>
          <a:p>
            <a:r>
              <a:rPr lang="en-DK" sz="3200" dirty="0">
                <a:solidFill>
                  <a:srgbClr val="C54D02"/>
                </a:solidFill>
              </a:rPr>
              <a:t>Migrerings-skabelon</a:t>
            </a:r>
          </a:p>
        </p:txBody>
      </p:sp>
    </p:spTree>
    <p:extLst>
      <p:ext uri="{BB962C8B-B14F-4D97-AF65-F5344CB8AC3E}">
        <p14:creationId xmlns:p14="http://schemas.microsoft.com/office/powerpoint/2010/main" val="773011059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2A2CBA-A2ED-DEB2-2D81-31FBB83D45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8AC0D4F-8AB9-41CF-B0C6-33265EBDABC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DK" dirty="0"/>
              <a:t>8.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DA30269-CC61-16B7-9C93-06A5395F91B0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587749" y="2703049"/>
            <a:ext cx="6307022" cy="2884543"/>
          </a:xfrm>
        </p:spPr>
        <p:txBody>
          <a:bodyPr/>
          <a:lstStyle/>
          <a:p>
            <a:r>
              <a:rPr lang="en-DK" dirty="0"/>
              <a:t>Chart dit eget system!</a:t>
            </a:r>
          </a:p>
          <a:p>
            <a:r>
              <a:rPr lang="en-DK" sz="3200" dirty="0">
                <a:solidFill>
                  <a:srgbClr val="C54D02"/>
                </a:solidFill>
              </a:rPr>
              <a:t>Udvælg et simpelt system og følg migrerings-skabelonen</a:t>
            </a:r>
          </a:p>
        </p:txBody>
      </p:sp>
    </p:spTree>
    <p:extLst>
      <p:ext uri="{BB962C8B-B14F-4D97-AF65-F5344CB8AC3E}">
        <p14:creationId xmlns:p14="http://schemas.microsoft.com/office/powerpoint/2010/main" val="3064211684"/>
      </p:ext>
    </p:extLst>
  </p:cSld>
  <p:clrMapOvr>
    <a:masterClrMapping/>
  </p:clrMapOvr>
</p:sld>
</file>

<file path=ppt/theme/theme1.xml><?xml version="1.0" encoding="utf-8"?>
<a:theme xmlns:a="http://schemas.openxmlformats.org/drawingml/2006/main" name="Indhold">
  <a:themeElements>
    <a:clrScheme name="Varm blå">
      <a:dk1>
        <a:sysClr val="windowText" lastClr="000000"/>
      </a:dk1>
      <a:lt1>
        <a:sysClr val="window" lastClr="FFFFFF"/>
      </a:lt1>
      <a:dk2>
        <a:srgbClr val="242852"/>
      </a:dk2>
      <a:lt2>
        <a:srgbClr val="ACCBF9"/>
      </a:lt2>
      <a:accent1>
        <a:srgbClr val="4A66AC"/>
      </a:accent1>
      <a:accent2>
        <a:srgbClr val="629DD1"/>
      </a:accent2>
      <a:accent3>
        <a:srgbClr val="297FD5"/>
      </a:accent3>
      <a:accent4>
        <a:srgbClr val="7F8FA9"/>
      </a:accent4>
      <a:accent5>
        <a:srgbClr val="5AA2AE"/>
      </a:accent5>
      <a:accent6>
        <a:srgbClr val="9D90A0"/>
      </a:accent6>
      <a:hlink>
        <a:srgbClr val="9454C3"/>
      </a:hlink>
      <a:folHlink>
        <a:srgbClr val="3EBBF0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Kontor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emplate Nota.pptx" id="{F0FBB5BE-0601-4BE8-BA7C-1355AB977626}" vid="{81F92269-22DC-477F-91A0-1E1887A1027D}"/>
    </a:ext>
  </a:extLst>
</a:theme>
</file>

<file path=ppt/theme/theme2.xml><?xml version="1.0" encoding="utf-8"?>
<a:theme xmlns:a="http://schemas.openxmlformats.org/drawingml/2006/main" name="Pause og overgange">
  <a:themeElements>
    <a:clrScheme name="Nota 2">
      <a:dk1>
        <a:srgbClr val="383838"/>
      </a:dk1>
      <a:lt1>
        <a:srgbClr val="FFFFFF"/>
      </a:lt1>
      <a:dk2>
        <a:srgbClr val="44546A"/>
      </a:dk2>
      <a:lt2>
        <a:srgbClr val="E7E6E6"/>
      </a:lt2>
      <a:accent1>
        <a:srgbClr val="0074D9"/>
      </a:accent1>
      <a:accent2>
        <a:srgbClr val="C54D02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Template Nota</Template>
  <TotalTime>48438</TotalTime>
  <Words>2106</Words>
  <Application>Microsoft Macintosh PowerPoint</Application>
  <PresentationFormat>Widescreen</PresentationFormat>
  <Paragraphs>329</Paragraphs>
  <Slides>44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44</vt:i4>
      </vt:variant>
    </vt:vector>
  </HeadingPairs>
  <TitlesOfParts>
    <vt:vector size="53" baseType="lpstr">
      <vt:lpstr>Arial</vt:lpstr>
      <vt:lpstr>Calibri</vt:lpstr>
      <vt:lpstr>Calibri Light</vt:lpstr>
      <vt:lpstr>Consolas</vt:lpstr>
      <vt:lpstr>Courier New</vt:lpstr>
      <vt:lpstr>Times New Roman</vt:lpstr>
      <vt:lpstr>Wingdings</vt:lpstr>
      <vt:lpstr>Indhold</vt:lpstr>
      <vt:lpstr>Pause og overgange</vt:lpstr>
      <vt:lpstr>Helm-chart Workshop </vt:lpstr>
      <vt:lpstr>DevOps Workshops</vt:lpstr>
      <vt:lpstr>PowerPoint Presentation</vt:lpstr>
      <vt:lpstr>PowerPoint Presentation</vt:lpstr>
      <vt:lpstr>Container = Legoklods</vt:lpstr>
      <vt:lpstr>PowerPoint Presentation</vt:lpstr>
      <vt:lpstr>Kubernetes Cluster</vt:lpstr>
      <vt:lpstr>PowerPoint Presentation</vt:lpstr>
      <vt:lpstr>Fra kubectl til kørende Pod</vt:lpstr>
      <vt:lpstr>PowerPoint Presentation</vt:lpstr>
      <vt:lpstr>Hvilket problem løser det?</vt:lpstr>
      <vt:lpstr>Det Helm giver os</vt:lpstr>
      <vt:lpstr>Hvad er Helm?</vt:lpstr>
      <vt:lpstr>Chart = Byggesæt</vt:lpstr>
      <vt:lpstr>Helm chart – Structure</vt:lpstr>
      <vt:lpstr>Chart.yaml</vt:lpstr>
      <vt:lpstr>Values.yaml</vt:lpstr>
      <vt:lpstr>Chart ≠ Release </vt:lpstr>
      <vt:lpstr>Release revisioner</vt:lpstr>
      <vt:lpstr>Hvor bor et release?</vt:lpstr>
      <vt:lpstr>Hvor helms arbejde slutter</vt:lpstr>
      <vt:lpstr>Helm: Bottom-line</vt:lpstr>
      <vt:lpstr>Helm er IKKE</vt:lpstr>
      <vt:lpstr>Helm CLI</vt:lpstr>
      <vt:lpstr>How templating works</vt:lpstr>
      <vt:lpstr>What helm does on install</vt:lpstr>
      <vt:lpstr>Helm features</vt:lpstr>
      <vt:lpstr>PowerPoint Presentation</vt:lpstr>
      <vt:lpstr>Demo Content</vt:lpstr>
      <vt:lpstr>PowerPoint Presentation</vt:lpstr>
      <vt:lpstr>Helm chart – Basics</vt:lpstr>
      <vt:lpstr>PowerPoint Presentation</vt:lpstr>
      <vt:lpstr>Workshop repository</vt:lpstr>
      <vt:lpstr>Let’s write a helm chart!</vt:lpstr>
      <vt:lpstr>Assignment</vt:lpstr>
      <vt:lpstr>Assignment details</vt:lpstr>
      <vt:lpstr>Exercise recap</vt:lpstr>
      <vt:lpstr>PowerPoint Presentation</vt:lpstr>
      <vt:lpstr>PowerPoint Presentation</vt:lpstr>
      <vt:lpstr>Chart repository</vt:lpstr>
      <vt:lpstr>Helm install &amp; upgrade</vt:lpstr>
      <vt:lpstr>DT-DIT helm charts</vt:lpstr>
      <vt:lpstr>PowerPoint Presentation</vt:lpstr>
      <vt:lpstr>PowerPoint Presentation</vt:lpstr>
    </vt:vector>
  </TitlesOfParts>
  <Company>Statens It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PowerPoint-præsentation</dc:title>
  <dc:creator>Henrik Østergaard</dc:creator>
  <cp:lastModifiedBy>Daniel Freiling</cp:lastModifiedBy>
  <cp:revision>354</cp:revision>
  <dcterms:created xsi:type="dcterms:W3CDTF">2021-06-21T11:45:03Z</dcterms:created>
  <dcterms:modified xsi:type="dcterms:W3CDTF">2026-08-19T18:15:20Z</dcterms:modified>
</cp:coreProperties>
</file>