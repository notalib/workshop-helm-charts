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79"/>
  </p:notesMasterIdLst>
  <p:sldIdLst>
    <p:sldId id="280" r:id="rId3"/>
    <p:sldId id="438" r:id="rId4"/>
    <p:sldId id="439" r:id="rId5"/>
    <p:sldId id="492" r:id="rId6"/>
    <p:sldId id="513" r:id="rId7"/>
    <p:sldId id="540" r:id="rId8"/>
    <p:sldId id="398" r:id="rId9"/>
    <p:sldId id="418" r:id="rId10"/>
    <p:sldId id="361" r:id="rId11"/>
    <p:sldId id="443" r:id="rId12"/>
    <p:sldId id="514" r:id="rId13"/>
    <p:sldId id="489" r:id="rId14"/>
    <p:sldId id="498" r:id="rId15"/>
    <p:sldId id="488" r:id="rId16"/>
    <p:sldId id="499" r:id="rId17"/>
    <p:sldId id="512" r:id="rId18"/>
    <p:sldId id="500" r:id="rId19"/>
    <p:sldId id="501" r:id="rId20"/>
    <p:sldId id="394" r:id="rId21"/>
    <p:sldId id="387" r:id="rId22"/>
    <p:sldId id="516" r:id="rId23"/>
    <p:sldId id="502" r:id="rId24"/>
    <p:sldId id="503" r:id="rId25"/>
    <p:sldId id="511" r:id="rId26"/>
    <p:sldId id="508" r:id="rId27"/>
    <p:sldId id="504" r:id="rId28"/>
    <p:sldId id="506" r:id="rId29"/>
    <p:sldId id="505" r:id="rId30"/>
    <p:sldId id="507" r:id="rId31"/>
    <p:sldId id="509" r:id="rId32"/>
    <p:sldId id="517" r:id="rId33"/>
    <p:sldId id="493" r:id="rId34"/>
    <p:sldId id="524" r:id="rId35"/>
    <p:sldId id="494" r:id="rId36"/>
    <p:sldId id="388" r:id="rId37"/>
    <p:sldId id="518" r:id="rId38"/>
    <p:sldId id="519" r:id="rId39"/>
    <p:sldId id="520" r:id="rId40"/>
    <p:sldId id="521" r:id="rId41"/>
    <p:sldId id="522" r:id="rId42"/>
    <p:sldId id="523" r:id="rId43"/>
    <p:sldId id="389" r:id="rId44"/>
    <p:sldId id="391" r:id="rId45"/>
    <p:sldId id="392" r:id="rId46"/>
    <p:sldId id="490" r:id="rId47"/>
    <p:sldId id="495" r:id="rId48"/>
    <p:sldId id="385" r:id="rId49"/>
    <p:sldId id="390" r:id="rId50"/>
    <p:sldId id="525" r:id="rId51"/>
    <p:sldId id="526" r:id="rId52"/>
    <p:sldId id="527" r:id="rId53"/>
    <p:sldId id="554" r:id="rId54"/>
    <p:sldId id="529" r:id="rId55"/>
    <p:sldId id="528" r:id="rId56"/>
    <p:sldId id="530" r:id="rId57"/>
    <p:sldId id="496" r:id="rId58"/>
    <p:sldId id="543" r:id="rId59"/>
    <p:sldId id="264" r:id="rId60"/>
    <p:sldId id="266" r:id="rId61"/>
    <p:sldId id="269" r:id="rId62"/>
    <p:sldId id="552" r:id="rId63"/>
    <p:sldId id="547" r:id="rId64"/>
    <p:sldId id="539" r:id="rId65"/>
    <p:sldId id="548" r:id="rId66"/>
    <p:sldId id="549" r:id="rId67"/>
    <p:sldId id="533" r:id="rId68"/>
    <p:sldId id="536" r:id="rId69"/>
    <p:sldId id="555" r:id="rId70"/>
    <p:sldId id="537" r:id="rId71"/>
    <p:sldId id="541" r:id="rId72"/>
    <p:sldId id="497" r:id="rId73"/>
    <p:sldId id="532" r:id="rId74"/>
    <p:sldId id="535" r:id="rId75"/>
    <p:sldId id="531" r:id="rId76"/>
    <p:sldId id="545" r:id="rId77"/>
    <p:sldId id="544" r:id="rId78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4D02"/>
    <a:srgbClr val="0074D9"/>
    <a:srgbClr val="B8580A"/>
    <a:srgbClr val="002E70"/>
    <a:srgbClr val="0E7068"/>
    <a:srgbClr val="005DE0"/>
    <a:srgbClr val="F0FBFF"/>
    <a:srgbClr val="CAF0FE"/>
    <a:srgbClr val="FFFDEE"/>
    <a:srgbClr val="EEFB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52" autoAdjust="0"/>
    <p:restoredTop sz="83201"/>
  </p:normalViewPr>
  <p:slideViewPr>
    <p:cSldViewPr snapToGrid="0">
      <p:cViewPr varScale="1">
        <p:scale>
          <a:sx n="120" d="100"/>
          <a:sy n="120" d="100"/>
        </p:scale>
        <p:origin x="184" y="360"/>
      </p:cViewPr>
      <p:guideLst/>
    </p:cSldViewPr>
  </p:slideViewPr>
  <p:notesTextViewPr>
    <p:cViewPr>
      <p:scale>
        <a:sx n="145" d="100"/>
        <a:sy n="14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31BD664-1537-4D87-81E2-26C474427EBB}" type="doc">
      <dgm:prSet loTypeId="urn:microsoft.com/office/officeart/2005/8/layout/hProcess4" loCatId="process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da-DK"/>
        </a:p>
      </dgm:t>
    </dgm:pt>
    <dgm:pt modelId="{BFC142A9-6837-4936-9B46-62EEE0A774FA}">
      <dgm:prSet phldrT="[Tekst]" custT="1"/>
      <dgm:spPr/>
      <dgm:t>
        <a:bodyPr/>
        <a:lstStyle/>
        <a:p>
          <a:r>
            <a:rPr lang="da-DK" sz="1800" dirty="0"/>
            <a:t>Teamet</a:t>
          </a:r>
        </a:p>
      </dgm:t>
    </dgm:pt>
    <dgm:pt modelId="{934B8292-98B4-4C46-9529-E9670A0B55A4}" type="parTrans" cxnId="{E851A589-49AF-48DC-BD0D-4C7ECA2D7EFC}">
      <dgm:prSet/>
      <dgm:spPr/>
      <dgm:t>
        <a:bodyPr/>
        <a:lstStyle/>
        <a:p>
          <a:endParaRPr lang="da-DK"/>
        </a:p>
      </dgm:t>
    </dgm:pt>
    <dgm:pt modelId="{3A643F2F-7B77-4FFB-B03D-EADBD8D90A8C}" type="sibTrans" cxnId="{E851A589-49AF-48DC-BD0D-4C7ECA2D7EFC}">
      <dgm:prSet/>
      <dgm:spPr/>
      <dgm:t>
        <a:bodyPr/>
        <a:lstStyle/>
        <a:p>
          <a:endParaRPr lang="da-DK"/>
        </a:p>
      </dgm:t>
    </dgm:pt>
    <dgm:pt modelId="{F7D59AC7-80D5-48C2-9972-7F426A9C569A}">
      <dgm:prSet phldrT="[Tekst]"/>
      <dgm:spPr/>
      <dgm:t>
        <a:bodyPr/>
        <a:lstStyle/>
        <a:p>
          <a:r>
            <a:rPr lang="da-DK" dirty="0"/>
            <a:t>Udvælger systemer der kan containeriseres</a:t>
          </a:r>
        </a:p>
      </dgm:t>
    </dgm:pt>
    <dgm:pt modelId="{3D42EF3C-442C-4BCE-BA27-75AC956517C5}" type="parTrans" cxnId="{31B2A007-25FE-44EF-A2FA-E90B72BBAC8E}">
      <dgm:prSet/>
      <dgm:spPr/>
      <dgm:t>
        <a:bodyPr/>
        <a:lstStyle/>
        <a:p>
          <a:endParaRPr lang="da-DK"/>
        </a:p>
      </dgm:t>
    </dgm:pt>
    <dgm:pt modelId="{03573DBC-BACD-4582-B981-232D287E8907}" type="sibTrans" cxnId="{31B2A007-25FE-44EF-A2FA-E90B72BBAC8E}">
      <dgm:prSet/>
      <dgm:spPr/>
      <dgm:t>
        <a:bodyPr/>
        <a:lstStyle/>
        <a:p>
          <a:endParaRPr lang="da-DK"/>
        </a:p>
      </dgm:t>
    </dgm:pt>
    <dgm:pt modelId="{2EC7D572-33E4-45CA-8953-30FA4E333E3F}">
      <dgm:prSet phldrT="[Tekst]" custT="1"/>
      <dgm:spPr/>
      <dgm:t>
        <a:bodyPr/>
        <a:lstStyle/>
        <a:p>
          <a:r>
            <a:rPr lang="da-DK" sz="1800" dirty="0"/>
            <a:t>ID ledelse</a:t>
          </a:r>
        </a:p>
      </dgm:t>
    </dgm:pt>
    <dgm:pt modelId="{E9FF5A67-8D97-4A8F-9F4D-9CFAE7A0E417}" type="parTrans" cxnId="{B7CED5AA-5168-4DD0-9393-1AE7A9ABB1D0}">
      <dgm:prSet/>
      <dgm:spPr/>
      <dgm:t>
        <a:bodyPr/>
        <a:lstStyle/>
        <a:p>
          <a:endParaRPr lang="da-DK"/>
        </a:p>
      </dgm:t>
    </dgm:pt>
    <dgm:pt modelId="{C52E7C5D-48E1-4F17-8831-2DB208E6A443}" type="sibTrans" cxnId="{B7CED5AA-5168-4DD0-9393-1AE7A9ABB1D0}">
      <dgm:prSet/>
      <dgm:spPr/>
      <dgm:t>
        <a:bodyPr/>
        <a:lstStyle/>
        <a:p>
          <a:endParaRPr lang="da-DK"/>
        </a:p>
      </dgm:t>
    </dgm:pt>
    <dgm:pt modelId="{25CA411C-2E93-4C83-A50B-9DBC552BF587}">
      <dgm:prSet phldrT="[Tekst]" custT="1"/>
      <dgm:spPr/>
      <dgm:t>
        <a:bodyPr/>
        <a:lstStyle/>
        <a:p>
          <a:r>
            <a:rPr lang="da-DK" sz="1400" dirty="0"/>
            <a:t>Vurderer overordnet plan ift. strategi, budgetanalyse og ressourcer i platformsteamet</a:t>
          </a:r>
        </a:p>
      </dgm:t>
    </dgm:pt>
    <dgm:pt modelId="{331FC500-CEA4-4229-9C39-B8B8D18DF9D8}" type="parTrans" cxnId="{DCC691FA-F362-409E-A3A5-CE84CE552E0E}">
      <dgm:prSet/>
      <dgm:spPr/>
      <dgm:t>
        <a:bodyPr/>
        <a:lstStyle/>
        <a:p>
          <a:endParaRPr lang="da-DK"/>
        </a:p>
      </dgm:t>
    </dgm:pt>
    <dgm:pt modelId="{3648EC93-48A8-4F1F-A800-9BC745E61FAF}" type="sibTrans" cxnId="{DCC691FA-F362-409E-A3A5-CE84CE552E0E}">
      <dgm:prSet/>
      <dgm:spPr/>
      <dgm:t>
        <a:bodyPr/>
        <a:lstStyle/>
        <a:p>
          <a:endParaRPr lang="da-DK"/>
        </a:p>
      </dgm:t>
    </dgm:pt>
    <dgm:pt modelId="{429DCC58-410B-47FC-BFC1-98D307F55061}">
      <dgm:prSet phldrT="[Tekst]"/>
      <dgm:spPr/>
      <dgm:t>
        <a:bodyPr/>
        <a:lstStyle/>
        <a:p>
          <a:r>
            <a:rPr lang="da-DK" dirty="0"/>
            <a:t>Prioriterer systemerne</a:t>
          </a:r>
        </a:p>
      </dgm:t>
    </dgm:pt>
    <dgm:pt modelId="{29C0D125-BC72-43B0-B291-5BCDA1C4F209}" type="parTrans" cxnId="{22839CE1-762F-4691-97EB-BEEA21B161B4}">
      <dgm:prSet/>
      <dgm:spPr/>
      <dgm:t>
        <a:bodyPr/>
        <a:lstStyle/>
        <a:p>
          <a:endParaRPr lang="da-DK"/>
        </a:p>
      </dgm:t>
    </dgm:pt>
    <dgm:pt modelId="{3DF854A5-345D-46DC-8E94-74FD2EC36243}" type="sibTrans" cxnId="{22839CE1-762F-4691-97EB-BEEA21B161B4}">
      <dgm:prSet/>
      <dgm:spPr/>
      <dgm:t>
        <a:bodyPr/>
        <a:lstStyle/>
        <a:p>
          <a:endParaRPr lang="da-DK"/>
        </a:p>
      </dgm:t>
    </dgm:pt>
    <dgm:pt modelId="{998E815B-8176-46A7-8060-01FBB9B26E25}">
      <dgm:prSet phldrT="[Tekst]"/>
      <dgm:spPr/>
      <dgm:t>
        <a:bodyPr/>
        <a:lstStyle/>
        <a:p>
          <a:r>
            <a:rPr lang="da-DK" dirty="0"/>
            <a:t>Lægger arbejdet med containerisering i teamets </a:t>
          </a:r>
          <a:r>
            <a:rPr lang="da-DK" dirty="0" err="1"/>
            <a:t>Roadmap</a:t>
          </a:r>
          <a:r>
            <a:rPr lang="da-DK" dirty="0"/>
            <a:t> </a:t>
          </a:r>
        </a:p>
      </dgm:t>
    </dgm:pt>
    <dgm:pt modelId="{9522F57F-CF36-4FDA-BD14-CE3F73B2B87B}" type="parTrans" cxnId="{4B7E2FE9-B435-41B6-B44E-499E51E88726}">
      <dgm:prSet/>
      <dgm:spPr/>
      <dgm:t>
        <a:bodyPr/>
        <a:lstStyle/>
        <a:p>
          <a:endParaRPr lang="da-DK"/>
        </a:p>
      </dgm:t>
    </dgm:pt>
    <dgm:pt modelId="{29A42AE1-DA26-497D-8CC1-C532DC182BDB}" type="sibTrans" cxnId="{4B7E2FE9-B435-41B6-B44E-499E51E88726}">
      <dgm:prSet/>
      <dgm:spPr/>
      <dgm:t>
        <a:bodyPr/>
        <a:lstStyle/>
        <a:p>
          <a:endParaRPr lang="da-DK"/>
        </a:p>
      </dgm:t>
    </dgm:pt>
    <dgm:pt modelId="{F2947EA2-5875-42CF-9252-49A83F59B861}">
      <dgm:prSet phldrT="[Tekst]" custT="1"/>
      <dgm:spPr/>
      <dgm:t>
        <a:bodyPr/>
        <a:lstStyle/>
        <a:p>
          <a:pPr algn="ctr"/>
          <a:r>
            <a:rPr lang="da-DK" sz="1800" dirty="0"/>
            <a:t>Ejerkreds</a:t>
          </a:r>
        </a:p>
      </dgm:t>
    </dgm:pt>
    <dgm:pt modelId="{FE6F61D9-3E68-442E-9D3A-BD3CBA68FCFC}" type="parTrans" cxnId="{6BF6641F-644D-4A42-9CF7-E1D97D35415E}">
      <dgm:prSet/>
      <dgm:spPr/>
      <dgm:t>
        <a:bodyPr/>
        <a:lstStyle/>
        <a:p>
          <a:endParaRPr lang="da-DK"/>
        </a:p>
      </dgm:t>
    </dgm:pt>
    <dgm:pt modelId="{3DC8E8A9-A2F0-4E2C-9CB4-D2597E9FA5F5}" type="sibTrans" cxnId="{6BF6641F-644D-4A42-9CF7-E1D97D35415E}">
      <dgm:prSet/>
      <dgm:spPr/>
      <dgm:t>
        <a:bodyPr/>
        <a:lstStyle/>
        <a:p>
          <a:endParaRPr lang="da-DK"/>
        </a:p>
      </dgm:t>
    </dgm:pt>
    <dgm:pt modelId="{A1A808E6-C2A5-4598-97E2-971198083788}">
      <dgm:prSet phldrT="[Tekst]" custT="1"/>
      <dgm:spPr/>
      <dgm:t>
        <a:bodyPr/>
        <a:lstStyle/>
        <a:p>
          <a:r>
            <a:rPr lang="da-DK" sz="1400" dirty="0"/>
            <a:t>Godkender </a:t>
          </a:r>
          <a:r>
            <a:rPr lang="da-DK" sz="1400" dirty="0" err="1"/>
            <a:t>Roadmap</a:t>
          </a:r>
          <a:r>
            <a:rPr lang="da-DK" sz="1400" dirty="0"/>
            <a:t> og rækkefølge</a:t>
          </a:r>
        </a:p>
      </dgm:t>
    </dgm:pt>
    <dgm:pt modelId="{D053F205-F22F-403F-9A02-FD364C046636}" type="parTrans" cxnId="{57FF927A-3BFA-422D-8DAC-48845CB75845}">
      <dgm:prSet/>
      <dgm:spPr/>
      <dgm:t>
        <a:bodyPr/>
        <a:lstStyle/>
        <a:p>
          <a:endParaRPr lang="da-DK"/>
        </a:p>
      </dgm:t>
    </dgm:pt>
    <dgm:pt modelId="{75B8F702-9D65-4945-AB1B-FCD72A52DA6C}" type="sibTrans" cxnId="{57FF927A-3BFA-422D-8DAC-48845CB75845}">
      <dgm:prSet/>
      <dgm:spPr/>
      <dgm:t>
        <a:bodyPr/>
        <a:lstStyle/>
        <a:p>
          <a:endParaRPr lang="da-DK"/>
        </a:p>
      </dgm:t>
    </dgm:pt>
    <dgm:pt modelId="{463EBCB5-8D9A-4D4F-8274-535E15918D15}" type="pres">
      <dgm:prSet presAssocID="{131BD664-1537-4D87-81E2-26C474427EBB}" presName="Name0" presStyleCnt="0">
        <dgm:presLayoutVars>
          <dgm:dir/>
          <dgm:animLvl val="lvl"/>
          <dgm:resizeHandles val="exact"/>
        </dgm:presLayoutVars>
      </dgm:prSet>
      <dgm:spPr/>
    </dgm:pt>
    <dgm:pt modelId="{10C58019-8F8B-44B6-B17C-0CD27120AADB}" type="pres">
      <dgm:prSet presAssocID="{131BD664-1537-4D87-81E2-26C474427EBB}" presName="tSp" presStyleCnt="0"/>
      <dgm:spPr/>
    </dgm:pt>
    <dgm:pt modelId="{C5650B08-5AF0-4F11-9468-045164611A30}" type="pres">
      <dgm:prSet presAssocID="{131BD664-1537-4D87-81E2-26C474427EBB}" presName="bSp" presStyleCnt="0"/>
      <dgm:spPr/>
    </dgm:pt>
    <dgm:pt modelId="{0AD55EAA-6471-4B54-B936-B58FBBD90DFF}" type="pres">
      <dgm:prSet presAssocID="{131BD664-1537-4D87-81E2-26C474427EBB}" presName="process" presStyleCnt="0"/>
      <dgm:spPr/>
    </dgm:pt>
    <dgm:pt modelId="{6317A16A-540D-4F68-805F-376A1AE30DB7}" type="pres">
      <dgm:prSet presAssocID="{BFC142A9-6837-4936-9B46-62EEE0A774FA}" presName="composite1" presStyleCnt="0"/>
      <dgm:spPr/>
    </dgm:pt>
    <dgm:pt modelId="{4F46E69E-644B-4D85-B2F7-6BAA1091DB63}" type="pres">
      <dgm:prSet presAssocID="{BFC142A9-6837-4936-9B46-62EEE0A774FA}" presName="dummyNode1" presStyleLbl="node1" presStyleIdx="0" presStyleCnt="3"/>
      <dgm:spPr/>
    </dgm:pt>
    <dgm:pt modelId="{A7EBC9C8-B9E9-4912-B03B-4DC71785B811}" type="pres">
      <dgm:prSet presAssocID="{BFC142A9-6837-4936-9B46-62EEE0A774FA}" presName="childNode1" presStyleLbl="bgAcc1" presStyleIdx="0" presStyleCnt="3" custScaleX="174187" custScaleY="101659">
        <dgm:presLayoutVars>
          <dgm:bulletEnabled val="1"/>
        </dgm:presLayoutVars>
      </dgm:prSet>
      <dgm:spPr/>
    </dgm:pt>
    <dgm:pt modelId="{C6E27CCA-4247-4EC2-BE28-99BD72D15980}" type="pres">
      <dgm:prSet presAssocID="{BFC142A9-6837-4936-9B46-62EEE0A774FA}" presName="childNode1tx" presStyleLbl="bgAcc1" presStyleIdx="0" presStyleCnt="3">
        <dgm:presLayoutVars>
          <dgm:bulletEnabled val="1"/>
        </dgm:presLayoutVars>
      </dgm:prSet>
      <dgm:spPr/>
    </dgm:pt>
    <dgm:pt modelId="{8A2138E0-1D48-4FB9-B430-C808D59D0876}" type="pres">
      <dgm:prSet presAssocID="{BFC142A9-6837-4936-9B46-62EEE0A774FA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0DCAC6A7-EA15-45F3-88C7-33A988699F23}" type="pres">
      <dgm:prSet presAssocID="{BFC142A9-6837-4936-9B46-62EEE0A774FA}" presName="connSite1" presStyleCnt="0"/>
      <dgm:spPr/>
    </dgm:pt>
    <dgm:pt modelId="{AA0A565E-FD08-43D3-9E56-3CD5C648E0C0}" type="pres">
      <dgm:prSet presAssocID="{3A643F2F-7B77-4FFB-B03D-EADBD8D90A8C}" presName="Name9" presStyleLbl="sibTrans2D1" presStyleIdx="0" presStyleCnt="2" custLinFactNeighborY="-3159"/>
      <dgm:spPr/>
    </dgm:pt>
    <dgm:pt modelId="{066583BE-C58D-443A-93ED-152275F5D52B}" type="pres">
      <dgm:prSet presAssocID="{2EC7D572-33E4-45CA-8953-30FA4E333E3F}" presName="composite2" presStyleCnt="0"/>
      <dgm:spPr/>
    </dgm:pt>
    <dgm:pt modelId="{72EAA536-D314-4CBF-8026-05BE9CAA8F65}" type="pres">
      <dgm:prSet presAssocID="{2EC7D572-33E4-45CA-8953-30FA4E333E3F}" presName="dummyNode2" presStyleLbl="node1" presStyleIdx="0" presStyleCnt="3"/>
      <dgm:spPr/>
    </dgm:pt>
    <dgm:pt modelId="{1B437B97-39F5-41DB-8C59-D4CC61EE4B39}" type="pres">
      <dgm:prSet presAssocID="{2EC7D572-33E4-45CA-8953-30FA4E333E3F}" presName="childNode2" presStyleLbl="bgAcc1" presStyleIdx="1" presStyleCnt="3" custScaleX="152219" custLinFactNeighborY="-2163">
        <dgm:presLayoutVars>
          <dgm:bulletEnabled val="1"/>
        </dgm:presLayoutVars>
      </dgm:prSet>
      <dgm:spPr/>
    </dgm:pt>
    <dgm:pt modelId="{9077EA52-6FDA-4250-8900-E76CB38E4171}" type="pres">
      <dgm:prSet presAssocID="{2EC7D572-33E4-45CA-8953-30FA4E333E3F}" presName="childNode2tx" presStyleLbl="bgAcc1" presStyleIdx="1" presStyleCnt="3">
        <dgm:presLayoutVars>
          <dgm:bulletEnabled val="1"/>
        </dgm:presLayoutVars>
      </dgm:prSet>
      <dgm:spPr/>
    </dgm:pt>
    <dgm:pt modelId="{DA36AF22-8AD1-47AC-BC0D-0D28311F42A9}" type="pres">
      <dgm:prSet presAssocID="{2EC7D572-33E4-45CA-8953-30FA4E333E3F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5BB7B6D0-AB9C-46BB-B216-16C26390E521}" type="pres">
      <dgm:prSet presAssocID="{2EC7D572-33E4-45CA-8953-30FA4E333E3F}" presName="connSite2" presStyleCnt="0"/>
      <dgm:spPr/>
    </dgm:pt>
    <dgm:pt modelId="{C3328385-D764-46F7-A5C0-9B0665F8F6DE}" type="pres">
      <dgm:prSet presAssocID="{C52E7C5D-48E1-4F17-8831-2DB208E6A443}" presName="Name18" presStyleLbl="sibTrans2D1" presStyleIdx="1" presStyleCnt="2" custLinFactNeighborY="6656"/>
      <dgm:spPr/>
    </dgm:pt>
    <dgm:pt modelId="{BDA7A88F-2570-4685-BE78-E776EE883410}" type="pres">
      <dgm:prSet presAssocID="{F2947EA2-5875-42CF-9252-49A83F59B861}" presName="composite1" presStyleCnt="0"/>
      <dgm:spPr/>
    </dgm:pt>
    <dgm:pt modelId="{9643D934-D663-4B51-A16E-C3821540E905}" type="pres">
      <dgm:prSet presAssocID="{F2947EA2-5875-42CF-9252-49A83F59B861}" presName="dummyNode1" presStyleLbl="node1" presStyleIdx="1" presStyleCnt="3"/>
      <dgm:spPr/>
    </dgm:pt>
    <dgm:pt modelId="{D541E5EB-6A79-413A-9013-8BD6421FC3B5}" type="pres">
      <dgm:prSet presAssocID="{F2947EA2-5875-42CF-9252-49A83F59B861}" presName="childNode1" presStyleLbl="bgAcc1" presStyleIdx="2" presStyleCnt="3">
        <dgm:presLayoutVars>
          <dgm:bulletEnabled val="1"/>
        </dgm:presLayoutVars>
      </dgm:prSet>
      <dgm:spPr/>
    </dgm:pt>
    <dgm:pt modelId="{5C00393B-F5E1-4334-A992-038AF7585D32}" type="pres">
      <dgm:prSet presAssocID="{F2947EA2-5875-42CF-9252-49A83F59B861}" presName="childNode1tx" presStyleLbl="bgAcc1" presStyleIdx="2" presStyleCnt="3">
        <dgm:presLayoutVars>
          <dgm:bulletEnabled val="1"/>
        </dgm:presLayoutVars>
      </dgm:prSet>
      <dgm:spPr/>
    </dgm:pt>
    <dgm:pt modelId="{C28D08C2-0084-4AF8-BDDF-4BFABD363AC7}" type="pres">
      <dgm:prSet presAssocID="{F2947EA2-5875-42CF-9252-49A83F59B861}" presName="parentNode1" presStyleLbl="node1" presStyleIdx="2" presStyleCnt="3" custScaleX="133143" custLinFactNeighborX="-1843" custLinFactNeighborY="1896">
        <dgm:presLayoutVars>
          <dgm:chMax val="1"/>
          <dgm:bulletEnabled val="1"/>
        </dgm:presLayoutVars>
      </dgm:prSet>
      <dgm:spPr/>
    </dgm:pt>
    <dgm:pt modelId="{DC5717FD-BB3B-47A7-89D9-ACA4A1F5AF35}" type="pres">
      <dgm:prSet presAssocID="{F2947EA2-5875-42CF-9252-49A83F59B861}" presName="connSite1" presStyleCnt="0"/>
      <dgm:spPr/>
    </dgm:pt>
  </dgm:ptLst>
  <dgm:cxnLst>
    <dgm:cxn modelId="{5EC2CA00-0E34-46E9-AE89-5E5EF74A6E5B}" type="presOf" srcId="{131BD664-1537-4D87-81E2-26C474427EBB}" destId="{463EBCB5-8D9A-4D4F-8274-535E15918D15}" srcOrd="0" destOrd="0" presId="urn:microsoft.com/office/officeart/2005/8/layout/hProcess4"/>
    <dgm:cxn modelId="{31B2A007-25FE-44EF-A2FA-E90B72BBAC8E}" srcId="{BFC142A9-6837-4936-9B46-62EEE0A774FA}" destId="{F7D59AC7-80D5-48C2-9972-7F426A9C569A}" srcOrd="0" destOrd="0" parTransId="{3D42EF3C-442C-4BCE-BA27-75AC956517C5}" sibTransId="{03573DBC-BACD-4582-B981-232D287E8907}"/>
    <dgm:cxn modelId="{56B92F14-BFD3-4D65-A524-F1284DA796BC}" type="presOf" srcId="{25CA411C-2E93-4C83-A50B-9DBC552BF587}" destId="{1B437B97-39F5-41DB-8C59-D4CC61EE4B39}" srcOrd="0" destOrd="0" presId="urn:microsoft.com/office/officeart/2005/8/layout/hProcess4"/>
    <dgm:cxn modelId="{A763BE18-E0EA-4EE0-A47A-E941B1BC601C}" type="presOf" srcId="{F7D59AC7-80D5-48C2-9972-7F426A9C569A}" destId="{A7EBC9C8-B9E9-4912-B03B-4DC71785B811}" srcOrd="0" destOrd="0" presId="urn:microsoft.com/office/officeart/2005/8/layout/hProcess4"/>
    <dgm:cxn modelId="{6BF6641F-644D-4A42-9CF7-E1D97D35415E}" srcId="{131BD664-1537-4D87-81E2-26C474427EBB}" destId="{F2947EA2-5875-42CF-9252-49A83F59B861}" srcOrd="2" destOrd="0" parTransId="{FE6F61D9-3E68-442E-9D3A-BD3CBA68FCFC}" sibTransId="{3DC8E8A9-A2F0-4E2C-9CB4-D2597E9FA5F5}"/>
    <dgm:cxn modelId="{83048128-597A-4263-9261-0C23FD7F91FF}" type="presOf" srcId="{429DCC58-410B-47FC-BFC1-98D307F55061}" destId="{C6E27CCA-4247-4EC2-BE28-99BD72D15980}" srcOrd="1" destOrd="1" presId="urn:microsoft.com/office/officeart/2005/8/layout/hProcess4"/>
    <dgm:cxn modelId="{BB4A474A-FA60-4CBD-BDED-1FB686973001}" type="presOf" srcId="{998E815B-8176-46A7-8060-01FBB9B26E25}" destId="{C6E27CCA-4247-4EC2-BE28-99BD72D15980}" srcOrd="1" destOrd="2" presId="urn:microsoft.com/office/officeart/2005/8/layout/hProcess4"/>
    <dgm:cxn modelId="{755D2161-51C2-4F21-B686-278684D5296E}" type="presOf" srcId="{F7D59AC7-80D5-48C2-9972-7F426A9C569A}" destId="{C6E27CCA-4247-4EC2-BE28-99BD72D15980}" srcOrd="1" destOrd="0" presId="urn:microsoft.com/office/officeart/2005/8/layout/hProcess4"/>
    <dgm:cxn modelId="{8935346E-16C0-4D20-9045-BD0E0A2321F7}" type="presOf" srcId="{A1A808E6-C2A5-4598-97E2-971198083788}" destId="{5C00393B-F5E1-4334-A992-038AF7585D32}" srcOrd="1" destOrd="0" presId="urn:microsoft.com/office/officeart/2005/8/layout/hProcess4"/>
    <dgm:cxn modelId="{08695274-0B2D-47A3-B551-7BD736E87C1F}" type="presOf" srcId="{429DCC58-410B-47FC-BFC1-98D307F55061}" destId="{A7EBC9C8-B9E9-4912-B03B-4DC71785B811}" srcOrd="0" destOrd="1" presId="urn:microsoft.com/office/officeart/2005/8/layout/hProcess4"/>
    <dgm:cxn modelId="{E4330C78-01BD-4004-BEAC-68DB408E311A}" type="presOf" srcId="{A1A808E6-C2A5-4598-97E2-971198083788}" destId="{D541E5EB-6A79-413A-9013-8BD6421FC3B5}" srcOrd="0" destOrd="0" presId="urn:microsoft.com/office/officeart/2005/8/layout/hProcess4"/>
    <dgm:cxn modelId="{57FF927A-3BFA-422D-8DAC-48845CB75845}" srcId="{F2947EA2-5875-42CF-9252-49A83F59B861}" destId="{A1A808E6-C2A5-4598-97E2-971198083788}" srcOrd="0" destOrd="0" parTransId="{D053F205-F22F-403F-9A02-FD364C046636}" sibTransId="{75B8F702-9D65-4945-AB1B-FCD72A52DA6C}"/>
    <dgm:cxn modelId="{3A7F267B-AA05-469A-A2AB-BC456F0D848F}" type="presOf" srcId="{2EC7D572-33E4-45CA-8953-30FA4E333E3F}" destId="{DA36AF22-8AD1-47AC-BC0D-0D28311F42A9}" srcOrd="0" destOrd="0" presId="urn:microsoft.com/office/officeart/2005/8/layout/hProcess4"/>
    <dgm:cxn modelId="{E851A589-49AF-48DC-BD0D-4C7ECA2D7EFC}" srcId="{131BD664-1537-4D87-81E2-26C474427EBB}" destId="{BFC142A9-6837-4936-9B46-62EEE0A774FA}" srcOrd="0" destOrd="0" parTransId="{934B8292-98B4-4C46-9529-E9670A0B55A4}" sibTransId="{3A643F2F-7B77-4FFB-B03D-EADBD8D90A8C}"/>
    <dgm:cxn modelId="{C83A7396-A614-46EE-921C-F493930491A3}" type="presOf" srcId="{998E815B-8176-46A7-8060-01FBB9B26E25}" destId="{A7EBC9C8-B9E9-4912-B03B-4DC71785B811}" srcOrd="0" destOrd="2" presId="urn:microsoft.com/office/officeart/2005/8/layout/hProcess4"/>
    <dgm:cxn modelId="{4DA98097-D937-466A-98D4-D9E45722A2C7}" type="presOf" srcId="{25CA411C-2E93-4C83-A50B-9DBC552BF587}" destId="{9077EA52-6FDA-4250-8900-E76CB38E4171}" srcOrd="1" destOrd="0" presId="urn:microsoft.com/office/officeart/2005/8/layout/hProcess4"/>
    <dgm:cxn modelId="{B7CED5AA-5168-4DD0-9393-1AE7A9ABB1D0}" srcId="{131BD664-1537-4D87-81E2-26C474427EBB}" destId="{2EC7D572-33E4-45CA-8953-30FA4E333E3F}" srcOrd="1" destOrd="0" parTransId="{E9FF5A67-8D97-4A8F-9F4D-9CFAE7A0E417}" sibTransId="{C52E7C5D-48E1-4F17-8831-2DB208E6A443}"/>
    <dgm:cxn modelId="{06E93EB4-E0E1-4593-9CF2-30F15D2ACD32}" type="presOf" srcId="{BFC142A9-6837-4936-9B46-62EEE0A774FA}" destId="{8A2138E0-1D48-4FB9-B430-C808D59D0876}" srcOrd="0" destOrd="0" presId="urn:microsoft.com/office/officeart/2005/8/layout/hProcess4"/>
    <dgm:cxn modelId="{B11DDCC1-3A5C-4B43-9E61-9D30CB9D5095}" type="presOf" srcId="{C52E7C5D-48E1-4F17-8831-2DB208E6A443}" destId="{C3328385-D764-46F7-A5C0-9B0665F8F6DE}" srcOrd="0" destOrd="0" presId="urn:microsoft.com/office/officeart/2005/8/layout/hProcess4"/>
    <dgm:cxn modelId="{599078DE-DEA6-450E-B452-AEAC7DDF9933}" type="presOf" srcId="{F2947EA2-5875-42CF-9252-49A83F59B861}" destId="{C28D08C2-0084-4AF8-BDDF-4BFABD363AC7}" srcOrd="0" destOrd="0" presId="urn:microsoft.com/office/officeart/2005/8/layout/hProcess4"/>
    <dgm:cxn modelId="{22839CE1-762F-4691-97EB-BEEA21B161B4}" srcId="{BFC142A9-6837-4936-9B46-62EEE0A774FA}" destId="{429DCC58-410B-47FC-BFC1-98D307F55061}" srcOrd="1" destOrd="0" parTransId="{29C0D125-BC72-43B0-B291-5BCDA1C4F209}" sibTransId="{3DF854A5-345D-46DC-8E94-74FD2EC36243}"/>
    <dgm:cxn modelId="{4B7E2FE9-B435-41B6-B44E-499E51E88726}" srcId="{BFC142A9-6837-4936-9B46-62EEE0A774FA}" destId="{998E815B-8176-46A7-8060-01FBB9B26E25}" srcOrd="2" destOrd="0" parTransId="{9522F57F-CF36-4FDA-BD14-CE3F73B2B87B}" sibTransId="{29A42AE1-DA26-497D-8CC1-C532DC182BDB}"/>
    <dgm:cxn modelId="{B06500EC-8105-43C3-9F07-DBC2E3D77F3D}" type="presOf" srcId="{3A643F2F-7B77-4FFB-B03D-EADBD8D90A8C}" destId="{AA0A565E-FD08-43D3-9E56-3CD5C648E0C0}" srcOrd="0" destOrd="0" presId="urn:microsoft.com/office/officeart/2005/8/layout/hProcess4"/>
    <dgm:cxn modelId="{DCC691FA-F362-409E-A3A5-CE84CE552E0E}" srcId="{2EC7D572-33E4-45CA-8953-30FA4E333E3F}" destId="{25CA411C-2E93-4C83-A50B-9DBC552BF587}" srcOrd="0" destOrd="0" parTransId="{331FC500-CEA4-4229-9C39-B8B8D18DF9D8}" sibTransId="{3648EC93-48A8-4F1F-A800-9BC745E61FAF}"/>
    <dgm:cxn modelId="{A13F7AA6-B462-4608-B966-4E41177DDC75}" type="presParOf" srcId="{463EBCB5-8D9A-4D4F-8274-535E15918D15}" destId="{10C58019-8F8B-44B6-B17C-0CD27120AADB}" srcOrd="0" destOrd="0" presId="urn:microsoft.com/office/officeart/2005/8/layout/hProcess4"/>
    <dgm:cxn modelId="{B71982E1-081E-4BF3-9425-368359D19661}" type="presParOf" srcId="{463EBCB5-8D9A-4D4F-8274-535E15918D15}" destId="{C5650B08-5AF0-4F11-9468-045164611A30}" srcOrd="1" destOrd="0" presId="urn:microsoft.com/office/officeart/2005/8/layout/hProcess4"/>
    <dgm:cxn modelId="{4CFBDCBC-51FD-4A3D-8D1C-BE3BE3B60826}" type="presParOf" srcId="{463EBCB5-8D9A-4D4F-8274-535E15918D15}" destId="{0AD55EAA-6471-4B54-B936-B58FBBD90DFF}" srcOrd="2" destOrd="0" presId="urn:microsoft.com/office/officeart/2005/8/layout/hProcess4"/>
    <dgm:cxn modelId="{87D06637-6FCF-4C80-AFC5-B9C156AC0260}" type="presParOf" srcId="{0AD55EAA-6471-4B54-B936-B58FBBD90DFF}" destId="{6317A16A-540D-4F68-805F-376A1AE30DB7}" srcOrd="0" destOrd="0" presId="urn:microsoft.com/office/officeart/2005/8/layout/hProcess4"/>
    <dgm:cxn modelId="{8331151B-E84A-4510-BA84-D0E27E97B3ED}" type="presParOf" srcId="{6317A16A-540D-4F68-805F-376A1AE30DB7}" destId="{4F46E69E-644B-4D85-B2F7-6BAA1091DB63}" srcOrd="0" destOrd="0" presId="urn:microsoft.com/office/officeart/2005/8/layout/hProcess4"/>
    <dgm:cxn modelId="{E246E19F-7882-4D7F-A477-BBEABB7BEF69}" type="presParOf" srcId="{6317A16A-540D-4F68-805F-376A1AE30DB7}" destId="{A7EBC9C8-B9E9-4912-B03B-4DC71785B811}" srcOrd="1" destOrd="0" presId="urn:microsoft.com/office/officeart/2005/8/layout/hProcess4"/>
    <dgm:cxn modelId="{27FA47E4-E033-492D-840A-C63BFFBC5C5F}" type="presParOf" srcId="{6317A16A-540D-4F68-805F-376A1AE30DB7}" destId="{C6E27CCA-4247-4EC2-BE28-99BD72D15980}" srcOrd="2" destOrd="0" presId="urn:microsoft.com/office/officeart/2005/8/layout/hProcess4"/>
    <dgm:cxn modelId="{51D8EA9D-873C-4738-8C1E-A0CC07F1E0CF}" type="presParOf" srcId="{6317A16A-540D-4F68-805F-376A1AE30DB7}" destId="{8A2138E0-1D48-4FB9-B430-C808D59D0876}" srcOrd="3" destOrd="0" presId="urn:microsoft.com/office/officeart/2005/8/layout/hProcess4"/>
    <dgm:cxn modelId="{B2B5513C-BBCF-4806-9C8D-B20925917002}" type="presParOf" srcId="{6317A16A-540D-4F68-805F-376A1AE30DB7}" destId="{0DCAC6A7-EA15-45F3-88C7-33A988699F23}" srcOrd="4" destOrd="0" presId="urn:microsoft.com/office/officeart/2005/8/layout/hProcess4"/>
    <dgm:cxn modelId="{9A656C1E-86B7-4D57-B70A-CAACB2B362A3}" type="presParOf" srcId="{0AD55EAA-6471-4B54-B936-B58FBBD90DFF}" destId="{AA0A565E-FD08-43D3-9E56-3CD5C648E0C0}" srcOrd="1" destOrd="0" presId="urn:microsoft.com/office/officeart/2005/8/layout/hProcess4"/>
    <dgm:cxn modelId="{A7B7B33A-CA42-490C-8869-7B65D38D25E4}" type="presParOf" srcId="{0AD55EAA-6471-4B54-B936-B58FBBD90DFF}" destId="{066583BE-C58D-443A-93ED-152275F5D52B}" srcOrd="2" destOrd="0" presId="urn:microsoft.com/office/officeart/2005/8/layout/hProcess4"/>
    <dgm:cxn modelId="{00425E3C-CF07-45B7-8A27-85673F8E17D0}" type="presParOf" srcId="{066583BE-C58D-443A-93ED-152275F5D52B}" destId="{72EAA536-D314-4CBF-8026-05BE9CAA8F65}" srcOrd="0" destOrd="0" presId="urn:microsoft.com/office/officeart/2005/8/layout/hProcess4"/>
    <dgm:cxn modelId="{B8DBCE04-9A23-4D8E-B646-F988F8CC122D}" type="presParOf" srcId="{066583BE-C58D-443A-93ED-152275F5D52B}" destId="{1B437B97-39F5-41DB-8C59-D4CC61EE4B39}" srcOrd="1" destOrd="0" presId="urn:microsoft.com/office/officeart/2005/8/layout/hProcess4"/>
    <dgm:cxn modelId="{74B88828-8126-4BDD-B492-BD6323990033}" type="presParOf" srcId="{066583BE-C58D-443A-93ED-152275F5D52B}" destId="{9077EA52-6FDA-4250-8900-E76CB38E4171}" srcOrd="2" destOrd="0" presId="urn:microsoft.com/office/officeart/2005/8/layout/hProcess4"/>
    <dgm:cxn modelId="{69F64FC3-06B3-4EC5-B006-F9B92FFCC52D}" type="presParOf" srcId="{066583BE-C58D-443A-93ED-152275F5D52B}" destId="{DA36AF22-8AD1-47AC-BC0D-0D28311F42A9}" srcOrd="3" destOrd="0" presId="urn:microsoft.com/office/officeart/2005/8/layout/hProcess4"/>
    <dgm:cxn modelId="{B5E2EAA7-BEB3-46CB-AEF4-97CA27C5E184}" type="presParOf" srcId="{066583BE-C58D-443A-93ED-152275F5D52B}" destId="{5BB7B6D0-AB9C-46BB-B216-16C26390E521}" srcOrd="4" destOrd="0" presId="urn:microsoft.com/office/officeart/2005/8/layout/hProcess4"/>
    <dgm:cxn modelId="{89B8D3B0-E66F-4ACA-9BC7-12FFD7C62D0A}" type="presParOf" srcId="{0AD55EAA-6471-4B54-B936-B58FBBD90DFF}" destId="{C3328385-D764-46F7-A5C0-9B0665F8F6DE}" srcOrd="3" destOrd="0" presId="urn:microsoft.com/office/officeart/2005/8/layout/hProcess4"/>
    <dgm:cxn modelId="{5F2C3656-8DCF-4BB2-837A-BF3EEF8C6A54}" type="presParOf" srcId="{0AD55EAA-6471-4B54-B936-B58FBBD90DFF}" destId="{BDA7A88F-2570-4685-BE78-E776EE883410}" srcOrd="4" destOrd="0" presId="urn:microsoft.com/office/officeart/2005/8/layout/hProcess4"/>
    <dgm:cxn modelId="{B14AC3AF-ACA4-4B8C-A6C0-6DF24C984054}" type="presParOf" srcId="{BDA7A88F-2570-4685-BE78-E776EE883410}" destId="{9643D934-D663-4B51-A16E-C3821540E905}" srcOrd="0" destOrd="0" presId="urn:microsoft.com/office/officeart/2005/8/layout/hProcess4"/>
    <dgm:cxn modelId="{22C4B901-949B-49F8-8E23-C17E68F2E28A}" type="presParOf" srcId="{BDA7A88F-2570-4685-BE78-E776EE883410}" destId="{D541E5EB-6A79-413A-9013-8BD6421FC3B5}" srcOrd="1" destOrd="0" presId="urn:microsoft.com/office/officeart/2005/8/layout/hProcess4"/>
    <dgm:cxn modelId="{EA67AB8D-3597-492D-B0BC-FB83C3E60F75}" type="presParOf" srcId="{BDA7A88F-2570-4685-BE78-E776EE883410}" destId="{5C00393B-F5E1-4334-A992-038AF7585D32}" srcOrd="2" destOrd="0" presId="urn:microsoft.com/office/officeart/2005/8/layout/hProcess4"/>
    <dgm:cxn modelId="{5D9B00AC-E4BD-4171-9FFB-F7E8D1BABBBF}" type="presParOf" srcId="{BDA7A88F-2570-4685-BE78-E776EE883410}" destId="{C28D08C2-0084-4AF8-BDDF-4BFABD363AC7}" srcOrd="3" destOrd="0" presId="urn:microsoft.com/office/officeart/2005/8/layout/hProcess4"/>
    <dgm:cxn modelId="{72E6EFDE-5963-4442-AFFA-38959045DFFD}" type="presParOf" srcId="{BDA7A88F-2570-4685-BE78-E776EE883410}" destId="{DC5717FD-BB3B-47A7-89D9-ACA4A1F5AF35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6BE6CB9-110F-457B-8FF0-CDA87A5522B9}" type="doc">
      <dgm:prSet loTypeId="urn:microsoft.com/office/officeart/2005/8/layout/process3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da-DK"/>
        </a:p>
      </dgm:t>
    </dgm:pt>
    <dgm:pt modelId="{1541612F-15BF-4D75-BDF4-10D809A503DA}">
      <dgm:prSet phldrT="[Tekst]" custT="1"/>
      <dgm:spPr/>
      <dgm:t>
        <a:bodyPr/>
        <a:lstStyle/>
        <a:p>
          <a:r>
            <a:rPr lang="da-DK" sz="1400" dirty="0"/>
            <a:t>August</a:t>
          </a:r>
        </a:p>
      </dgm:t>
    </dgm:pt>
    <dgm:pt modelId="{D34A5C9F-F3B3-4904-ADDD-6B51F2FA8802}" type="parTrans" cxnId="{E5F27863-3B27-4450-8CA4-36F1C1CE0F8A}">
      <dgm:prSet/>
      <dgm:spPr/>
      <dgm:t>
        <a:bodyPr/>
        <a:lstStyle/>
        <a:p>
          <a:endParaRPr lang="da-DK" sz="2000"/>
        </a:p>
      </dgm:t>
    </dgm:pt>
    <dgm:pt modelId="{2CABDA7C-01C3-4269-BA56-561EE5FAF02A}" type="sibTrans" cxnId="{E5F27863-3B27-4450-8CA4-36F1C1CE0F8A}">
      <dgm:prSet custT="1"/>
      <dgm:spPr/>
      <dgm:t>
        <a:bodyPr/>
        <a:lstStyle/>
        <a:p>
          <a:endParaRPr lang="da-DK" sz="1050"/>
        </a:p>
      </dgm:t>
    </dgm:pt>
    <dgm:pt modelId="{0DAA280E-98D8-45DA-A305-CCBF21849958}">
      <dgm:prSet phldrT="[Tekst]" custT="1"/>
      <dgm:spPr/>
      <dgm:t>
        <a:bodyPr/>
        <a:lstStyle/>
        <a:p>
          <a:r>
            <a:rPr lang="da-DK" sz="1400" dirty="0"/>
            <a:t>Præsentation af metode til vurdering og prioritering</a:t>
          </a:r>
        </a:p>
      </dgm:t>
    </dgm:pt>
    <dgm:pt modelId="{29A43890-AE03-4F98-A750-446EE076AD85}" type="parTrans" cxnId="{8D9DAB63-165D-4178-AF3C-CFAB98473B71}">
      <dgm:prSet/>
      <dgm:spPr/>
      <dgm:t>
        <a:bodyPr/>
        <a:lstStyle/>
        <a:p>
          <a:endParaRPr lang="da-DK" sz="2000"/>
        </a:p>
      </dgm:t>
    </dgm:pt>
    <dgm:pt modelId="{3DA78FBB-ABD1-4DDC-A966-65E376B10B06}" type="sibTrans" cxnId="{8D9DAB63-165D-4178-AF3C-CFAB98473B71}">
      <dgm:prSet/>
      <dgm:spPr/>
      <dgm:t>
        <a:bodyPr/>
        <a:lstStyle/>
        <a:p>
          <a:endParaRPr lang="da-DK" sz="2000"/>
        </a:p>
      </dgm:t>
    </dgm:pt>
    <dgm:pt modelId="{AE8BC0AF-023C-47A6-AC73-D53A8744E161}">
      <dgm:prSet phldrT="[Tekst]" custT="1"/>
      <dgm:spPr/>
      <dgm:t>
        <a:bodyPr/>
        <a:lstStyle/>
        <a:p>
          <a:r>
            <a:rPr lang="da-DK" sz="1400" dirty="0"/>
            <a:t>September/Oktober</a:t>
          </a:r>
        </a:p>
      </dgm:t>
    </dgm:pt>
    <dgm:pt modelId="{1366C0A2-4049-49C7-A92B-BED971E38468}" type="parTrans" cxnId="{9E3792FF-D846-4DD3-846B-181BA9F7B384}">
      <dgm:prSet/>
      <dgm:spPr/>
      <dgm:t>
        <a:bodyPr/>
        <a:lstStyle/>
        <a:p>
          <a:endParaRPr lang="da-DK" sz="2000"/>
        </a:p>
      </dgm:t>
    </dgm:pt>
    <dgm:pt modelId="{3CFE7C5D-4672-4C83-A35E-B526160973CD}" type="sibTrans" cxnId="{9E3792FF-D846-4DD3-846B-181BA9F7B384}">
      <dgm:prSet custT="1"/>
      <dgm:spPr/>
      <dgm:t>
        <a:bodyPr/>
        <a:lstStyle/>
        <a:p>
          <a:endParaRPr lang="da-DK" sz="1050"/>
        </a:p>
      </dgm:t>
    </dgm:pt>
    <dgm:pt modelId="{082D771F-B485-463A-8CDB-234CF9B8A3A3}">
      <dgm:prSet phldrT="[Tekst]" custT="1"/>
      <dgm:spPr/>
      <dgm:t>
        <a:bodyPr/>
        <a:lstStyle/>
        <a:p>
          <a:r>
            <a:rPr lang="da-DK" sz="1400" dirty="0"/>
            <a:t>Sparring med platformsteamet og Daniel </a:t>
          </a:r>
        </a:p>
      </dgm:t>
    </dgm:pt>
    <dgm:pt modelId="{F6D189D6-80B3-4CCB-A13A-35984A1C8C38}" type="parTrans" cxnId="{951D2ED4-23E3-49CE-B2E7-2D75483CC5EA}">
      <dgm:prSet/>
      <dgm:spPr/>
      <dgm:t>
        <a:bodyPr/>
        <a:lstStyle/>
        <a:p>
          <a:endParaRPr lang="da-DK" sz="2000"/>
        </a:p>
      </dgm:t>
    </dgm:pt>
    <dgm:pt modelId="{C65A291C-3298-4165-B8D0-9B493054CD97}" type="sibTrans" cxnId="{951D2ED4-23E3-49CE-B2E7-2D75483CC5EA}">
      <dgm:prSet/>
      <dgm:spPr/>
      <dgm:t>
        <a:bodyPr/>
        <a:lstStyle/>
        <a:p>
          <a:endParaRPr lang="da-DK" sz="2000"/>
        </a:p>
      </dgm:t>
    </dgm:pt>
    <dgm:pt modelId="{21678C27-3997-486B-B706-D3A0987AF666}">
      <dgm:prSet phldrT="[Tekst]" custT="1"/>
      <dgm:spPr/>
      <dgm:t>
        <a:bodyPr/>
        <a:lstStyle/>
        <a:p>
          <a:r>
            <a:rPr lang="da-DK" sz="1400" dirty="0"/>
            <a:t>November</a:t>
          </a:r>
        </a:p>
      </dgm:t>
    </dgm:pt>
    <dgm:pt modelId="{AD238434-F6D0-4D47-920C-3C31355BB36E}" type="parTrans" cxnId="{B7777D90-38F5-4552-86D6-AF893690B3AE}">
      <dgm:prSet/>
      <dgm:spPr/>
      <dgm:t>
        <a:bodyPr/>
        <a:lstStyle/>
        <a:p>
          <a:endParaRPr lang="da-DK" sz="2000"/>
        </a:p>
      </dgm:t>
    </dgm:pt>
    <dgm:pt modelId="{8373F4D4-9EC2-4900-AD2A-240F94AB2797}" type="sibTrans" cxnId="{B7777D90-38F5-4552-86D6-AF893690B3AE}">
      <dgm:prSet custT="1"/>
      <dgm:spPr/>
      <dgm:t>
        <a:bodyPr/>
        <a:lstStyle/>
        <a:p>
          <a:endParaRPr lang="da-DK" sz="1050"/>
        </a:p>
      </dgm:t>
    </dgm:pt>
    <dgm:pt modelId="{6EC78572-4D31-4AC0-A6CD-78ADBFDD2FC1}">
      <dgm:prSet phldrT="[Tekst]" custT="1"/>
      <dgm:spPr/>
      <dgm:t>
        <a:bodyPr/>
        <a:lstStyle/>
        <a:p>
          <a:r>
            <a:rPr lang="da-DK" sz="1400" dirty="0"/>
            <a:t>ID ser på samlet plan for containerisering</a:t>
          </a:r>
        </a:p>
      </dgm:t>
    </dgm:pt>
    <dgm:pt modelId="{1C9B3B71-B344-4FB2-82A8-E7F21E0BFAE5}" type="parTrans" cxnId="{1A7D539D-6724-4A67-8499-AA4025488BAA}">
      <dgm:prSet/>
      <dgm:spPr/>
      <dgm:t>
        <a:bodyPr/>
        <a:lstStyle/>
        <a:p>
          <a:endParaRPr lang="da-DK" sz="2000"/>
        </a:p>
      </dgm:t>
    </dgm:pt>
    <dgm:pt modelId="{E4733753-7F23-47DD-860A-8DDC46018770}" type="sibTrans" cxnId="{1A7D539D-6724-4A67-8499-AA4025488BAA}">
      <dgm:prSet/>
      <dgm:spPr/>
      <dgm:t>
        <a:bodyPr/>
        <a:lstStyle/>
        <a:p>
          <a:endParaRPr lang="da-DK" sz="2000"/>
        </a:p>
      </dgm:t>
    </dgm:pt>
    <dgm:pt modelId="{4841F295-F18C-4089-B881-990C44741080}">
      <dgm:prSet phldrT="[Tekst]" custT="1"/>
      <dgm:spPr/>
      <dgm:t>
        <a:bodyPr/>
        <a:lstStyle/>
        <a:p>
          <a:r>
            <a:rPr lang="da-DK" sz="1400" dirty="0"/>
            <a:t>December/januar</a:t>
          </a:r>
        </a:p>
      </dgm:t>
    </dgm:pt>
    <dgm:pt modelId="{174D8D89-B0F1-4F71-9EBD-4767E6596034}" type="parTrans" cxnId="{4EB551A7-57C6-4457-A5C8-6FDB559BA758}">
      <dgm:prSet/>
      <dgm:spPr/>
      <dgm:t>
        <a:bodyPr/>
        <a:lstStyle/>
        <a:p>
          <a:endParaRPr lang="da-DK" sz="2000"/>
        </a:p>
      </dgm:t>
    </dgm:pt>
    <dgm:pt modelId="{7C5C9A8B-7BCC-4CE8-800E-B72BF189BD36}" type="sibTrans" cxnId="{4EB551A7-57C6-4457-A5C8-6FDB559BA758}">
      <dgm:prSet custT="1"/>
      <dgm:spPr/>
      <dgm:t>
        <a:bodyPr/>
        <a:lstStyle/>
        <a:p>
          <a:endParaRPr lang="da-DK" sz="1050"/>
        </a:p>
      </dgm:t>
    </dgm:pt>
    <dgm:pt modelId="{52428F5C-AC5B-4B0B-ACF9-20DA39110B89}">
      <dgm:prSet phldrT="[Tekst]" custT="1"/>
      <dgm:spPr/>
      <dgm:t>
        <a:bodyPr/>
        <a:lstStyle/>
        <a:p>
          <a:r>
            <a:rPr lang="da-DK" sz="1400" dirty="0"/>
            <a:t>Plan bliver lagt i </a:t>
          </a:r>
          <a:r>
            <a:rPr lang="da-DK" sz="1400" dirty="0" err="1"/>
            <a:t>roadmap</a:t>
          </a:r>
          <a:r>
            <a:rPr lang="da-DK" sz="1400" dirty="0"/>
            <a:t> for teamet og præsenteret for ejerkredsen</a:t>
          </a:r>
        </a:p>
      </dgm:t>
    </dgm:pt>
    <dgm:pt modelId="{D5BA6A06-1CFA-4C5C-964C-58CB8FD098F3}" type="parTrans" cxnId="{32EB95A7-1376-4230-88DB-E2E2FCD86BA5}">
      <dgm:prSet/>
      <dgm:spPr/>
      <dgm:t>
        <a:bodyPr/>
        <a:lstStyle/>
        <a:p>
          <a:endParaRPr lang="da-DK" sz="2000"/>
        </a:p>
      </dgm:t>
    </dgm:pt>
    <dgm:pt modelId="{DA4DFD49-3FEE-4A7D-B9EE-6A02F8CB422D}" type="sibTrans" cxnId="{32EB95A7-1376-4230-88DB-E2E2FCD86BA5}">
      <dgm:prSet/>
      <dgm:spPr/>
      <dgm:t>
        <a:bodyPr/>
        <a:lstStyle/>
        <a:p>
          <a:endParaRPr lang="da-DK" sz="2000"/>
        </a:p>
      </dgm:t>
    </dgm:pt>
    <dgm:pt modelId="{7976A567-7B8F-40AB-9C0A-CB93B253BC25}">
      <dgm:prSet phldrT="[Tekst]" custT="1"/>
      <dgm:spPr/>
      <dgm:t>
        <a:bodyPr/>
        <a:lstStyle/>
        <a:p>
          <a:r>
            <a:rPr lang="da-DK" sz="1400" dirty="0"/>
            <a:t>Dialog i teamet inkl. PO og evt. med ejerkreds</a:t>
          </a:r>
        </a:p>
      </dgm:t>
    </dgm:pt>
    <dgm:pt modelId="{5E5141E4-4972-4330-8C15-F5D72FFF9007}" type="parTrans" cxnId="{682D0752-0805-416E-BB27-FB784AD899EB}">
      <dgm:prSet/>
      <dgm:spPr/>
      <dgm:t>
        <a:bodyPr/>
        <a:lstStyle/>
        <a:p>
          <a:endParaRPr lang="da-DK" sz="2000"/>
        </a:p>
      </dgm:t>
    </dgm:pt>
    <dgm:pt modelId="{11EF9E73-7521-43E4-93D4-E736CBEEFA6D}" type="sibTrans" cxnId="{682D0752-0805-416E-BB27-FB784AD899EB}">
      <dgm:prSet/>
      <dgm:spPr/>
      <dgm:t>
        <a:bodyPr/>
        <a:lstStyle/>
        <a:p>
          <a:endParaRPr lang="da-DK" sz="2000"/>
        </a:p>
      </dgm:t>
    </dgm:pt>
    <dgm:pt modelId="{BB1A47E8-128C-437F-A1DA-25CD02588A7F}">
      <dgm:prSet phldrT="[Tekst]" custT="1"/>
      <dgm:spPr/>
      <dgm:t>
        <a:bodyPr/>
        <a:lstStyle/>
        <a:p>
          <a:r>
            <a:rPr lang="da-DK" sz="1400" dirty="0"/>
            <a:t>Kvartalsvis status</a:t>
          </a:r>
        </a:p>
      </dgm:t>
    </dgm:pt>
    <dgm:pt modelId="{B0493B3B-A2AA-45A9-9861-8C6631C75B31}" type="parTrans" cxnId="{0B6A5286-0ADD-4576-B321-7635D1EB9009}">
      <dgm:prSet/>
      <dgm:spPr/>
      <dgm:t>
        <a:bodyPr/>
        <a:lstStyle/>
        <a:p>
          <a:endParaRPr lang="da-DK" sz="2000"/>
        </a:p>
      </dgm:t>
    </dgm:pt>
    <dgm:pt modelId="{388D0D9E-EE12-437B-B456-5375CD7AF76D}" type="sibTrans" cxnId="{0B6A5286-0ADD-4576-B321-7635D1EB9009}">
      <dgm:prSet/>
      <dgm:spPr/>
      <dgm:t>
        <a:bodyPr/>
        <a:lstStyle/>
        <a:p>
          <a:endParaRPr lang="da-DK" sz="2000"/>
        </a:p>
      </dgm:t>
    </dgm:pt>
    <dgm:pt modelId="{89B2685F-C7E8-4C2D-97E6-D97A9BD8219D}">
      <dgm:prSet phldrT="[Tekst]" custT="1"/>
      <dgm:spPr/>
      <dgm:t>
        <a:bodyPr/>
        <a:lstStyle/>
        <a:p>
          <a:r>
            <a:rPr lang="da-DK" sz="1400" dirty="0"/>
            <a:t>Løbende vurdering af tidsplaner og prioriteringer</a:t>
          </a:r>
        </a:p>
      </dgm:t>
    </dgm:pt>
    <dgm:pt modelId="{800AF8E0-E8C2-47BB-9D37-17D5EF023A2F}" type="parTrans" cxnId="{70DD7570-AC2C-4B37-8035-254BDFCBE051}">
      <dgm:prSet/>
      <dgm:spPr/>
      <dgm:t>
        <a:bodyPr/>
        <a:lstStyle/>
        <a:p>
          <a:endParaRPr lang="da-DK" sz="2000"/>
        </a:p>
      </dgm:t>
    </dgm:pt>
    <dgm:pt modelId="{714353B5-30B6-4097-84C9-3206443B3A12}" type="sibTrans" cxnId="{70DD7570-AC2C-4B37-8035-254BDFCBE051}">
      <dgm:prSet/>
      <dgm:spPr/>
      <dgm:t>
        <a:bodyPr/>
        <a:lstStyle/>
        <a:p>
          <a:endParaRPr lang="da-DK" sz="2000"/>
        </a:p>
      </dgm:t>
    </dgm:pt>
    <dgm:pt modelId="{E1854411-A61F-43CD-B17C-9FE5D954E435}" type="pres">
      <dgm:prSet presAssocID="{A6BE6CB9-110F-457B-8FF0-CDA87A5522B9}" presName="linearFlow" presStyleCnt="0">
        <dgm:presLayoutVars>
          <dgm:dir/>
          <dgm:animLvl val="lvl"/>
          <dgm:resizeHandles val="exact"/>
        </dgm:presLayoutVars>
      </dgm:prSet>
      <dgm:spPr/>
    </dgm:pt>
    <dgm:pt modelId="{48B6DEF5-2E9C-401C-9C13-68F4C01B7DAE}" type="pres">
      <dgm:prSet presAssocID="{1541612F-15BF-4D75-BDF4-10D809A503DA}" presName="composite" presStyleCnt="0"/>
      <dgm:spPr/>
    </dgm:pt>
    <dgm:pt modelId="{12880B7A-379C-4DBB-BCCE-3BDB0DA0774E}" type="pres">
      <dgm:prSet presAssocID="{1541612F-15BF-4D75-BDF4-10D809A503DA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20464000-BC28-427C-AD9D-DE859CCFAAE4}" type="pres">
      <dgm:prSet presAssocID="{1541612F-15BF-4D75-BDF4-10D809A503DA}" presName="parSh" presStyleLbl="node1" presStyleIdx="0" presStyleCnt="5"/>
      <dgm:spPr/>
    </dgm:pt>
    <dgm:pt modelId="{C64439E2-F80E-49D1-85B3-D33ED430D6D4}" type="pres">
      <dgm:prSet presAssocID="{1541612F-15BF-4D75-BDF4-10D809A503DA}" presName="desTx" presStyleLbl="fgAcc1" presStyleIdx="0" presStyleCnt="5" custScaleX="115754">
        <dgm:presLayoutVars>
          <dgm:bulletEnabled val="1"/>
        </dgm:presLayoutVars>
      </dgm:prSet>
      <dgm:spPr/>
    </dgm:pt>
    <dgm:pt modelId="{F30F0F8D-AB5C-4E70-8501-2DC8CD9DF548}" type="pres">
      <dgm:prSet presAssocID="{2CABDA7C-01C3-4269-BA56-561EE5FAF02A}" presName="sibTrans" presStyleLbl="sibTrans2D1" presStyleIdx="0" presStyleCnt="4"/>
      <dgm:spPr/>
    </dgm:pt>
    <dgm:pt modelId="{24ECF3F6-D3AC-4910-8692-14F1489B901C}" type="pres">
      <dgm:prSet presAssocID="{2CABDA7C-01C3-4269-BA56-561EE5FAF02A}" presName="connTx" presStyleLbl="sibTrans2D1" presStyleIdx="0" presStyleCnt="4"/>
      <dgm:spPr/>
    </dgm:pt>
    <dgm:pt modelId="{6CB6E908-0A78-4894-AF07-2F9DA8AD88D6}" type="pres">
      <dgm:prSet presAssocID="{AE8BC0AF-023C-47A6-AC73-D53A8744E161}" presName="composite" presStyleCnt="0"/>
      <dgm:spPr/>
    </dgm:pt>
    <dgm:pt modelId="{DFBB4DA9-26D8-4E2F-8B65-01E28B00C1E3}" type="pres">
      <dgm:prSet presAssocID="{AE8BC0AF-023C-47A6-AC73-D53A8744E161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9666485C-9540-4BCE-A6F3-E0D43C0E29F0}" type="pres">
      <dgm:prSet presAssocID="{AE8BC0AF-023C-47A6-AC73-D53A8744E161}" presName="parSh" presStyleLbl="node1" presStyleIdx="1" presStyleCnt="5" custScaleX="122885"/>
      <dgm:spPr/>
    </dgm:pt>
    <dgm:pt modelId="{219C406F-1261-49DC-90F9-5CE2FE3A2082}" type="pres">
      <dgm:prSet presAssocID="{AE8BC0AF-023C-47A6-AC73-D53A8744E161}" presName="desTx" presStyleLbl="fgAcc1" presStyleIdx="1" presStyleCnt="5" custScaleX="134049">
        <dgm:presLayoutVars>
          <dgm:bulletEnabled val="1"/>
        </dgm:presLayoutVars>
      </dgm:prSet>
      <dgm:spPr/>
    </dgm:pt>
    <dgm:pt modelId="{CE5914CA-1202-44A6-9C0E-C45A710BCEE1}" type="pres">
      <dgm:prSet presAssocID="{3CFE7C5D-4672-4C83-A35E-B526160973CD}" presName="sibTrans" presStyleLbl="sibTrans2D1" presStyleIdx="1" presStyleCnt="4"/>
      <dgm:spPr/>
    </dgm:pt>
    <dgm:pt modelId="{201EC657-C6A3-4128-8672-8FB1ED49ED4E}" type="pres">
      <dgm:prSet presAssocID="{3CFE7C5D-4672-4C83-A35E-B526160973CD}" presName="connTx" presStyleLbl="sibTrans2D1" presStyleIdx="1" presStyleCnt="4"/>
      <dgm:spPr/>
    </dgm:pt>
    <dgm:pt modelId="{C1DA7BBC-81F7-4FA8-8335-8E53458330BF}" type="pres">
      <dgm:prSet presAssocID="{21678C27-3997-486B-B706-D3A0987AF666}" presName="composite" presStyleCnt="0"/>
      <dgm:spPr/>
    </dgm:pt>
    <dgm:pt modelId="{DBC2175A-1CDC-47A6-8037-218D75F7EF7B}" type="pres">
      <dgm:prSet presAssocID="{21678C27-3997-486B-B706-D3A0987AF666}" presName="par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93BAE780-FA1F-4FFD-A54E-F90A5B1B4658}" type="pres">
      <dgm:prSet presAssocID="{21678C27-3997-486B-B706-D3A0987AF666}" presName="parSh" presStyleLbl="node1" presStyleIdx="2" presStyleCnt="5"/>
      <dgm:spPr/>
    </dgm:pt>
    <dgm:pt modelId="{97D3D234-20AA-4174-A886-2A620FE0FE5C}" type="pres">
      <dgm:prSet presAssocID="{21678C27-3997-486B-B706-D3A0987AF666}" presName="desTx" presStyleLbl="fgAcc1" presStyleIdx="2" presStyleCnt="5" custScaleX="115532">
        <dgm:presLayoutVars>
          <dgm:bulletEnabled val="1"/>
        </dgm:presLayoutVars>
      </dgm:prSet>
      <dgm:spPr/>
    </dgm:pt>
    <dgm:pt modelId="{7BFECC9D-4A6E-4019-8E21-E197B7D8982C}" type="pres">
      <dgm:prSet presAssocID="{8373F4D4-9EC2-4900-AD2A-240F94AB2797}" presName="sibTrans" presStyleLbl="sibTrans2D1" presStyleIdx="2" presStyleCnt="4"/>
      <dgm:spPr/>
    </dgm:pt>
    <dgm:pt modelId="{00B8C400-0BD2-4EF4-8B44-77DF6FDE112A}" type="pres">
      <dgm:prSet presAssocID="{8373F4D4-9EC2-4900-AD2A-240F94AB2797}" presName="connTx" presStyleLbl="sibTrans2D1" presStyleIdx="2" presStyleCnt="4"/>
      <dgm:spPr/>
    </dgm:pt>
    <dgm:pt modelId="{CC88AB9E-9FBE-467E-AE31-906F259A06E4}" type="pres">
      <dgm:prSet presAssocID="{4841F295-F18C-4089-B881-990C44741080}" presName="composite" presStyleCnt="0"/>
      <dgm:spPr/>
    </dgm:pt>
    <dgm:pt modelId="{4C7A8760-A641-43B3-A0EC-EBBD8F1D6EB0}" type="pres">
      <dgm:prSet presAssocID="{4841F295-F18C-4089-B881-990C44741080}" presName="par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ED12577-3EB2-4AA1-9424-5C3BADB727E5}" type="pres">
      <dgm:prSet presAssocID="{4841F295-F18C-4089-B881-990C44741080}" presName="parSh" presStyleLbl="node1" presStyleIdx="3" presStyleCnt="5" custScaleX="113631"/>
      <dgm:spPr/>
    </dgm:pt>
    <dgm:pt modelId="{946B9ECB-581F-43A3-9F91-9DC0485AAE44}" type="pres">
      <dgm:prSet presAssocID="{4841F295-F18C-4089-B881-990C44741080}" presName="desTx" presStyleLbl="fgAcc1" presStyleIdx="3" presStyleCnt="5" custScaleX="117084">
        <dgm:presLayoutVars>
          <dgm:bulletEnabled val="1"/>
        </dgm:presLayoutVars>
      </dgm:prSet>
      <dgm:spPr/>
    </dgm:pt>
    <dgm:pt modelId="{A098305D-D32E-4946-86AF-3378193719E8}" type="pres">
      <dgm:prSet presAssocID="{7C5C9A8B-7BCC-4CE8-800E-B72BF189BD36}" presName="sibTrans" presStyleLbl="sibTrans2D1" presStyleIdx="3" presStyleCnt="4"/>
      <dgm:spPr/>
    </dgm:pt>
    <dgm:pt modelId="{8EB15E4C-E1B1-46D3-89B7-63F0A7FE9E5E}" type="pres">
      <dgm:prSet presAssocID="{7C5C9A8B-7BCC-4CE8-800E-B72BF189BD36}" presName="connTx" presStyleLbl="sibTrans2D1" presStyleIdx="3" presStyleCnt="4"/>
      <dgm:spPr/>
    </dgm:pt>
    <dgm:pt modelId="{29AFC8AA-D237-45BE-863D-D23907EEE4CD}" type="pres">
      <dgm:prSet presAssocID="{BB1A47E8-128C-437F-A1DA-25CD02588A7F}" presName="composite" presStyleCnt="0"/>
      <dgm:spPr/>
    </dgm:pt>
    <dgm:pt modelId="{FD26EB91-67AF-49CE-A790-24DF751EDC28}" type="pres">
      <dgm:prSet presAssocID="{BB1A47E8-128C-437F-A1DA-25CD02588A7F}" presName="par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73D41B6A-1C3C-4DA1-BB35-40237277EBE9}" type="pres">
      <dgm:prSet presAssocID="{BB1A47E8-128C-437F-A1DA-25CD02588A7F}" presName="parSh" presStyleLbl="node1" presStyleIdx="4" presStyleCnt="5"/>
      <dgm:spPr/>
    </dgm:pt>
    <dgm:pt modelId="{C56C53F5-62A8-4DDC-806B-07454EC651FA}" type="pres">
      <dgm:prSet presAssocID="{BB1A47E8-128C-437F-A1DA-25CD02588A7F}" presName="desTx" presStyleLbl="fgAcc1" presStyleIdx="4" presStyleCnt="5" custScaleX="109227">
        <dgm:presLayoutVars>
          <dgm:bulletEnabled val="1"/>
        </dgm:presLayoutVars>
      </dgm:prSet>
      <dgm:spPr/>
    </dgm:pt>
  </dgm:ptLst>
  <dgm:cxnLst>
    <dgm:cxn modelId="{049A7101-9316-4990-ADAF-AD5992066D9A}" type="presOf" srcId="{2CABDA7C-01C3-4269-BA56-561EE5FAF02A}" destId="{F30F0F8D-AB5C-4E70-8501-2DC8CD9DF548}" srcOrd="0" destOrd="0" presId="urn:microsoft.com/office/officeart/2005/8/layout/process3"/>
    <dgm:cxn modelId="{DCEDF402-A3B8-46C6-9F85-E0DBFC71CF5F}" type="presOf" srcId="{4841F295-F18C-4089-B881-990C44741080}" destId="{4C7A8760-A641-43B3-A0EC-EBBD8F1D6EB0}" srcOrd="0" destOrd="0" presId="urn:microsoft.com/office/officeart/2005/8/layout/process3"/>
    <dgm:cxn modelId="{5472C70A-8131-44FA-AC92-379EB1204046}" type="presOf" srcId="{0DAA280E-98D8-45DA-A305-CCBF21849958}" destId="{C64439E2-F80E-49D1-85B3-D33ED430D6D4}" srcOrd="0" destOrd="0" presId="urn:microsoft.com/office/officeart/2005/8/layout/process3"/>
    <dgm:cxn modelId="{D091480D-9877-40A6-A383-C8B8D808724C}" type="presOf" srcId="{89B2685F-C7E8-4C2D-97E6-D97A9BD8219D}" destId="{C56C53F5-62A8-4DDC-806B-07454EC651FA}" srcOrd="0" destOrd="0" presId="urn:microsoft.com/office/officeart/2005/8/layout/process3"/>
    <dgm:cxn modelId="{B416F91D-379E-48E2-BB03-20BD630EA48C}" type="presOf" srcId="{6EC78572-4D31-4AC0-A6CD-78ADBFDD2FC1}" destId="{97D3D234-20AA-4174-A886-2A620FE0FE5C}" srcOrd="0" destOrd="0" presId="urn:microsoft.com/office/officeart/2005/8/layout/process3"/>
    <dgm:cxn modelId="{A8080E27-CCD9-4CCD-9D9E-CD981BA16AC2}" type="presOf" srcId="{A6BE6CB9-110F-457B-8FF0-CDA87A5522B9}" destId="{E1854411-A61F-43CD-B17C-9FE5D954E435}" srcOrd="0" destOrd="0" presId="urn:microsoft.com/office/officeart/2005/8/layout/process3"/>
    <dgm:cxn modelId="{682D0752-0805-416E-BB27-FB784AD899EB}" srcId="{AE8BC0AF-023C-47A6-AC73-D53A8744E161}" destId="{7976A567-7B8F-40AB-9C0A-CB93B253BC25}" srcOrd="1" destOrd="0" parTransId="{5E5141E4-4972-4330-8C15-F5D72FFF9007}" sibTransId="{11EF9E73-7521-43E4-93D4-E736CBEEFA6D}"/>
    <dgm:cxn modelId="{CF451854-A097-4060-A0E5-A5C4AC2684AB}" type="presOf" srcId="{082D771F-B485-463A-8CDB-234CF9B8A3A3}" destId="{219C406F-1261-49DC-90F9-5CE2FE3A2082}" srcOrd="0" destOrd="0" presId="urn:microsoft.com/office/officeart/2005/8/layout/process3"/>
    <dgm:cxn modelId="{E5F27863-3B27-4450-8CA4-36F1C1CE0F8A}" srcId="{A6BE6CB9-110F-457B-8FF0-CDA87A5522B9}" destId="{1541612F-15BF-4D75-BDF4-10D809A503DA}" srcOrd="0" destOrd="0" parTransId="{D34A5C9F-F3B3-4904-ADDD-6B51F2FA8802}" sibTransId="{2CABDA7C-01C3-4269-BA56-561EE5FAF02A}"/>
    <dgm:cxn modelId="{8D9DAB63-165D-4178-AF3C-CFAB98473B71}" srcId="{1541612F-15BF-4D75-BDF4-10D809A503DA}" destId="{0DAA280E-98D8-45DA-A305-CCBF21849958}" srcOrd="0" destOrd="0" parTransId="{29A43890-AE03-4F98-A750-446EE076AD85}" sibTransId="{3DA78FBB-ABD1-4DDC-A966-65E376B10B06}"/>
    <dgm:cxn modelId="{6D781566-F3E7-4772-976F-C20311BAC239}" type="presOf" srcId="{1541612F-15BF-4D75-BDF4-10D809A503DA}" destId="{20464000-BC28-427C-AD9D-DE859CCFAAE4}" srcOrd="1" destOrd="0" presId="urn:microsoft.com/office/officeart/2005/8/layout/process3"/>
    <dgm:cxn modelId="{462EA06C-CE80-4C1C-84F3-7453B78DE1CF}" type="presOf" srcId="{4841F295-F18C-4089-B881-990C44741080}" destId="{AED12577-3EB2-4AA1-9424-5C3BADB727E5}" srcOrd="1" destOrd="0" presId="urn:microsoft.com/office/officeart/2005/8/layout/process3"/>
    <dgm:cxn modelId="{70DD7570-AC2C-4B37-8035-254BDFCBE051}" srcId="{BB1A47E8-128C-437F-A1DA-25CD02588A7F}" destId="{89B2685F-C7E8-4C2D-97E6-D97A9BD8219D}" srcOrd="0" destOrd="0" parTransId="{800AF8E0-E8C2-47BB-9D37-17D5EF023A2F}" sibTransId="{714353B5-30B6-4097-84C9-3206443B3A12}"/>
    <dgm:cxn modelId="{86BEFC70-2A5B-4385-A07A-78CB6826891B}" type="presOf" srcId="{2CABDA7C-01C3-4269-BA56-561EE5FAF02A}" destId="{24ECF3F6-D3AC-4910-8692-14F1489B901C}" srcOrd="1" destOrd="0" presId="urn:microsoft.com/office/officeart/2005/8/layout/process3"/>
    <dgm:cxn modelId="{DB3F0772-170C-4CF7-803C-70F338992C96}" type="presOf" srcId="{BB1A47E8-128C-437F-A1DA-25CD02588A7F}" destId="{73D41B6A-1C3C-4DA1-BB35-40237277EBE9}" srcOrd="1" destOrd="0" presId="urn:microsoft.com/office/officeart/2005/8/layout/process3"/>
    <dgm:cxn modelId="{0A727284-C7F4-4F20-A02A-2559EC39238D}" type="presOf" srcId="{52428F5C-AC5B-4B0B-ACF9-20DA39110B89}" destId="{946B9ECB-581F-43A3-9F91-9DC0485AAE44}" srcOrd="0" destOrd="0" presId="urn:microsoft.com/office/officeart/2005/8/layout/process3"/>
    <dgm:cxn modelId="{0B6A5286-0ADD-4576-B321-7635D1EB9009}" srcId="{A6BE6CB9-110F-457B-8FF0-CDA87A5522B9}" destId="{BB1A47E8-128C-437F-A1DA-25CD02588A7F}" srcOrd="4" destOrd="0" parTransId="{B0493B3B-A2AA-45A9-9861-8C6631C75B31}" sibTransId="{388D0D9E-EE12-437B-B456-5375CD7AF76D}"/>
    <dgm:cxn modelId="{6EAE7886-AB35-4A54-9618-069AF37E95C8}" type="presOf" srcId="{AE8BC0AF-023C-47A6-AC73-D53A8744E161}" destId="{9666485C-9540-4BCE-A6F3-E0D43C0E29F0}" srcOrd="1" destOrd="0" presId="urn:microsoft.com/office/officeart/2005/8/layout/process3"/>
    <dgm:cxn modelId="{33EA3889-2C59-4C4D-A9A5-BB9CAB5C3CD7}" type="presOf" srcId="{7C5C9A8B-7BCC-4CE8-800E-B72BF189BD36}" destId="{8EB15E4C-E1B1-46D3-89B7-63F0A7FE9E5E}" srcOrd="1" destOrd="0" presId="urn:microsoft.com/office/officeart/2005/8/layout/process3"/>
    <dgm:cxn modelId="{B7777D90-38F5-4552-86D6-AF893690B3AE}" srcId="{A6BE6CB9-110F-457B-8FF0-CDA87A5522B9}" destId="{21678C27-3997-486B-B706-D3A0987AF666}" srcOrd="2" destOrd="0" parTransId="{AD238434-F6D0-4D47-920C-3C31355BB36E}" sibTransId="{8373F4D4-9EC2-4900-AD2A-240F94AB2797}"/>
    <dgm:cxn modelId="{AFD38490-3A32-4E45-83CC-23F82B73AA59}" type="presOf" srcId="{1541612F-15BF-4D75-BDF4-10D809A503DA}" destId="{12880B7A-379C-4DBB-BCCE-3BDB0DA0774E}" srcOrd="0" destOrd="0" presId="urn:microsoft.com/office/officeart/2005/8/layout/process3"/>
    <dgm:cxn modelId="{1A7D539D-6724-4A67-8499-AA4025488BAA}" srcId="{21678C27-3997-486B-B706-D3A0987AF666}" destId="{6EC78572-4D31-4AC0-A6CD-78ADBFDD2FC1}" srcOrd="0" destOrd="0" parTransId="{1C9B3B71-B344-4FB2-82A8-E7F21E0BFAE5}" sibTransId="{E4733753-7F23-47DD-860A-8DDC46018770}"/>
    <dgm:cxn modelId="{4EB551A7-57C6-4457-A5C8-6FDB559BA758}" srcId="{A6BE6CB9-110F-457B-8FF0-CDA87A5522B9}" destId="{4841F295-F18C-4089-B881-990C44741080}" srcOrd="3" destOrd="0" parTransId="{174D8D89-B0F1-4F71-9EBD-4767E6596034}" sibTransId="{7C5C9A8B-7BCC-4CE8-800E-B72BF189BD36}"/>
    <dgm:cxn modelId="{32EB95A7-1376-4230-88DB-E2E2FCD86BA5}" srcId="{4841F295-F18C-4089-B881-990C44741080}" destId="{52428F5C-AC5B-4B0B-ACF9-20DA39110B89}" srcOrd="0" destOrd="0" parTransId="{D5BA6A06-1CFA-4C5C-964C-58CB8FD098F3}" sibTransId="{DA4DFD49-3FEE-4A7D-B9EE-6A02F8CB422D}"/>
    <dgm:cxn modelId="{78652EB2-7C68-4F3E-9320-4111459E3990}" type="presOf" srcId="{8373F4D4-9EC2-4900-AD2A-240F94AB2797}" destId="{00B8C400-0BD2-4EF4-8B44-77DF6FDE112A}" srcOrd="1" destOrd="0" presId="urn:microsoft.com/office/officeart/2005/8/layout/process3"/>
    <dgm:cxn modelId="{AE5C70B2-4D1E-4AF3-AE3B-CB6A367808FF}" type="presOf" srcId="{7976A567-7B8F-40AB-9C0A-CB93B253BC25}" destId="{219C406F-1261-49DC-90F9-5CE2FE3A2082}" srcOrd="0" destOrd="1" presId="urn:microsoft.com/office/officeart/2005/8/layout/process3"/>
    <dgm:cxn modelId="{7745BAB2-8E48-4B5F-AFB7-236639A990E8}" type="presOf" srcId="{21678C27-3997-486B-B706-D3A0987AF666}" destId="{DBC2175A-1CDC-47A6-8037-218D75F7EF7B}" srcOrd="0" destOrd="0" presId="urn:microsoft.com/office/officeart/2005/8/layout/process3"/>
    <dgm:cxn modelId="{6C93F5C5-E660-4D73-8CB9-41A1B90550DC}" type="presOf" srcId="{21678C27-3997-486B-B706-D3A0987AF666}" destId="{93BAE780-FA1F-4FFD-A54E-F90A5B1B4658}" srcOrd="1" destOrd="0" presId="urn:microsoft.com/office/officeart/2005/8/layout/process3"/>
    <dgm:cxn modelId="{43C04AC7-9D46-4FE9-996F-B2A823771DBB}" type="presOf" srcId="{BB1A47E8-128C-437F-A1DA-25CD02588A7F}" destId="{FD26EB91-67AF-49CE-A790-24DF751EDC28}" srcOrd="0" destOrd="0" presId="urn:microsoft.com/office/officeart/2005/8/layout/process3"/>
    <dgm:cxn modelId="{02AC59C9-B748-4332-9F57-6A169FFC075E}" type="presOf" srcId="{3CFE7C5D-4672-4C83-A35E-B526160973CD}" destId="{CE5914CA-1202-44A6-9C0E-C45A710BCEE1}" srcOrd="0" destOrd="0" presId="urn:microsoft.com/office/officeart/2005/8/layout/process3"/>
    <dgm:cxn modelId="{92C662D3-94B8-410B-B19E-4C9CDB3F0AD1}" type="presOf" srcId="{3CFE7C5D-4672-4C83-A35E-B526160973CD}" destId="{201EC657-C6A3-4128-8672-8FB1ED49ED4E}" srcOrd="1" destOrd="0" presId="urn:microsoft.com/office/officeart/2005/8/layout/process3"/>
    <dgm:cxn modelId="{951D2ED4-23E3-49CE-B2E7-2D75483CC5EA}" srcId="{AE8BC0AF-023C-47A6-AC73-D53A8744E161}" destId="{082D771F-B485-463A-8CDB-234CF9B8A3A3}" srcOrd="0" destOrd="0" parTransId="{F6D189D6-80B3-4CCB-A13A-35984A1C8C38}" sibTransId="{C65A291C-3298-4165-B8D0-9B493054CD97}"/>
    <dgm:cxn modelId="{9B7C0FD8-9F4A-4F44-BBEA-07E42095B88C}" type="presOf" srcId="{7C5C9A8B-7BCC-4CE8-800E-B72BF189BD36}" destId="{A098305D-D32E-4946-86AF-3378193719E8}" srcOrd="0" destOrd="0" presId="urn:microsoft.com/office/officeart/2005/8/layout/process3"/>
    <dgm:cxn modelId="{493EBCDE-04A0-423A-831B-730D0138EC45}" type="presOf" srcId="{8373F4D4-9EC2-4900-AD2A-240F94AB2797}" destId="{7BFECC9D-4A6E-4019-8E21-E197B7D8982C}" srcOrd="0" destOrd="0" presId="urn:microsoft.com/office/officeart/2005/8/layout/process3"/>
    <dgm:cxn modelId="{9692DEFA-BF6E-46A3-801A-AA31DEBABD47}" type="presOf" srcId="{AE8BC0AF-023C-47A6-AC73-D53A8744E161}" destId="{DFBB4DA9-26D8-4E2F-8B65-01E28B00C1E3}" srcOrd="0" destOrd="0" presId="urn:microsoft.com/office/officeart/2005/8/layout/process3"/>
    <dgm:cxn modelId="{9E3792FF-D846-4DD3-846B-181BA9F7B384}" srcId="{A6BE6CB9-110F-457B-8FF0-CDA87A5522B9}" destId="{AE8BC0AF-023C-47A6-AC73-D53A8744E161}" srcOrd="1" destOrd="0" parTransId="{1366C0A2-4049-49C7-A92B-BED971E38468}" sibTransId="{3CFE7C5D-4672-4C83-A35E-B526160973CD}"/>
    <dgm:cxn modelId="{7EFE160E-B986-4432-A088-1BB80F89193F}" type="presParOf" srcId="{E1854411-A61F-43CD-B17C-9FE5D954E435}" destId="{48B6DEF5-2E9C-401C-9C13-68F4C01B7DAE}" srcOrd="0" destOrd="0" presId="urn:microsoft.com/office/officeart/2005/8/layout/process3"/>
    <dgm:cxn modelId="{89B2EF4F-63B5-4A83-85DC-9936379E45C6}" type="presParOf" srcId="{48B6DEF5-2E9C-401C-9C13-68F4C01B7DAE}" destId="{12880B7A-379C-4DBB-BCCE-3BDB0DA0774E}" srcOrd="0" destOrd="0" presId="urn:microsoft.com/office/officeart/2005/8/layout/process3"/>
    <dgm:cxn modelId="{0A8BB236-7691-4518-B16B-A51FF992CA4E}" type="presParOf" srcId="{48B6DEF5-2E9C-401C-9C13-68F4C01B7DAE}" destId="{20464000-BC28-427C-AD9D-DE859CCFAAE4}" srcOrd="1" destOrd="0" presId="urn:microsoft.com/office/officeart/2005/8/layout/process3"/>
    <dgm:cxn modelId="{05C39F8F-9EDF-484C-A97F-AF82B1FEDD06}" type="presParOf" srcId="{48B6DEF5-2E9C-401C-9C13-68F4C01B7DAE}" destId="{C64439E2-F80E-49D1-85B3-D33ED430D6D4}" srcOrd="2" destOrd="0" presId="urn:microsoft.com/office/officeart/2005/8/layout/process3"/>
    <dgm:cxn modelId="{5C6ABF22-6715-42C6-A12D-E977DC2EF3DF}" type="presParOf" srcId="{E1854411-A61F-43CD-B17C-9FE5D954E435}" destId="{F30F0F8D-AB5C-4E70-8501-2DC8CD9DF548}" srcOrd="1" destOrd="0" presId="urn:microsoft.com/office/officeart/2005/8/layout/process3"/>
    <dgm:cxn modelId="{D142A388-2731-42CF-9748-5FC97CDEEC18}" type="presParOf" srcId="{F30F0F8D-AB5C-4E70-8501-2DC8CD9DF548}" destId="{24ECF3F6-D3AC-4910-8692-14F1489B901C}" srcOrd="0" destOrd="0" presId="urn:microsoft.com/office/officeart/2005/8/layout/process3"/>
    <dgm:cxn modelId="{978F52CC-2D79-4306-9916-4722149BCEFE}" type="presParOf" srcId="{E1854411-A61F-43CD-B17C-9FE5D954E435}" destId="{6CB6E908-0A78-4894-AF07-2F9DA8AD88D6}" srcOrd="2" destOrd="0" presId="urn:microsoft.com/office/officeart/2005/8/layout/process3"/>
    <dgm:cxn modelId="{B1610D0D-9D8A-4451-AA94-069A71755FAA}" type="presParOf" srcId="{6CB6E908-0A78-4894-AF07-2F9DA8AD88D6}" destId="{DFBB4DA9-26D8-4E2F-8B65-01E28B00C1E3}" srcOrd="0" destOrd="0" presId="urn:microsoft.com/office/officeart/2005/8/layout/process3"/>
    <dgm:cxn modelId="{A5863799-C683-4457-A712-EBB30F5F391F}" type="presParOf" srcId="{6CB6E908-0A78-4894-AF07-2F9DA8AD88D6}" destId="{9666485C-9540-4BCE-A6F3-E0D43C0E29F0}" srcOrd="1" destOrd="0" presId="urn:microsoft.com/office/officeart/2005/8/layout/process3"/>
    <dgm:cxn modelId="{60CDB14B-B019-4739-BA51-304470D82AA1}" type="presParOf" srcId="{6CB6E908-0A78-4894-AF07-2F9DA8AD88D6}" destId="{219C406F-1261-49DC-90F9-5CE2FE3A2082}" srcOrd="2" destOrd="0" presId="urn:microsoft.com/office/officeart/2005/8/layout/process3"/>
    <dgm:cxn modelId="{177EB500-7201-4C8C-AECB-491128CBA68E}" type="presParOf" srcId="{E1854411-A61F-43CD-B17C-9FE5D954E435}" destId="{CE5914CA-1202-44A6-9C0E-C45A710BCEE1}" srcOrd="3" destOrd="0" presId="urn:microsoft.com/office/officeart/2005/8/layout/process3"/>
    <dgm:cxn modelId="{DF217127-6794-4264-83A9-5A6B18D8090D}" type="presParOf" srcId="{CE5914CA-1202-44A6-9C0E-C45A710BCEE1}" destId="{201EC657-C6A3-4128-8672-8FB1ED49ED4E}" srcOrd="0" destOrd="0" presId="urn:microsoft.com/office/officeart/2005/8/layout/process3"/>
    <dgm:cxn modelId="{CB8F854E-3D2A-46EC-8E42-80D4DB346E52}" type="presParOf" srcId="{E1854411-A61F-43CD-B17C-9FE5D954E435}" destId="{C1DA7BBC-81F7-4FA8-8335-8E53458330BF}" srcOrd="4" destOrd="0" presId="urn:microsoft.com/office/officeart/2005/8/layout/process3"/>
    <dgm:cxn modelId="{7CF5CA92-ED05-4931-8B49-E81EB5E6C3AD}" type="presParOf" srcId="{C1DA7BBC-81F7-4FA8-8335-8E53458330BF}" destId="{DBC2175A-1CDC-47A6-8037-218D75F7EF7B}" srcOrd="0" destOrd="0" presId="urn:microsoft.com/office/officeart/2005/8/layout/process3"/>
    <dgm:cxn modelId="{24B8F199-92BA-4682-9E76-2F0C01891198}" type="presParOf" srcId="{C1DA7BBC-81F7-4FA8-8335-8E53458330BF}" destId="{93BAE780-FA1F-4FFD-A54E-F90A5B1B4658}" srcOrd="1" destOrd="0" presId="urn:microsoft.com/office/officeart/2005/8/layout/process3"/>
    <dgm:cxn modelId="{AEA80D9F-A2B4-4477-8CFB-83B21DDEA3B6}" type="presParOf" srcId="{C1DA7BBC-81F7-4FA8-8335-8E53458330BF}" destId="{97D3D234-20AA-4174-A886-2A620FE0FE5C}" srcOrd="2" destOrd="0" presId="urn:microsoft.com/office/officeart/2005/8/layout/process3"/>
    <dgm:cxn modelId="{D3D308F8-39DE-4ADE-90A1-EE88BE988ED6}" type="presParOf" srcId="{E1854411-A61F-43CD-B17C-9FE5D954E435}" destId="{7BFECC9D-4A6E-4019-8E21-E197B7D8982C}" srcOrd="5" destOrd="0" presId="urn:microsoft.com/office/officeart/2005/8/layout/process3"/>
    <dgm:cxn modelId="{F058D586-D634-4FFD-9B0A-46B84E8DBECE}" type="presParOf" srcId="{7BFECC9D-4A6E-4019-8E21-E197B7D8982C}" destId="{00B8C400-0BD2-4EF4-8B44-77DF6FDE112A}" srcOrd="0" destOrd="0" presId="urn:microsoft.com/office/officeart/2005/8/layout/process3"/>
    <dgm:cxn modelId="{5DE8A391-933C-4CCC-A133-05E360940D85}" type="presParOf" srcId="{E1854411-A61F-43CD-B17C-9FE5D954E435}" destId="{CC88AB9E-9FBE-467E-AE31-906F259A06E4}" srcOrd="6" destOrd="0" presId="urn:microsoft.com/office/officeart/2005/8/layout/process3"/>
    <dgm:cxn modelId="{E9960D4F-1C2A-4D74-B93C-260390AEEB96}" type="presParOf" srcId="{CC88AB9E-9FBE-467E-AE31-906F259A06E4}" destId="{4C7A8760-A641-43B3-A0EC-EBBD8F1D6EB0}" srcOrd="0" destOrd="0" presId="urn:microsoft.com/office/officeart/2005/8/layout/process3"/>
    <dgm:cxn modelId="{D540457C-F4FD-4203-90B5-FDB6661E8641}" type="presParOf" srcId="{CC88AB9E-9FBE-467E-AE31-906F259A06E4}" destId="{AED12577-3EB2-4AA1-9424-5C3BADB727E5}" srcOrd="1" destOrd="0" presId="urn:microsoft.com/office/officeart/2005/8/layout/process3"/>
    <dgm:cxn modelId="{30010EC1-0BB1-4D3A-8A2D-14F8834702F2}" type="presParOf" srcId="{CC88AB9E-9FBE-467E-AE31-906F259A06E4}" destId="{946B9ECB-581F-43A3-9F91-9DC0485AAE44}" srcOrd="2" destOrd="0" presId="urn:microsoft.com/office/officeart/2005/8/layout/process3"/>
    <dgm:cxn modelId="{A72FE201-558C-4E52-9D25-BB2AC459AEB5}" type="presParOf" srcId="{E1854411-A61F-43CD-B17C-9FE5D954E435}" destId="{A098305D-D32E-4946-86AF-3378193719E8}" srcOrd="7" destOrd="0" presId="urn:microsoft.com/office/officeart/2005/8/layout/process3"/>
    <dgm:cxn modelId="{6ADE9C34-24A8-4C63-9870-66209DE6E476}" type="presParOf" srcId="{A098305D-D32E-4946-86AF-3378193719E8}" destId="{8EB15E4C-E1B1-46D3-89B7-63F0A7FE9E5E}" srcOrd="0" destOrd="0" presId="urn:microsoft.com/office/officeart/2005/8/layout/process3"/>
    <dgm:cxn modelId="{B74B119D-C27D-4A9F-9C0E-216B50D4D854}" type="presParOf" srcId="{E1854411-A61F-43CD-B17C-9FE5D954E435}" destId="{29AFC8AA-D237-45BE-863D-D23907EEE4CD}" srcOrd="8" destOrd="0" presId="urn:microsoft.com/office/officeart/2005/8/layout/process3"/>
    <dgm:cxn modelId="{B90AB09D-217C-4B2F-B9DC-63A1F8AF2282}" type="presParOf" srcId="{29AFC8AA-D237-45BE-863D-D23907EEE4CD}" destId="{FD26EB91-67AF-49CE-A790-24DF751EDC28}" srcOrd="0" destOrd="0" presId="urn:microsoft.com/office/officeart/2005/8/layout/process3"/>
    <dgm:cxn modelId="{92BCD193-103D-406B-9D51-3C62E7597BF5}" type="presParOf" srcId="{29AFC8AA-D237-45BE-863D-D23907EEE4CD}" destId="{73D41B6A-1C3C-4DA1-BB35-40237277EBE9}" srcOrd="1" destOrd="0" presId="urn:microsoft.com/office/officeart/2005/8/layout/process3"/>
    <dgm:cxn modelId="{B44D78EA-3D36-4094-BE91-58846B14DC7C}" type="presParOf" srcId="{29AFC8AA-D237-45BE-863D-D23907EEE4CD}" destId="{C56C53F5-62A8-4DDC-806B-07454EC651FA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C4FEAAD-EA1B-8D4E-B88C-09A86F9AF473}" type="doc">
      <dgm:prSet loTypeId="urn:microsoft.com/office/officeart/2009/3/layout/RandomtoResultProcess" loCatId="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B43CA74-B8F4-BD4E-A409-4D01151ABAC7}">
      <dgm:prSet phldrT="[Text]" custT="1"/>
      <dgm:spPr/>
      <dgm:t>
        <a:bodyPr/>
        <a:lstStyle/>
        <a:p>
          <a:r>
            <a:rPr lang="en-GB" sz="3200" dirty="0"/>
            <a:t>Alle </a:t>
          </a:r>
          <a:r>
            <a:rPr lang="en-GB" sz="3200" dirty="0" err="1"/>
            <a:t>systemer</a:t>
          </a:r>
          <a:endParaRPr lang="en-GB" sz="3200" dirty="0"/>
        </a:p>
      </dgm:t>
    </dgm:pt>
    <dgm:pt modelId="{91D360E7-97DC-DF44-BFA1-C5A1C989C3CF}" type="parTrans" cxnId="{3C46C768-A597-504E-B840-67BDB57AE159}">
      <dgm:prSet/>
      <dgm:spPr/>
      <dgm:t>
        <a:bodyPr/>
        <a:lstStyle/>
        <a:p>
          <a:endParaRPr lang="en-GB" sz="1600"/>
        </a:p>
      </dgm:t>
    </dgm:pt>
    <dgm:pt modelId="{F00A255F-3439-574E-AB37-2D2538D05A80}" type="sibTrans" cxnId="{3C46C768-A597-504E-B840-67BDB57AE159}">
      <dgm:prSet phldrT="1" phldr="0"/>
      <dgm:spPr/>
      <dgm:t>
        <a:bodyPr/>
        <a:lstStyle/>
        <a:p>
          <a:endParaRPr lang="en-GB"/>
        </a:p>
      </dgm:t>
    </dgm:pt>
    <dgm:pt modelId="{0B2EA79A-CA4A-1A44-AC32-055F1AD9847A}">
      <dgm:prSet phldrT="[Text]" custT="1"/>
      <dgm:spPr/>
      <dgm:t>
        <a:bodyPr/>
        <a:lstStyle/>
        <a:p>
          <a:r>
            <a:rPr lang="en-GB" sz="3200" dirty="0"/>
            <a:t>1. </a:t>
          </a:r>
          <a:r>
            <a:rPr lang="en-GB" sz="3200" dirty="0" err="1"/>
            <a:t>Udvælgelse</a:t>
          </a:r>
          <a:br>
            <a:rPr lang="en-GB" sz="3200" dirty="0"/>
          </a:br>
          <a:r>
            <a:rPr lang="en-GB" sz="3200" dirty="0"/>
            <a:t>Kan </a:t>
          </a:r>
          <a:r>
            <a:rPr lang="en-GB" sz="3200" dirty="0" err="1"/>
            <a:t>og</a:t>
          </a:r>
          <a:r>
            <a:rPr lang="en-GB" sz="3200" dirty="0"/>
            <a:t> </a:t>
          </a:r>
          <a:r>
            <a:rPr lang="en-GB" sz="3200" dirty="0" err="1"/>
            <a:t>bør</a:t>
          </a:r>
          <a:r>
            <a:rPr lang="en-GB" sz="3200" dirty="0"/>
            <a:t> vi?</a:t>
          </a:r>
        </a:p>
      </dgm:t>
    </dgm:pt>
    <dgm:pt modelId="{665E3343-6EE2-8342-93A9-56100DD10EDA}" type="parTrans" cxnId="{998D7452-DA93-1A48-B32A-4C855C81B61F}">
      <dgm:prSet/>
      <dgm:spPr/>
      <dgm:t>
        <a:bodyPr/>
        <a:lstStyle/>
        <a:p>
          <a:endParaRPr lang="en-GB" sz="1600"/>
        </a:p>
      </dgm:t>
    </dgm:pt>
    <dgm:pt modelId="{CCA0D253-3591-8B4E-9BD0-4CEE7A4C5622}" type="sibTrans" cxnId="{998D7452-DA93-1A48-B32A-4C855C81B61F}">
      <dgm:prSet/>
      <dgm:spPr/>
      <dgm:t>
        <a:bodyPr/>
        <a:lstStyle/>
        <a:p>
          <a:endParaRPr lang="en-GB" sz="1600"/>
        </a:p>
      </dgm:t>
    </dgm:pt>
    <dgm:pt modelId="{8E65101E-E372-9D40-B0C7-758957C0CAA0}">
      <dgm:prSet phldrT="[Text]" custT="1"/>
      <dgm:spPr/>
      <dgm:t>
        <a:bodyPr/>
        <a:lstStyle/>
        <a:p>
          <a:r>
            <a:rPr lang="en-GB" sz="3200" dirty="0" err="1"/>
            <a:t>Udvalgte</a:t>
          </a:r>
          <a:r>
            <a:rPr lang="en-GB" sz="3200" dirty="0"/>
            <a:t> </a:t>
          </a:r>
          <a:r>
            <a:rPr lang="en-GB" sz="3200" dirty="0" err="1"/>
            <a:t>systemer</a:t>
          </a:r>
          <a:br>
            <a:rPr lang="en-GB" sz="3200" dirty="0"/>
          </a:br>
          <a:br>
            <a:rPr lang="en-GB" sz="3200" dirty="0"/>
          </a:br>
          <a:br>
            <a:rPr lang="en-GB" sz="3200" dirty="0"/>
          </a:br>
          <a:br>
            <a:rPr lang="en-GB" sz="3200" dirty="0"/>
          </a:br>
          <a:br>
            <a:rPr lang="en-GB" sz="3200" dirty="0"/>
          </a:br>
          <a:endParaRPr lang="en-GB" sz="3200" dirty="0"/>
        </a:p>
      </dgm:t>
    </dgm:pt>
    <dgm:pt modelId="{8F42C794-971D-B34E-A8FD-04CF881A160D}" type="parTrans" cxnId="{8E6F7920-4AFA-A448-965A-C14174421551}">
      <dgm:prSet/>
      <dgm:spPr/>
      <dgm:t>
        <a:bodyPr/>
        <a:lstStyle/>
        <a:p>
          <a:endParaRPr lang="en-GB" sz="1600"/>
        </a:p>
      </dgm:t>
    </dgm:pt>
    <dgm:pt modelId="{9B8FCDD7-B679-1844-B982-037133FC7B60}" type="sibTrans" cxnId="{8E6F7920-4AFA-A448-965A-C14174421551}">
      <dgm:prSet phldrT="2" phldr="0"/>
      <dgm:spPr/>
      <dgm:t>
        <a:bodyPr/>
        <a:lstStyle/>
        <a:p>
          <a:endParaRPr lang="en-GB"/>
        </a:p>
      </dgm:t>
    </dgm:pt>
    <dgm:pt modelId="{F397AB6A-24AF-A74F-B952-AA454B193C13}">
      <dgm:prSet phldrT="[Text]" custT="1"/>
      <dgm:spPr/>
      <dgm:t>
        <a:bodyPr/>
        <a:lstStyle/>
        <a:p>
          <a:r>
            <a:rPr lang="en-GB" sz="3200" dirty="0"/>
            <a:t>2. </a:t>
          </a:r>
          <a:r>
            <a:rPr lang="en-GB" sz="3200" dirty="0" err="1"/>
            <a:t>Prioritering</a:t>
          </a:r>
          <a:br>
            <a:rPr lang="en-GB" sz="3200" dirty="0"/>
          </a:br>
          <a:r>
            <a:rPr lang="en-GB" sz="3200" dirty="0" err="1"/>
            <a:t>Hvornår</a:t>
          </a:r>
          <a:r>
            <a:rPr lang="en-GB" sz="3200" dirty="0"/>
            <a:t>?</a:t>
          </a:r>
        </a:p>
      </dgm:t>
    </dgm:pt>
    <dgm:pt modelId="{31063455-4B4F-DE4F-9E19-ABC5764A46B2}" type="parTrans" cxnId="{8B51E17E-8C88-F444-B18E-EB3C98C3C9FB}">
      <dgm:prSet/>
      <dgm:spPr/>
      <dgm:t>
        <a:bodyPr/>
        <a:lstStyle/>
        <a:p>
          <a:endParaRPr lang="en-GB" sz="1600"/>
        </a:p>
      </dgm:t>
    </dgm:pt>
    <dgm:pt modelId="{9FBAF94B-8B8F-6241-9CDB-25AB49B158D8}" type="sibTrans" cxnId="{8B51E17E-8C88-F444-B18E-EB3C98C3C9FB}">
      <dgm:prSet/>
      <dgm:spPr/>
      <dgm:t>
        <a:bodyPr/>
        <a:lstStyle/>
        <a:p>
          <a:endParaRPr lang="en-GB" sz="1600"/>
        </a:p>
      </dgm:t>
    </dgm:pt>
    <dgm:pt modelId="{30EDD04F-B9D8-9245-AB35-B9EEB4C43436}">
      <dgm:prSet phldrT="[Text]" custT="1"/>
      <dgm:spPr>
        <a:ln w="12700"/>
      </dgm:spPr>
      <dgm:t>
        <a:bodyPr/>
        <a:lstStyle/>
        <a:p>
          <a:r>
            <a:rPr lang="en-GB" sz="3200" dirty="0" err="1">
              <a:solidFill>
                <a:schemeClr val="bg1"/>
              </a:solidFill>
            </a:rPr>
            <a:t>Konkret</a:t>
          </a:r>
          <a:r>
            <a:rPr lang="en-GB" sz="3200" dirty="0">
              <a:solidFill>
                <a:schemeClr val="bg1"/>
              </a:solidFill>
            </a:rPr>
            <a:t> system</a:t>
          </a:r>
        </a:p>
      </dgm:t>
    </dgm:pt>
    <dgm:pt modelId="{6A4C0E55-F33B-A447-8EF0-DD480194C207}" type="parTrans" cxnId="{EEB4C226-EF1A-8041-9E07-4ACBC6D70E80}">
      <dgm:prSet/>
      <dgm:spPr/>
      <dgm:t>
        <a:bodyPr/>
        <a:lstStyle/>
        <a:p>
          <a:endParaRPr lang="en-GB" sz="1600"/>
        </a:p>
      </dgm:t>
    </dgm:pt>
    <dgm:pt modelId="{4B6B71BB-B6C8-2D4A-B867-A9A6BD0E65F8}" type="sibTrans" cxnId="{EEB4C226-EF1A-8041-9E07-4ACBC6D70E80}">
      <dgm:prSet phldrT="3" phldr="0"/>
      <dgm:spPr/>
      <dgm:t>
        <a:bodyPr/>
        <a:lstStyle/>
        <a:p>
          <a:endParaRPr lang="en-GB"/>
        </a:p>
      </dgm:t>
    </dgm:pt>
    <dgm:pt modelId="{814C376F-7F73-E347-94CA-92EF76FCCDB1}">
      <dgm:prSet phldrT="[Text]" custT="1"/>
      <dgm:spPr/>
      <dgm:t>
        <a:bodyPr/>
        <a:lstStyle/>
        <a:p>
          <a:r>
            <a:rPr lang="en-GB" sz="3200" dirty="0"/>
            <a:t>3. Selve </a:t>
          </a:r>
          <a:r>
            <a:rPr lang="en-GB" sz="3200" dirty="0" err="1"/>
            <a:t>migrerings-procesen</a:t>
          </a:r>
          <a:r>
            <a:rPr lang="en-GB" sz="3200" dirty="0"/>
            <a:t> </a:t>
          </a:r>
        </a:p>
      </dgm:t>
    </dgm:pt>
    <dgm:pt modelId="{137B658E-68BB-B344-A941-FE8B950F6F48}" type="parTrans" cxnId="{0FFDF048-00C2-D443-9B3B-E07FF26C8507}">
      <dgm:prSet/>
      <dgm:spPr/>
      <dgm:t>
        <a:bodyPr/>
        <a:lstStyle/>
        <a:p>
          <a:endParaRPr lang="en-GB" sz="1600"/>
        </a:p>
      </dgm:t>
    </dgm:pt>
    <dgm:pt modelId="{1B5A8CAD-3AAB-3A48-827F-59CF09AB42AF}" type="sibTrans" cxnId="{0FFDF048-00C2-D443-9B3B-E07FF26C8507}">
      <dgm:prSet/>
      <dgm:spPr/>
      <dgm:t>
        <a:bodyPr/>
        <a:lstStyle/>
        <a:p>
          <a:endParaRPr lang="en-GB" sz="1600"/>
        </a:p>
      </dgm:t>
    </dgm:pt>
    <dgm:pt modelId="{F5BEC0F2-0B82-474A-8F8D-E66BE3BC1050}" type="pres">
      <dgm:prSet presAssocID="{8C4FEAAD-EA1B-8D4E-B88C-09A86F9AF473}" presName="Name0" presStyleCnt="0">
        <dgm:presLayoutVars>
          <dgm:dir/>
          <dgm:animOne val="branch"/>
          <dgm:animLvl val="lvl"/>
        </dgm:presLayoutVars>
      </dgm:prSet>
      <dgm:spPr/>
    </dgm:pt>
    <dgm:pt modelId="{C3D33FB4-64BF-B543-B92E-40B6573421C7}" type="pres">
      <dgm:prSet presAssocID="{3B43CA74-B8F4-BD4E-A409-4D01151ABAC7}" presName="chaos" presStyleCnt="0"/>
      <dgm:spPr/>
    </dgm:pt>
    <dgm:pt modelId="{D632D019-97F0-254B-9831-761A660430E0}" type="pres">
      <dgm:prSet presAssocID="{3B43CA74-B8F4-BD4E-A409-4D01151ABAC7}" presName="parTx1" presStyleLbl="revTx" presStyleIdx="0" presStyleCnt="5"/>
      <dgm:spPr/>
    </dgm:pt>
    <dgm:pt modelId="{6138F25F-6E7A-C049-9383-25DF1CCE319F}" type="pres">
      <dgm:prSet presAssocID="{3B43CA74-B8F4-BD4E-A409-4D01151ABAC7}" presName="desTx1" presStyleLbl="revTx" presStyleIdx="1" presStyleCnt="5">
        <dgm:presLayoutVars>
          <dgm:bulletEnabled val="1"/>
        </dgm:presLayoutVars>
      </dgm:prSet>
      <dgm:spPr/>
    </dgm:pt>
    <dgm:pt modelId="{2253DD65-0B6B-B745-9058-A5DC27FFC1EF}" type="pres">
      <dgm:prSet presAssocID="{3B43CA74-B8F4-BD4E-A409-4D01151ABAC7}" presName="c1" presStyleLbl="node1" presStyleIdx="0" presStyleCnt="19"/>
      <dgm:spPr/>
    </dgm:pt>
    <dgm:pt modelId="{0B075344-42CC-FD43-9BF3-E03A3FD2776F}" type="pres">
      <dgm:prSet presAssocID="{3B43CA74-B8F4-BD4E-A409-4D01151ABAC7}" presName="c2" presStyleLbl="node1" presStyleIdx="1" presStyleCnt="19"/>
      <dgm:spPr/>
    </dgm:pt>
    <dgm:pt modelId="{B7C0AB63-281F-5C49-9E42-67E5B37EAFCF}" type="pres">
      <dgm:prSet presAssocID="{3B43CA74-B8F4-BD4E-A409-4D01151ABAC7}" presName="c3" presStyleLbl="node1" presStyleIdx="2" presStyleCnt="19"/>
      <dgm:spPr/>
    </dgm:pt>
    <dgm:pt modelId="{2E6E07E7-3143-CA49-B343-BA5E4A2DBD83}" type="pres">
      <dgm:prSet presAssocID="{3B43CA74-B8F4-BD4E-A409-4D01151ABAC7}" presName="c4" presStyleLbl="node1" presStyleIdx="3" presStyleCnt="19"/>
      <dgm:spPr/>
    </dgm:pt>
    <dgm:pt modelId="{8D2C8CCF-0DB0-3942-85E0-01029B847F08}" type="pres">
      <dgm:prSet presAssocID="{3B43CA74-B8F4-BD4E-A409-4D01151ABAC7}" presName="c5" presStyleLbl="node1" presStyleIdx="4" presStyleCnt="19"/>
      <dgm:spPr/>
    </dgm:pt>
    <dgm:pt modelId="{80CD7B97-23EE-0440-9608-3E29F860F069}" type="pres">
      <dgm:prSet presAssocID="{3B43CA74-B8F4-BD4E-A409-4D01151ABAC7}" presName="c6" presStyleLbl="node1" presStyleIdx="5" presStyleCnt="19"/>
      <dgm:spPr/>
    </dgm:pt>
    <dgm:pt modelId="{ED8721EB-A16F-184A-B4F4-8B4154D3D0E9}" type="pres">
      <dgm:prSet presAssocID="{3B43CA74-B8F4-BD4E-A409-4D01151ABAC7}" presName="c7" presStyleLbl="node1" presStyleIdx="6" presStyleCnt="19"/>
      <dgm:spPr/>
    </dgm:pt>
    <dgm:pt modelId="{1DD3B466-C883-3A45-82C8-DC5078C77ABE}" type="pres">
      <dgm:prSet presAssocID="{3B43CA74-B8F4-BD4E-A409-4D01151ABAC7}" presName="c8" presStyleLbl="node1" presStyleIdx="7" presStyleCnt="19"/>
      <dgm:spPr/>
    </dgm:pt>
    <dgm:pt modelId="{E519FA85-7501-5F47-98CA-E7B851599BE7}" type="pres">
      <dgm:prSet presAssocID="{3B43CA74-B8F4-BD4E-A409-4D01151ABAC7}" presName="c9" presStyleLbl="node1" presStyleIdx="8" presStyleCnt="19"/>
      <dgm:spPr/>
    </dgm:pt>
    <dgm:pt modelId="{9C589B29-AF01-FE4E-A462-0A22465C8DD0}" type="pres">
      <dgm:prSet presAssocID="{3B43CA74-B8F4-BD4E-A409-4D01151ABAC7}" presName="c10" presStyleLbl="node1" presStyleIdx="9" presStyleCnt="19"/>
      <dgm:spPr/>
    </dgm:pt>
    <dgm:pt modelId="{29F92841-3CF5-C047-B165-9219DAFB0DA6}" type="pres">
      <dgm:prSet presAssocID="{3B43CA74-B8F4-BD4E-A409-4D01151ABAC7}" presName="c11" presStyleLbl="node1" presStyleIdx="10" presStyleCnt="19"/>
      <dgm:spPr/>
    </dgm:pt>
    <dgm:pt modelId="{75AFE0F7-3F3C-8D46-84C3-8261CCAB47E1}" type="pres">
      <dgm:prSet presAssocID="{3B43CA74-B8F4-BD4E-A409-4D01151ABAC7}" presName="c12" presStyleLbl="node1" presStyleIdx="11" presStyleCnt="19"/>
      <dgm:spPr/>
    </dgm:pt>
    <dgm:pt modelId="{F6865791-268F-8A4F-A65C-59335A4467C5}" type="pres">
      <dgm:prSet presAssocID="{3B43CA74-B8F4-BD4E-A409-4D01151ABAC7}" presName="c13" presStyleLbl="node1" presStyleIdx="12" presStyleCnt="19"/>
      <dgm:spPr/>
    </dgm:pt>
    <dgm:pt modelId="{80FE26AC-073C-C847-B70F-6AA0A6F47690}" type="pres">
      <dgm:prSet presAssocID="{3B43CA74-B8F4-BD4E-A409-4D01151ABAC7}" presName="c14" presStyleLbl="node1" presStyleIdx="13" presStyleCnt="19"/>
      <dgm:spPr/>
    </dgm:pt>
    <dgm:pt modelId="{B2F781C3-780B-9546-AE45-B7B3C888A19F}" type="pres">
      <dgm:prSet presAssocID="{3B43CA74-B8F4-BD4E-A409-4D01151ABAC7}" presName="c15" presStyleLbl="node1" presStyleIdx="14" presStyleCnt="19"/>
      <dgm:spPr/>
    </dgm:pt>
    <dgm:pt modelId="{62544A28-23F6-1A4E-B234-551B7FC485BE}" type="pres">
      <dgm:prSet presAssocID="{3B43CA74-B8F4-BD4E-A409-4D01151ABAC7}" presName="c16" presStyleLbl="node1" presStyleIdx="15" presStyleCnt="19"/>
      <dgm:spPr/>
    </dgm:pt>
    <dgm:pt modelId="{90A50432-1EF0-B34B-BD83-BB966E0242D1}" type="pres">
      <dgm:prSet presAssocID="{3B43CA74-B8F4-BD4E-A409-4D01151ABAC7}" presName="c17" presStyleLbl="node1" presStyleIdx="16" presStyleCnt="19"/>
      <dgm:spPr/>
    </dgm:pt>
    <dgm:pt modelId="{D30B6194-5637-8A4A-B9D3-0E76C6B54235}" type="pres">
      <dgm:prSet presAssocID="{3B43CA74-B8F4-BD4E-A409-4D01151ABAC7}" presName="c18" presStyleLbl="node1" presStyleIdx="17" presStyleCnt="19"/>
      <dgm:spPr/>
    </dgm:pt>
    <dgm:pt modelId="{3C59E799-3E9A-7D46-B02F-E41B980F90AA}" type="pres">
      <dgm:prSet presAssocID="{F00A255F-3439-574E-AB37-2D2538D05A80}" presName="chevronComposite1" presStyleCnt="0"/>
      <dgm:spPr/>
    </dgm:pt>
    <dgm:pt modelId="{2ED5470F-8472-4343-83BB-09CF6E666779}" type="pres">
      <dgm:prSet presAssocID="{F00A255F-3439-574E-AB37-2D2538D05A80}" presName="chevron1" presStyleLbl="sibTrans2D1" presStyleIdx="0" presStyleCnt="2"/>
      <dgm:spPr/>
    </dgm:pt>
    <dgm:pt modelId="{373787F6-A22D-8547-90D6-6FFA7D8B3637}" type="pres">
      <dgm:prSet presAssocID="{F00A255F-3439-574E-AB37-2D2538D05A80}" presName="spChevron1" presStyleCnt="0"/>
      <dgm:spPr/>
    </dgm:pt>
    <dgm:pt modelId="{26E0B12E-7C94-064B-A1B1-D5316F656B08}" type="pres">
      <dgm:prSet presAssocID="{8E65101E-E372-9D40-B0C7-758957C0CAA0}" presName="middle" presStyleCnt="0"/>
      <dgm:spPr/>
    </dgm:pt>
    <dgm:pt modelId="{686A06F5-4621-314B-8E63-06C0F2F6E1B9}" type="pres">
      <dgm:prSet presAssocID="{8E65101E-E372-9D40-B0C7-758957C0CAA0}" presName="parTxMid" presStyleLbl="revTx" presStyleIdx="2" presStyleCnt="5"/>
      <dgm:spPr/>
    </dgm:pt>
    <dgm:pt modelId="{92ED8959-C894-6B44-B898-35CB56AA5F5B}" type="pres">
      <dgm:prSet presAssocID="{8E65101E-E372-9D40-B0C7-758957C0CAA0}" presName="desTxMid" presStyleLbl="revTx" presStyleIdx="3" presStyleCnt="5">
        <dgm:presLayoutVars>
          <dgm:bulletEnabled val="1"/>
        </dgm:presLayoutVars>
      </dgm:prSet>
      <dgm:spPr/>
    </dgm:pt>
    <dgm:pt modelId="{D567F67A-E223-1341-8980-C14DB3FF57CA}" type="pres">
      <dgm:prSet presAssocID="{8E65101E-E372-9D40-B0C7-758957C0CAA0}" presName="spMid" presStyleCnt="0"/>
      <dgm:spPr/>
    </dgm:pt>
    <dgm:pt modelId="{7742F1F9-404C-C341-8817-3A96EA92B9CE}" type="pres">
      <dgm:prSet presAssocID="{9B8FCDD7-B679-1844-B982-037133FC7B60}" presName="chevronComposite1" presStyleCnt="0"/>
      <dgm:spPr/>
    </dgm:pt>
    <dgm:pt modelId="{6BB96423-0088-3F4B-92AF-05BC36996745}" type="pres">
      <dgm:prSet presAssocID="{9B8FCDD7-B679-1844-B982-037133FC7B60}" presName="chevron1" presStyleLbl="sibTrans2D1" presStyleIdx="1" presStyleCnt="2"/>
      <dgm:spPr/>
    </dgm:pt>
    <dgm:pt modelId="{124AC25B-6B51-EE4B-AE8D-CC2156E0EF1E}" type="pres">
      <dgm:prSet presAssocID="{9B8FCDD7-B679-1844-B982-037133FC7B60}" presName="spChevron1" presStyleCnt="0"/>
      <dgm:spPr/>
    </dgm:pt>
    <dgm:pt modelId="{45B75BBA-CA26-744F-8E10-534D740D2730}" type="pres">
      <dgm:prSet presAssocID="{30EDD04F-B9D8-9245-AB35-B9EEB4C43436}" presName="last" presStyleCnt="0"/>
      <dgm:spPr/>
    </dgm:pt>
    <dgm:pt modelId="{23810416-DE79-0541-9DD8-495C2E271994}" type="pres">
      <dgm:prSet presAssocID="{30EDD04F-B9D8-9245-AB35-B9EEB4C43436}" presName="circleTx" presStyleLbl="node1" presStyleIdx="18" presStyleCnt="19"/>
      <dgm:spPr/>
    </dgm:pt>
    <dgm:pt modelId="{1FBCA192-D746-AB4E-A7D5-B66B71EE9DE0}" type="pres">
      <dgm:prSet presAssocID="{30EDD04F-B9D8-9245-AB35-B9EEB4C43436}" presName="desTxN" presStyleLbl="revTx" presStyleIdx="4" presStyleCnt="5" custScaleX="134911">
        <dgm:presLayoutVars>
          <dgm:bulletEnabled val="1"/>
        </dgm:presLayoutVars>
      </dgm:prSet>
      <dgm:spPr/>
    </dgm:pt>
    <dgm:pt modelId="{AEC9CE73-F856-7240-A1DF-DD7B87A99FFC}" type="pres">
      <dgm:prSet presAssocID="{30EDD04F-B9D8-9245-AB35-B9EEB4C43436}" presName="spN" presStyleCnt="0"/>
      <dgm:spPr/>
    </dgm:pt>
  </dgm:ptLst>
  <dgm:cxnLst>
    <dgm:cxn modelId="{EA4ABD1E-DCAB-DD49-B2D9-16B80467070F}" type="presOf" srcId="{0B2EA79A-CA4A-1A44-AC32-055F1AD9847A}" destId="{6138F25F-6E7A-C049-9383-25DF1CCE319F}" srcOrd="0" destOrd="0" presId="urn:microsoft.com/office/officeart/2009/3/layout/RandomtoResultProcess"/>
    <dgm:cxn modelId="{8E6F7920-4AFA-A448-965A-C14174421551}" srcId="{8C4FEAAD-EA1B-8D4E-B88C-09A86F9AF473}" destId="{8E65101E-E372-9D40-B0C7-758957C0CAA0}" srcOrd="1" destOrd="0" parTransId="{8F42C794-971D-B34E-A8FD-04CF881A160D}" sibTransId="{9B8FCDD7-B679-1844-B982-037133FC7B60}"/>
    <dgm:cxn modelId="{EEB4C226-EF1A-8041-9E07-4ACBC6D70E80}" srcId="{8C4FEAAD-EA1B-8D4E-B88C-09A86F9AF473}" destId="{30EDD04F-B9D8-9245-AB35-B9EEB4C43436}" srcOrd="2" destOrd="0" parTransId="{6A4C0E55-F33B-A447-8EF0-DD480194C207}" sibTransId="{4B6B71BB-B6C8-2D4A-B867-A9A6BD0E65F8}"/>
    <dgm:cxn modelId="{6A3D4F41-0261-4543-86FD-1FFDC0607C86}" type="presOf" srcId="{8C4FEAAD-EA1B-8D4E-B88C-09A86F9AF473}" destId="{F5BEC0F2-0B82-474A-8F8D-E66BE3BC1050}" srcOrd="0" destOrd="0" presId="urn:microsoft.com/office/officeart/2009/3/layout/RandomtoResultProcess"/>
    <dgm:cxn modelId="{72AA3648-467E-C545-BCD5-72EBCE36BD6B}" type="presOf" srcId="{F397AB6A-24AF-A74F-B952-AA454B193C13}" destId="{92ED8959-C894-6B44-B898-35CB56AA5F5B}" srcOrd="0" destOrd="0" presId="urn:microsoft.com/office/officeart/2009/3/layout/RandomtoResultProcess"/>
    <dgm:cxn modelId="{0FFDF048-00C2-D443-9B3B-E07FF26C8507}" srcId="{30EDD04F-B9D8-9245-AB35-B9EEB4C43436}" destId="{814C376F-7F73-E347-94CA-92EF76FCCDB1}" srcOrd="0" destOrd="0" parTransId="{137B658E-68BB-B344-A941-FE8B950F6F48}" sibTransId="{1B5A8CAD-3AAB-3A48-827F-59CF09AB42AF}"/>
    <dgm:cxn modelId="{6BB72B4B-727C-DB45-A1C6-254D38EE863C}" type="presOf" srcId="{30EDD04F-B9D8-9245-AB35-B9EEB4C43436}" destId="{23810416-DE79-0541-9DD8-495C2E271994}" srcOrd="0" destOrd="0" presId="urn:microsoft.com/office/officeart/2009/3/layout/RandomtoResultProcess"/>
    <dgm:cxn modelId="{998D7452-DA93-1A48-B32A-4C855C81B61F}" srcId="{3B43CA74-B8F4-BD4E-A409-4D01151ABAC7}" destId="{0B2EA79A-CA4A-1A44-AC32-055F1AD9847A}" srcOrd="0" destOrd="0" parTransId="{665E3343-6EE2-8342-93A9-56100DD10EDA}" sibTransId="{CCA0D253-3591-8B4E-9BD0-4CEE7A4C5622}"/>
    <dgm:cxn modelId="{19D7EE60-A757-5A4E-8CB7-6C35339DFF90}" type="presOf" srcId="{8E65101E-E372-9D40-B0C7-758957C0CAA0}" destId="{686A06F5-4621-314B-8E63-06C0F2F6E1B9}" srcOrd="0" destOrd="0" presId="urn:microsoft.com/office/officeart/2009/3/layout/RandomtoResultProcess"/>
    <dgm:cxn modelId="{3C46C768-A597-504E-B840-67BDB57AE159}" srcId="{8C4FEAAD-EA1B-8D4E-B88C-09A86F9AF473}" destId="{3B43CA74-B8F4-BD4E-A409-4D01151ABAC7}" srcOrd="0" destOrd="0" parTransId="{91D360E7-97DC-DF44-BFA1-C5A1C989C3CF}" sibTransId="{F00A255F-3439-574E-AB37-2D2538D05A80}"/>
    <dgm:cxn modelId="{8B51E17E-8C88-F444-B18E-EB3C98C3C9FB}" srcId="{8E65101E-E372-9D40-B0C7-758957C0CAA0}" destId="{F397AB6A-24AF-A74F-B952-AA454B193C13}" srcOrd="0" destOrd="0" parTransId="{31063455-4B4F-DE4F-9E19-ABC5764A46B2}" sibTransId="{9FBAF94B-8B8F-6241-9CDB-25AB49B158D8}"/>
    <dgm:cxn modelId="{CE245FD4-3108-CB42-9A74-71884D4F589A}" type="presOf" srcId="{3B43CA74-B8F4-BD4E-A409-4D01151ABAC7}" destId="{D632D019-97F0-254B-9831-761A660430E0}" srcOrd="0" destOrd="0" presId="urn:microsoft.com/office/officeart/2009/3/layout/RandomtoResultProcess"/>
    <dgm:cxn modelId="{740501E5-47D6-4A4B-AD1A-BA72EA252CEB}" type="presOf" srcId="{814C376F-7F73-E347-94CA-92EF76FCCDB1}" destId="{1FBCA192-D746-AB4E-A7D5-B66B71EE9DE0}" srcOrd="0" destOrd="0" presId="urn:microsoft.com/office/officeart/2009/3/layout/RandomtoResultProcess"/>
    <dgm:cxn modelId="{97ECEE32-DE2E-DF43-B067-344218539C84}" type="presParOf" srcId="{F5BEC0F2-0B82-474A-8F8D-E66BE3BC1050}" destId="{C3D33FB4-64BF-B543-B92E-40B6573421C7}" srcOrd="0" destOrd="0" presId="urn:microsoft.com/office/officeart/2009/3/layout/RandomtoResultProcess"/>
    <dgm:cxn modelId="{F2B79BCC-2BBE-A644-8E06-A4D716C32CFF}" type="presParOf" srcId="{C3D33FB4-64BF-B543-B92E-40B6573421C7}" destId="{D632D019-97F0-254B-9831-761A660430E0}" srcOrd="0" destOrd="0" presId="urn:microsoft.com/office/officeart/2009/3/layout/RandomtoResultProcess"/>
    <dgm:cxn modelId="{ADC77DFE-6EE1-6D47-A186-AE38D514FBB3}" type="presParOf" srcId="{C3D33FB4-64BF-B543-B92E-40B6573421C7}" destId="{6138F25F-6E7A-C049-9383-25DF1CCE319F}" srcOrd="1" destOrd="0" presId="urn:microsoft.com/office/officeart/2009/3/layout/RandomtoResultProcess"/>
    <dgm:cxn modelId="{3474CB17-1C62-644E-9B01-C426DC050355}" type="presParOf" srcId="{C3D33FB4-64BF-B543-B92E-40B6573421C7}" destId="{2253DD65-0B6B-B745-9058-A5DC27FFC1EF}" srcOrd="2" destOrd="0" presId="urn:microsoft.com/office/officeart/2009/3/layout/RandomtoResultProcess"/>
    <dgm:cxn modelId="{BFD190EC-8B2F-E84C-81CA-AA58B969D009}" type="presParOf" srcId="{C3D33FB4-64BF-B543-B92E-40B6573421C7}" destId="{0B075344-42CC-FD43-9BF3-E03A3FD2776F}" srcOrd="3" destOrd="0" presId="urn:microsoft.com/office/officeart/2009/3/layout/RandomtoResultProcess"/>
    <dgm:cxn modelId="{5A2980B1-356F-B242-A4AB-A721C82326FE}" type="presParOf" srcId="{C3D33FB4-64BF-B543-B92E-40B6573421C7}" destId="{B7C0AB63-281F-5C49-9E42-67E5B37EAFCF}" srcOrd="4" destOrd="0" presId="urn:microsoft.com/office/officeart/2009/3/layout/RandomtoResultProcess"/>
    <dgm:cxn modelId="{0950C379-CB0A-694E-B2CD-61F54813E97B}" type="presParOf" srcId="{C3D33FB4-64BF-B543-B92E-40B6573421C7}" destId="{2E6E07E7-3143-CA49-B343-BA5E4A2DBD83}" srcOrd="5" destOrd="0" presId="urn:microsoft.com/office/officeart/2009/3/layout/RandomtoResultProcess"/>
    <dgm:cxn modelId="{F9D3DACE-6610-574F-BA52-C447CA7EAFBC}" type="presParOf" srcId="{C3D33FB4-64BF-B543-B92E-40B6573421C7}" destId="{8D2C8CCF-0DB0-3942-85E0-01029B847F08}" srcOrd="6" destOrd="0" presId="urn:microsoft.com/office/officeart/2009/3/layout/RandomtoResultProcess"/>
    <dgm:cxn modelId="{919152D0-55A4-5946-8D80-AAEB7D9BA01F}" type="presParOf" srcId="{C3D33FB4-64BF-B543-B92E-40B6573421C7}" destId="{80CD7B97-23EE-0440-9608-3E29F860F069}" srcOrd="7" destOrd="0" presId="urn:microsoft.com/office/officeart/2009/3/layout/RandomtoResultProcess"/>
    <dgm:cxn modelId="{53953E32-A11A-A44B-9BBD-5E8F5D599AF4}" type="presParOf" srcId="{C3D33FB4-64BF-B543-B92E-40B6573421C7}" destId="{ED8721EB-A16F-184A-B4F4-8B4154D3D0E9}" srcOrd="8" destOrd="0" presId="urn:microsoft.com/office/officeart/2009/3/layout/RandomtoResultProcess"/>
    <dgm:cxn modelId="{6545E395-83DE-AA4A-9B0B-2AD34153BB03}" type="presParOf" srcId="{C3D33FB4-64BF-B543-B92E-40B6573421C7}" destId="{1DD3B466-C883-3A45-82C8-DC5078C77ABE}" srcOrd="9" destOrd="0" presId="urn:microsoft.com/office/officeart/2009/3/layout/RandomtoResultProcess"/>
    <dgm:cxn modelId="{FA68DAD4-DD57-254A-BCC1-364E0CAAE658}" type="presParOf" srcId="{C3D33FB4-64BF-B543-B92E-40B6573421C7}" destId="{E519FA85-7501-5F47-98CA-E7B851599BE7}" srcOrd="10" destOrd="0" presId="urn:microsoft.com/office/officeart/2009/3/layout/RandomtoResultProcess"/>
    <dgm:cxn modelId="{C48EEC74-4335-5842-B470-742C177FF261}" type="presParOf" srcId="{C3D33FB4-64BF-B543-B92E-40B6573421C7}" destId="{9C589B29-AF01-FE4E-A462-0A22465C8DD0}" srcOrd="11" destOrd="0" presId="urn:microsoft.com/office/officeart/2009/3/layout/RandomtoResultProcess"/>
    <dgm:cxn modelId="{85A77B96-8800-E84F-9A53-A88988CF7386}" type="presParOf" srcId="{C3D33FB4-64BF-B543-B92E-40B6573421C7}" destId="{29F92841-3CF5-C047-B165-9219DAFB0DA6}" srcOrd="12" destOrd="0" presId="urn:microsoft.com/office/officeart/2009/3/layout/RandomtoResultProcess"/>
    <dgm:cxn modelId="{08C2E161-DCB6-D249-A85F-CFE4E97B5F96}" type="presParOf" srcId="{C3D33FB4-64BF-B543-B92E-40B6573421C7}" destId="{75AFE0F7-3F3C-8D46-84C3-8261CCAB47E1}" srcOrd="13" destOrd="0" presId="urn:microsoft.com/office/officeart/2009/3/layout/RandomtoResultProcess"/>
    <dgm:cxn modelId="{7BA0820A-0E8B-AB45-9819-A51A0D99E0F8}" type="presParOf" srcId="{C3D33FB4-64BF-B543-B92E-40B6573421C7}" destId="{F6865791-268F-8A4F-A65C-59335A4467C5}" srcOrd="14" destOrd="0" presId="urn:microsoft.com/office/officeart/2009/3/layout/RandomtoResultProcess"/>
    <dgm:cxn modelId="{5187CCA9-B9E1-8749-B5CB-6CDA9815F54D}" type="presParOf" srcId="{C3D33FB4-64BF-B543-B92E-40B6573421C7}" destId="{80FE26AC-073C-C847-B70F-6AA0A6F47690}" srcOrd="15" destOrd="0" presId="urn:microsoft.com/office/officeart/2009/3/layout/RandomtoResultProcess"/>
    <dgm:cxn modelId="{5822A834-2F4C-8B44-8312-97E06FE523A5}" type="presParOf" srcId="{C3D33FB4-64BF-B543-B92E-40B6573421C7}" destId="{B2F781C3-780B-9546-AE45-B7B3C888A19F}" srcOrd="16" destOrd="0" presId="urn:microsoft.com/office/officeart/2009/3/layout/RandomtoResultProcess"/>
    <dgm:cxn modelId="{071B9064-485D-8343-828F-757C95F8ECE2}" type="presParOf" srcId="{C3D33FB4-64BF-B543-B92E-40B6573421C7}" destId="{62544A28-23F6-1A4E-B234-551B7FC485BE}" srcOrd="17" destOrd="0" presId="urn:microsoft.com/office/officeart/2009/3/layout/RandomtoResultProcess"/>
    <dgm:cxn modelId="{98FD6CC5-E43C-F545-93E8-9E78F265CA12}" type="presParOf" srcId="{C3D33FB4-64BF-B543-B92E-40B6573421C7}" destId="{90A50432-1EF0-B34B-BD83-BB966E0242D1}" srcOrd="18" destOrd="0" presId="urn:microsoft.com/office/officeart/2009/3/layout/RandomtoResultProcess"/>
    <dgm:cxn modelId="{B9BFCC63-CCF3-E34F-A661-FDA5084EDDA8}" type="presParOf" srcId="{C3D33FB4-64BF-B543-B92E-40B6573421C7}" destId="{D30B6194-5637-8A4A-B9D3-0E76C6B54235}" srcOrd="19" destOrd="0" presId="urn:microsoft.com/office/officeart/2009/3/layout/RandomtoResultProcess"/>
    <dgm:cxn modelId="{566C5006-5283-A04D-932C-1D909E9608A5}" type="presParOf" srcId="{F5BEC0F2-0B82-474A-8F8D-E66BE3BC1050}" destId="{3C59E799-3E9A-7D46-B02F-E41B980F90AA}" srcOrd="1" destOrd="0" presId="urn:microsoft.com/office/officeart/2009/3/layout/RandomtoResultProcess"/>
    <dgm:cxn modelId="{043BDD89-E851-FD43-9730-5A8B81E10EE4}" type="presParOf" srcId="{3C59E799-3E9A-7D46-B02F-E41B980F90AA}" destId="{2ED5470F-8472-4343-83BB-09CF6E666779}" srcOrd="0" destOrd="0" presId="urn:microsoft.com/office/officeart/2009/3/layout/RandomtoResultProcess"/>
    <dgm:cxn modelId="{C043CC9E-AA3B-6B4C-A6EF-C438C5784D4E}" type="presParOf" srcId="{3C59E799-3E9A-7D46-B02F-E41B980F90AA}" destId="{373787F6-A22D-8547-90D6-6FFA7D8B3637}" srcOrd="1" destOrd="0" presId="urn:microsoft.com/office/officeart/2009/3/layout/RandomtoResultProcess"/>
    <dgm:cxn modelId="{827583FD-403F-8544-B594-67F5CC49E37B}" type="presParOf" srcId="{F5BEC0F2-0B82-474A-8F8D-E66BE3BC1050}" destId="{26E0B12E-7C94-064B-A1B1-D5316F656B08}" srcOrd="2" destOrd="0" presId="urn:microsoft.com/office/officeart/2009/3/layout/RandomtoResultProcess"/>
    <dgm:cxn modelId="{276E5BDF-FE0D-9444-BDB6-E510B7D0CE10}" type="presParOf" srcId="{26E0B12E-7C94-064B-A1B1-D5316F656B08}" destId="{686A06F5-4621-314B-8E63-06C0F2F6E1B9}" srcOrd="0" destOrd="0" presId="urn:microsoft.com/office/officeart/2009/3/layout/RandomtoResultProcess"/>
    <dgm:cxn modelId="{5508A7B6-8AF6-E44F-AA93-5C9AD218D4A2}" type="presParOf" srcId="{26E0B12E-7C94-064B-A1B1-D5316F656B08}" destId="{92ED8959-C894-6B44-B898-35CB56AA5F5B}" srcOrd="1" destOrd="0" presId="urn:microsoft.com/office/officeart/2009/3/layout/RandomtoResultProcess"/>
    <dgm:cxn modelId="{31F17886-6EA0-2947-A527-8535110ABCB2}" type="presParOf" srcId="{26E0B12E-7C94-064B-A1B1-D5316F656B08}" destId="{D567F67A-E223-1341-8980-C14DB3FF57CA}" srcOrd="2" destOrd="0" presId="urn:microsoft.com/office/officeart/2009/3/layout/RandomtoResultProcess"/>
    <dgm:cxn modelId="{823F625B-CBCF-0942-8909-20563214C9D8}" type="presParOf" srcId="{F5BEC0F2-0B82-474A-8F8D-E66BE3BC1050}" destId="{7742F1F9-404C-C341-8817-3A96EA92B9CE}" srcOrd="3" destOrd="0" presId="urn:microsoft.com/office/officeart/2009/3/layout/RandomtoResultProcess"/>
    <dgm:cxn modelId="{FED9D1B8-650F-1A4E-BC2E-8131CE2EE158}" type="presParOf" srcId="{7742F1F9-404C-C341-8817-3A96EA92B9CE}" destId="{6BB96423-0088-3F4B-92AF-05BC36996745}" srcOrd="0" destOrd="0" presId="urn:microsoft.com/office/officeart/2009/3/layout/RandomtoResultProcess"/>
    <dgm:cxn modelId="{C0E8A7C4-9F98-184E-97D5-742045A72737}" type="presParOf" srcId="{7742F1F9-404C-C341-8817-3A96EA92B9CE}" destId="{124AC25B-6B51-EE4B-AE8D-CC2156E0EF1E}" srcOrd="1" destOrd="0" presId="urn:microsoft.com/office/officeart/2009/3/layout/RandomtoResultProcess"/>
    <dgm:cxn modelId="{E7A24C4C-0447-BD46-96F5-D1008EC8DB7D}" type="presParOf" srcId="{F5BEC0F2-0B82-474A-8F8D-E66BE3BC1050}" destId="{45B75BBA-CA26-744F-8E10-534D740D2730}" srcOrd="4" destOrd="0" presId="urn:microsoft.com/office/officeart/2009/3/layout/RandomtoResultProcess"/>
    <dgm:cxn modelId="{ADDE1572-500E-D547-A3F0-565986483940}" type="presParOf" srcId="{45B75BBA-CA26-744F-8E10-534D740D2730}" destId="{23810416-DE79-0541-9DD8-495C2E271994}" srcOrd="0" destOrd="0" presId="urn:microsoft.com/office/officeart/2009/3/layout/RandomtoResultProcess"/>
    <dgm:cxn modelId="{5CCAE737-91E6-7A44-A0CB-14E0C9389D2F}" type="presParOf" srcId="{45B75BBA-CA26-744F-8E10-534D740D2730}" destId="{1FBCA192-D746-AB4E-A7D5-B66B71EE9DE0}" srcOrd="1" destOrd="0" presId="urn:microsoft.com/office/officeart/2009/3/layout/RandomtoResultProcess"/>
    <dgm:cxn modelId="{486935C1-776C-8844-992D-A400858CEB6A}" type="presParOf" srcId="{45B75BBA-CA26-744F-8E10-534D740D2730}" destId="{AEC9CE73-F856-7240-A1DF-DD7B87A99FFC}" srcOrd="2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EBC9C8-B9E9-4912-B03B-4DC71785B811}">
      <dsp:nvSpPr>
        <dsp:cNvPr id="0" name=""/>
        <dsp:cNvSpPr/>
      </dsp:nvSpPr>
      <dsp:spPr>
        <a:xfrm>
          <a:off x="652520" y="694407"/>
          <a:ext cx="2863323" cy="13783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" tIns="24765" rIns="24765" bIns="2476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300" kern="1200" dirty="0"/>
            <a:t>Udvælger systemer der kan containeriseres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300" kern="1200" dirty="0"/>
            <a:t>Prioriterer systemerne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300" kern="1200" dirty="0"/>
            <a:t>Lægger arbejdet med containerisering i teamets </a:t>
          </a:r>
          <a:r>
            <a:rPr lang="da-DK" sz="1300" kern="1200" dirty="0" err="1"/>
            <a:t>Roadmap</a:t>
          </a:r>
          <a:r>
            <a:rPr lang="da-DK" sz="1300" kern="1200" dirty="0"/>
            <a:t> </a:t>
          </a:r>
        </a:p>
      </dsp:txBody>
      <dsp:txXfrm>
        <a:off x="684239" y="726126"/>
        <a:ext cx="2799885" cy="1019513"/>
      </dsp:txXfrm>
    </dsp:sp>
    <dsp:sp modelId="{AA0A565E-FD08-43D3-9E56-3CD5C648E0C0}">
      <dsp:nvSpPr>
        <dsp:cNvPr id="0" name=""/>
        <dsp:cNvSpPr/>
      </dsp:nvSpPr>
      <dsp:spPr>
        <a:xfrm>
          <a:off x="2048889" y="-52580"/>
          <a:ext cx="3139968" cy="3139968"/>
        </a:xfrm>
        <a:prstGeom prst="leftCircularArrow">
          <a:avLst>
            <a:gd name="adj1" fmla="val 3247"/>
            <a:gd name="adj2" fmla="val 400472"/>
            <a:gd name="adj3" fmla="val 2136156"/>
            <a:gd name="adj4" fmla="val 8984662"/>
            <a:gd name="adj5" fmla="val 3788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138E0-1D48-4FB9-B430-C808D59D0876}">
      <dsp:nvSpPr>
        <dsp:cNvPr id="0" name=""/>
        <dsp:cNvSpPr/>
      </dsp:nvSpPr>
      <dsp:spPr>
        <a:xfrm>
          <a:off x="1627564" y="1770932"/>
          <a:ext cx="1461174" cy="58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Teamet</a:t>
          </a:r>
        </a:p>
      </dsp:txBody>
      <dsp:txXfrm>
        <a:off x="1644583" y="1787951"/>
        <a:ext cx="1427136" cy="547022"/>
      </dsp:txXfrm>
    </dsp:sp>
    <dsp:sp modelId="{1B437B97-39F5-41DB-8C59-D4CC61EE4B39}">
      <dsp:nvSpPr>
        <dsp:cNvPr id="0" name=""/>
        <dsp:cNvSpPr/>
      </dsp:nvSpPr>
      <dsp:spPr>
        <a:xfrm>
          <a:off x="4001353" y="676247"/>
          <a:ext cx="2502208" cy="135580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" tIns="24765" rIns="24765" bIns="24765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Vurderer overordnet plan ift. strategi, budgetanalyse og ressourcer i platformsteamet</a:t>
          </a:r>
        </a:p>
      </dsp:txBody>
      <dsp:txXfrm>
        <a:off x="4032554" y="997979"/>
        <a:ext cx="2439806" cy="1002876"/>
      </dsp:txXfrm>
    </dsp:sp>
    <dsp:sp modelId="{C3328385-D764-46F7-A5C0-9B0665F8F6DE}">
      <dsp:nvSpPr>
        <dsp:cNvPr id="0" name=""/>
        <dsp:cNvSpPr/>
      </dsp:nvSpPr>
      <dsp:spPr>
        <a:xfrm>
          <a:off x="5257646" y="-133546"/>
          <a:ext cx="2648603" cy="2648603"/>
        </a:xfrm>
        <a:prstGeom prst="circularArrow">
          <a:avLst>
            <a:gd name="adj1" fmla="val 3849"/>
            <a:gd name="adj2" fmla="val 481649"/>
            <a:gd name="adj3" fmla="val 19342840"/>
            <a:gd name="adj4" fmla="val 12575511"/>
            <a:gd name="adj5" fmla="val 449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36AF22-8AD1-47AC-BC0D-0D28311F42A9}">
      <dsp:nvSpPr>
        <dsp:cNvPr id="0" name=""/>
        <dsp:cNvSpPr/>
      </dsp:nvSpPr>
      <dsp:spPr>
        <a:xfrm>
          <a:off x="4795840" y="415043"/>
          <a:ext cx="1461174" cy="58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ID ledelse</a:t>
          </a:r>
        </a:p>
      </dsp:txBody>
      <dsp:txXfrm>
        <a:off x="4812859" y="432062"/>
        <a:ext cx="1427136" cy="547022"/>
      </dsp:txXfrm>
    </dsp:sp>
    <dsp:sp modelId="{D541E5EB-6A79-413A-9013-8BD6421FC3B5}">
      <dsp:nvSpPr>
        <dsp:cNvPr id="0" name=""/>
        <dsp:cNvSpPr/>
      </dsp:nvSpPr>
      <dsp:spPr>
        <a:xfrm>
          <a:off x="6989071" y="705574"/>
          <a:ext cx="1643821" cy="135580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" tIns="24765" rIns="24765" bIns="24765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Godkender </a:t>
          </a:r>
          <a:r>
            <a:rPr lang="da-DK" sz="1400" kern="1200" dirty="0" err="1"/>
            <a:t>Roadmap</a:t>
          </a:r>
          <a:r>
            <a:rPr lang="da-DK" sz="1400" kern="1200" dirty="0"/>
            <a:t> og rækkefølge</a:t>
          </a:r>
        </a:p>
      </dsp:txBody>
      <dsp:txXfrm>
        <a:off x="7020272" y="736775"/>
        <a:ext cx="1581419" cy="1002876"/>
      </dsp:txXfrm>
    </dsp:sp>
    <dsp:sp modelId="{C28D08C2-0084-4AF8-BDDF-4BFABD363AC7}">
      <dsp:nvSpPr>
        <dsp:cNvPr id="0" name=""/>
        <dsp:cNvSpPr/>
      </dsp:nvSpPr>
      <dsp:spPr>
        <a:xfrm>
          <a:off x="7085297" y="1781869"/>
          <a:ext cx="1945451" cy="58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Ejerkreds</a:t>
          </a:r>
        </a:p>
      </dsp:txBody>
      <dsp:txXfrm>
        <a:off x="7102316" y="1798888"/>
        <a:ext cx="1911413" cy="54702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464000-BC28-427C-AD9D-DE859CCFAAE4}">
      <dsp:nvSpPr>
        <dsp:cNvPr id="0" name=""/>
        <dsp:cNvSpPr/>
      </dsp:nvSpPr>
      <dsp:spPr>
        <a:xfrm>
          <a:off x="12051" y="1489652"/>
          <a:ext cx="1415961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August</a:t>
          </a:r>
        </a:p>
      </dsp:txBody>
      <dsp:txXfrm>
        <a:off x="12051" y="1489652"/>
        <a:ext cx="1415961" cy="547112"/>
      </dsp:txXfrm>
    </dsp:sp>
    <dsp:sp modelId="{C64439E2-F80E-49D1-85B3-D33ED430D6D4}">
      <dsp:nvSpPr>
        <dsp:cNvPr id="0" name=""/>
        <dsp:cNvSpPr/>
      </dsp:nvSpPr>
      <dsp:spPr>
        <a:xfrm>
          <a:off x="190532" y="2036764"/>
          <a:ext cx="1639031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Præsentation af metode til vurdering og prioritering</a:t>
          </a:r>
        </a:p>
      </dsp:txBody>
      <dsp:txXfrm>
        <a:off x="238538" y="2084770"/>
        <a:ext cx="1543019" cy="1796238"/>
      </dsp:txXfrm>
    </dsp:sp>
    <dsp:sp modelId="{F30F0F8D-AB5C-4E70-8501-2DC8CD9DF548}">
      <dsp:nvSpPr>
        <dsp:cNvPr id="0" name=""/>
        <dsp:cNvSpPr/>
      </dsp:nvSpPr>
      <dsp:spPr>
        <a:xfrm>
          <a:off x="1670551" y="1586941"/>
          <a:ext cx="514181" cy="3525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050" kern="1200"/>
        </a:p>
      </dsp:txBody>
      <dsp:txXfrm>
        <a:off x="1670551" y="1657448"/>
        <a:ext cx="408421" cy="211519"/>
      </dsp:txXfrm>
    </dsp:sp>
    <dsp:sp modelId="{9666485C-9540-4BCE-A6F3-E0D43C0E29F0}">
      <dsp:nvSpPr>
        <dsp:cNvPr id="0" name=""/>
        <dsp:cNvSpPr/>
      </dsp:nvSpPr>
      <dsp:spPr>
        <a:xfrm>
          <a:off x="2398166" y="1489652"/>
          <a:ext cx="1740003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September/Oktober</a:t>
          </a:r>
        </a:p>
      </dsp:txBody>
      <dsp:txXfrm>
        <a:off x="2398166" y="1489652"/>
        <a:ext cx="1740003" cy="547112"/>
      </dsp:txXfrm>
    </dsp:sp>
    <dsp:sp modelId="{219C406F-1261-49DC-90F9-5CE2FE3A2082}">
      <dsp:nvSpPr>
        <dsp:cNvPr id="0" name=""/>
        <dsp:cNvSpPr/>
      </dsp:nvSpPr>
      <dsp:spPr>
        <a:xfrm>
          <a:off x="2609143" y="2036764"/>
          <a:ext cx="1898081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Sparring med platformsteamet og Daniel 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Dialog i teamet inkl. PO og evt. med ejerkreds</a:t>
          </a:r>
        </a:p>
      </dsp:txBody>
      <dsp:txXfrm>
        <a:off x="2664565" y="2092186"/>
        <a:ext cx="1787237" cy="1781406"/>
      </dsp:txXfrm>
    </dsp:sp>
    <dsp:sp modelId="{CE5914CA-1202-44A6-9C0E-C45A710BCEE1}">
      <dsp:nvSpPr>
        <dsp:cNvPr id="0" name=""/>
        <dsp:cNvSpPr/>
      </dsp:nvSpPr>
      <dsp:spPr>
        <a:xfrm>
          <a:off x="4372584" y="1586941"/>
          <a:ext cx="496958" cy="3525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050" kern="1200"/>
        </a:p>
      </dsp:txBody>
      <dsp:txXfrm>
        <a:off x="4372584" y="1657448"/>
        <a:ext cx="391198" cy="211519"/>
      </dsp:txXfrm>
    </dsp:sp>
    <dsp:sp modelId="{93BAE780-FA1F-4FFD-A54E-F90A5B1B4658}">
      <dsp:nvSpPr>
        <dsp:cNvPr id="0" name=""/>
        <dsp:cNvSpPr/>
      </dsp:nvSpPr>
      <dsp:spPr>
        <a:xfrm>
          <a:off x="5075827" y="1489652"/>
          <a:ext cx="1415961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November</a:t>
          </a:r>
        </a:p>
      </dsp:txBody>
      <dsp:txXfrm>
        <a:off x="5075827" y="1489652"/>
        <a:ext cx="1415961" cy="547112"/>
      </dsp:txXfrm>
    </dsp:sp>
    <dsp:sp modelId="{97D3D234-20AA-4174-A886-2A620FE0FE5C}">
      <dsp:nvSpPr>
        <dsp:cNvPr id="0" name=""/>
        <dsp:cNvSpPr/>
      </dsp:nvSpPr>
      <dsp:spPr>
        <a:xfrm>
          <a:off x="5255879" y="2036764"/>
          <a:ext cx="1635888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ID ser på samlet plan for containerisering</a:t>
          </a:r>
        </a:p>
      </dsp:txBody>
      <dsp:txXfrm>
        <a:off x="5303793" y="2084678"/>
        <a:ext cx="1540060" cy="1796422"/>
      </dsp:txXfrm>
    </dsp:sp>
    <dsp:sp modelId="{7BFECC9D-4A6E-4019-8E21-E197B7D8982C}">
      <dsp:nvSpPr>
        <dsp:cNvPr id="0" name=""/>
        <dsp:cNvSpPr/>
      </dsp:nvSpPr>
      <dsp:spPr>
        <a:xfrm>
          <a:off x="6733933" y="1586941"/>
          <a:ext cx="513348" cy="3525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050" kern="1200"/>
        </a:p>
      </dsp:txBody>
      <dsp:txXfrm>
        <a:off x="6733933" y="1657448"/>
        <a:ext cx="407588" cy="211519"/>
      </dsp:txXfrm>
    </dsp:sp>
    <dsp:sp modelId="{AED12577-3EB2-4AA1-9424-5C3BADB727E5}">
      <dsp:nvSpPr>
        <dsp:cNvPr id="0" name=""/>
        <dsp:cNvSpPr/>
      </dsp:nvSpPr>
      <dsp:spPr>
        <a:xfrm>
          <a:off x="7460370" y="1489652"/>
          <a:ext cx="1608970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December/januar</a:t>
          </a:r>
        </a:p>
      </dsp:txBody>
      <dsp:txXfrm>
        <a:off x="7460370" y="1489652"/>
        <a:ext cx="1608970" cy="547112"/>
      </dsp:txXfrm>
    </dsp:sp>
    <dsp:sp modelId="{946B9ECB-581F-43A3-9F91-9DC0485AAE44}">
      <dsp:nvSpPr>
        <dsp:cNvPr id="0" name=""/>
        <dsp:cNvSpPr/>
      </dsp:nvSpPr>
      <dsp:spPr>
        <a:xfrm>
          <a:off x="7725939" y="2036764"/>
          <a:ext cx="1657863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Plan bliver lagt i </a:t>
          </a:r>
          <a:r>
            <a:rPr lang="da-DK" sz="1400" kern="1200" dirty="0" err="1"/>
            <a:t>roadmap</a:t>
          </a:r>
          <a:r>
            <a:rPr lang="da-DK" sz="1400" kern="1200" dirty="0"/>
            <a:t> for teamet og præsenteret for ejerkredsen</a:t>
          </a:r>
        </a:p>
      </dsp:txBody>
      <dsp:txXfrm>
        <a:off x="7774496" y="2085321"/>
        <a:ext cx="1560749" cy="1795136"/>
      </dsp:txXfrm>
    </dsp:sp>
    <dsp:sp modelId="{A098305D-D32E-4946-86AF-3378193719E8}">
      <dsp:nvSpPr>
        <dsp:cNvPr id="0" name=""/>
        <dsp:cNvSpPr/>
      </dsp:nvSpPr>
      <dsp:spPr>
        <a:xfrm>
          <a:off x="9290107" y="1586941"/>
          <a:ext cx="468024" cy="3525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050" kern="1200"/>
        </a:p>
      </dsp:txBody>
      <dsp:txXfrm>
        <a:off x="9290107" y="1657448"/>
        <a:ext cx="362264" cy="211519"/>
      </dsp:txXfrm>
    </dsp:sp>
    <dsp:sp modelId="{73D41B6A-1C3C-4DA1-BB35-40237277EBE9}">
      <dsp:nvSpPr>
        <dsp:cNvPr id="0" name=""/>
        <dsp:cNvSpPr/>
      </dsp:nvSpPr>
      <dsp:spPr>
        <a:xfrm>
          <a:off x="9952405" y="1489652"/>
          <a:ext cx="1415961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Kvartalsvis status</a:t>
          </a:r>
        </a:p>
      </dsp:txBody>
      <dsp:txXfrm>
        <a:off x="9952405" y="1489652"/>
        <a:ext cx="1415961" cy="547112"/>
      </dsp:txXfrm>
    </dsp:sp>
    <dsp:sp modelId="{C56C53F5-62A8-4DDC-806B-07454EC651FA}">
      <dsp:nvSpPr>
        <dsp:cNvPr id="0" name=""/>
        <dsp:cNvSpPr/>
      </dsp:nvSpPr>
      <dsp:spPr>
        <a:xfrm>
          <a:off x="10177096" y="2036764"/>
          <a:ext cx="1546611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Løbende vurdering af tidsplaner og prioriteringer</a:t>
          </a:r>
        </a:p>
      </dsp:txBody>
      <dsp:txXfrm>
        <a:off x="10222395" y="2082063"/>
        <a:ext cx="1456013" cy="180165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32D019-97F0-254B-9831-761A660430E0}">
      <dsp:nvSpPr>
        <dsp:cNvPr id="0" name=""/>
        <dsp:cNvSpPr/>
      </dsp:nvSpPr>
      <dsp:spPr>
        <a:xfrm>
          <a:off x="179693" y="1348896"/>
          <a:ext cx="2628586" cy="8662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Alle </a:t>
          </a:r>
          <a:r>
            <a:rPr lang="en-GB" sz="3200" kern="1200" dirty="0" err="1"/>
            <a:t>systemer</a:t>
          </a:r>
          <a:endParaRPr lang="en-GB" sz="3200" kern="1200" dirty="0"/>
        </a:p>
      </dsp:txBody>
      <dsp:txXfrm>
        <a:off x="179693" y="1348896"/>
        <a:ext cx="2628586" cy="866238"/>
      </dsp:txXfrm>
    </dsp:sp>
    <dsp:sp modelId="{6138F25F-6E7A-C049-9383-25DF1CCE319F}">
      <dsp:nvSpPr>
        <dsp:cNvPr id="0" name=""/>
        <dsp:cNvSpPr/>
      </dsp:nvSpPr>
      <dsp:spPr>
        <a:xfrm>
          <a:off x="179693" y="3175496"/>
          <a:ext cx="2628586" cy="1622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1. </a:t>
          </a:r>
          <a:r>
            <a:rPr lang="en-GB" sz="3200" kern="1200" dirty="0" err="1"/>
            <a:t>Udvælgelse</a:t>
          </a:r>
          <a:br>
            <a:rPr lang="en-GB" sz="3200" kern="1200" dirty="0"/>
          </a:br>
          <a:r>
            <a:rPr lang="en-GB" sz="3200" kern="1200" dirty="0"/>
            <a:t>Kan </a:t>
          </a:r>
          <a:r>
            <a:rPr lang="en-GB" sz="3200" kern="1200" dirty="0" err="1"/>
            <a:t>og</a:t>
          </a:r>
          <a:r>
            <a:rPr lang="en-GB" sz="3200" kern="1200" dirty="0"/>
            <a:t> </a:t>
          </a:r>
          <a:r>
            <a:rPr lang="en-GB" sz="3200" kern="1200" dirty="0" err="1"/>
            <a:t>bør</a:t>
          </a:r>
          <a:r>
            <a:rPr lang="en-GB" sz="3200" kern="1200" dirty="0"/>
            <a:t> vi?</a:t>
          </a:r>
        </a:p>
      </dsp:txBody>
      <dsp:txXfrm>
        <a:off x="179693" y="3175496"/>
        <a:ext cx="2628586" cy="1622909"/>
      </dsp:txXfrm>
    </dsp:sp>
    <dsp:sp modelId="{2253DD65-0B6B-B745-9058-A5DC27FFC1EF}">
      <dsp:nvSpPr>
        <dsp:cNvPr id="0" name=""/>
        <dsp:cNvSpPr/>
      </dsp:nvSpPr>
      <dsp:spPr>
        <a:xfrm>
          <a:off x="176706" y="1085440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B075344-42CC-FD43-9BF3-E03A3FD2776F}">
      <dsp:nvSpPr>
        <dsp:cNvPr id="0" name=""/>
        <dsp:cNvSpPr/>
      </dsp:nvSpPr>
      <dsp:spPr>
        <a:xfrm>
          <a:off x="323071" y="792711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B7C0AB63-281F-5C49-9E42-67E5B37EAFCF}">
      <dsp:nvSpPr>
        <dsp:cNvPr id="0" name=""/>
        <dsp:cNvSpPr/>
      </dsp:nvSpPr>
      <dsp:spPr>
        <a:xfrm>
          <a:off x="674346" y="851257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E6E07E7-3143-CA49-B343-BA5E4A2DBD83}">
      <dsp:nvSpPr>
        <dsp:cNvPr id="0" name=""/>
        <dsp:cNvSpPr/>
      </dsp:nvSpPr>
      <dsp:spPr>
        <a:xfrm>
          <a:off x="967075" y="529255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8D2C8CCF-0DB0-3942-85E0-01029B847F08}">
      <dsp:nvSpPr>
        <dsp:cNvPr id="0" name=""/>
        <dsp:cNvSpPr/>
      </dsp:nvSpPr>
      <dsp:spPr>
        <a:xfrm>
          <a:off x="1347622" y="412164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80CD7B97-23EE-0440-9608-3E29F860F069}">
      <dsp:nvSpPr>
        <dsp:cNvPr id="0" name=""/>
        <dsp:cNvSpPr/>
      </dsp:nvSpPr>
      <dsp:spPr>
        <a:xfrm>
          <a:off x="1815989" y="617074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ED8721EB-A16F-184A-B4F4-8B4154D3D0E9}">
      <dsp:nvSpPr>
        <dsp:cNvPr id="0" name=""/>
        <dsp:cNvSpPr/>
      </dsp:nvSpPr>
      <dsp:spPr>
        <a:xfrm>
          <a:off x="2108718" y="763439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DD3B466-C883-3A45-82C8-DC5078C77ABE}">
      <dsp:nvSpPr>
        <dsp:cNvPr id="0" name=""/>
        <dsp:cNvSpPr/>
      </dsp:nvSpPr>
      <dsp:spPr>
        <a:xfrm>
          <a:off x="2518538" y="1085440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E519FA85-7501-5F47-98CA-E7B851599BE7}">
      <dsp:nvSpPr>
        <dsp:cNvPr id="0" name=""/>
        <dsp:cNvSpPr/>
      </dsp:nvSpPr>
      <dsp:spPr>
        <a:xfrm>
          <a:off x="2694176" y="1407442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589B29-AF01-FE4E-A462-0A22465C8DD0}">
      <dsp:nvSpPr>
        <dsp:cNvPr id="0" name=""/>
        <dsp:cNvSpPr/>
      </dsp:nvSpPr>
      <dsp:spPr>
        <a:xfrm>
          <a:off x="1171985" y="792711"/>
          <a:ext cx="537665" cy="53766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9F92841-3CF5-C047-B165-9219DAFB0DA6}">
      <dsp:nvSpPr>
        <dsp:cNvPr id="0" name=""/>
        <dsp:cNvSpPr/>
      </dsp:nvSpPr>
      <dsp:spPr>
        <a:xfrm>
          <a:off x="30342" y="1905082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5AFE0F7-3F3C-8D46-84C3-8261CCAB47E1}">
      <dsp:nvSpPr>
        <dsp:cNvPr id="0" name=""/>
        <dsp:cNvSpPr/>
      </dsp:nvSpPr>
      <dsp:spPr>
        <a:xfrm>
          <a:off x="205979" y="2168538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6865791-268F-8A4F-A65C-59335A4467C5}">
      <dsp:nvSpPr>
        <dsp:cNvPr id="0" name=""/>
        <dsp:cNvSpPr/>
      </dsp:nvSpPr>
      <dsp:spPr>
        <a:xfrm>
          <a:off x="645073" y="2402721"/>
          <a:ext cx="477924" cy="477924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80FE26AC-073C-C847-B70F-6AA0A6F47690}">
      <dsp:nvSpPr>
        <dsp:cNvPr id="0" name=""/>
        <dsp:cNvSpPr/>
      </dsp:nvSpPr>
      <dsp:spPr>
        <a:xfrm>
          <a:off x="1259804" y="2783269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B2F781C3-780B-9546-AE45-B7B3C888A19F}">
      <dsp:nvSpPr>
        <dsp:cNvPr id="0" name=""/>
        <dsp:cNvSpPr/>
      </dsp:nvSpPr>
      <dsp:spPr>
        <a:xfrm>
          <a:off x="1376895" y="2402721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62544A28-23F6-1A4E-B234-551B7FC485BE}">
      <dsp:nvSpPr>
        <dsp:cNvPr id="0" name=""/>
        <dsp:cNvSpPr/>
      </dsp:nvSpPr>
      <dsp:spPr>
        <a:xfrm>
          <a:off x="1669624" y="2812541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0A50432-1EF0-B34B-BD83-BB966E0242D1}">
      <dsp:nvSpPr>
        <dsp:cNvPr id="0" name=""/>
        <dsp:cNvSpPr/>
      </dsp:nvSpPr>
      <dsp:spPr>
        <a:xfrm>
          <a:off x="1933080" y="2344175"/>
          <a:ext cx="477924" cy="477924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30B6194-5637-8A4A-B9D3-0E76C6B54235}">
      <dsp:nvSpPr>
        <dsp:cNvPr id="0" name=""/>
        <dsp:cNvSpPr/>
      </dsp:nvSpPr>
      <dsp:spPr>
        <a:xfrm>
          <a:off x="2577084" y="2227083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ED5470F-8472-4343-83BB-09CF6E666779}">
      <dsp:nvSpPr>
        <dsp:cNvPr id="0" name=""/>
        <dsp:cNvSpPr/>
      </dsp:nvSpPr>
      <dsp:spPr>
        <a:xfrm>
          <a:off x="2905657" y="850770"/>
          <a:ext cx="964973" cy="1842238"/>
        </a:xfrm>
        <a:prstGeom prst="chevron">
          <a:avLst>
            <a:gd name="adj" fmla="val 6231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686A06F5-4621-314B-8E63-06C0F2F6E1B9}">
      <dsp:nvSpPr>
        <dsp:cNvPr id="0" name=""/>
        <dsp:cNvSpPr/>
      </dsp:nvSpPr>
      <dsp:spPr>
        <a:xfrm>
          <a:off x="3870631" y="851665"/>
          <a:ext cx="2631744" cy="18422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 err="1"/>
            <a:t>Udvalgte</a:t>
          </a:r>
          <a:r>
            <a:rPr lang="en-GB" sz="3200" kern="1200" dirty="0"/>
            <a:t> </a:t>
          </a:r>
          <a:r>
            <a:rPr lang="en-GB" sz="3200" kern="1200" dirty="0" err="1"/>
            <a:t>systemer</a:t>
          </a:r>
          <a:br>
            <a:rPr lang="en-GB" sz="3200" kern="1200" dirty="0"/>
          </a:br>
          <a:br>
            <a:rPr lang="en-GB" sz="3200" kern="1200" dirty="0"/>
          </a:br>
          <a:br>
            <a:rPr lang="en-GB" sz="3200" kern="1200" dirty="0"/>
          </a:br>
          <a:br>
            <a:rPr lang="en-GB" sz="3200" kern="1200" dirty="0"/>
          </a:br>
          <a:br>
            <a:rPr lang="en-GB" sz="3200" kern="1200" dirty="0"/>
          </a:br>
          <a:endParaRPr lang="en-GB" sz="3200" kern="1200" dirty="0"/>
        </a:p>
      </dsp:txBody>
      <dsp:txXfrm>
        <a:off x="3870631" y="851665"/>
        <a:ext cx="2631744" cy="1842221"/>
      </dsp:txXfrm>
    </dsp:sp>
    <dsp:sp modelId="{92ED8959-C894-6B44-B898-35CB56AA5F5B}">
      <dsp:nvSpPr>
        <dsp:cNvPr id="0" name=""/>
        <dsp:cNvSpPr/>
      </dsp:nvSpPr>
      <dsp:spPr>
        <a:xfrm>
          <a:off x="3870631" y="3175496"/>
          <a:ext cx="2631744" cy="1622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2. </a:t>
          </a:r>
          <a:r>
            <a:rPr lang="en-GB" sz="3200" kern="1200" dirty="0" err="1"/>
            <a:t>Prioritering</a:t>
          </a:r>
          <a:br>
            <a:rPr lang="en-GB" sz="3200" kern="1200" dirty="0"/>
          </a:br>
          <a:r>
            <a:rPr lang="en-GB" sz="3200" kern="1200" dirty="0" err="1"/>
            <a:t>Hvornår</a:t>
          </a:r>
          <a:r>
            <a:rPr lang="en-GB" sz="3200" kern="1200" dirty="0"/>
            <a:t>?</a:t>
          </a:r>
        </a:p>
      </dsp:txBody>
      <dsp:txXfrm>
        <a:off x="3870631" y="3175496"/>
        <a:ext cx="2631744" cy="1622909"/>
      </dsp:txXfrm>
    </dsp:sp>
    <dsp:sp modelId="{6BB96423-0088-3F4B-92AF-05BC36996745}">
      <dsp:nvSpPr>
        <dsp:cNvPr id="0" name=""/>
        <dsp:cNvSpPr/>
      </dsp:nvSpPr>
      <dsp:spPr>
        <a:xfrm>
          <a:off x="6502376" y="850770"/>
          <a:ext cx="964973" cy="1842238"/>
        </a:xfrm>
        <a:prstGeom prst="chevron">
          <a:avLst>
            <a:gd name="adj" fmla="val 6231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3810416-DE79-0541-9DD8-495C2E271994}">
      <dsp:nvSpPr>
        <dsp:cNvPr id="0" name=""/>
        <dsp:cNvSpPr/>
      </dsp:nvSpPr>
      <dsp:spPr>
        <a:xfrm>
          <a:off x="8124114" y="720078"/>
          <a:ext cx="2236983" cy="223698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12700"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 err="1">
              <a:solidFill>
                <a:schemeClr val="bg1"/>
              </a:solidFill>
            </a:rPr>
            <a:t>Konkret</a:t>
          </a:r>
          <a:r>
            <a:rPr lang="en-GB" sz="3200" kern="1200" dirty="0">
              <a:solidFill>
                <a:schemeClr val="bg1"/>
              </a:solidFill>
            </a:rPr>
            <a:t> system</a:t>
          </a:r>
        </a:p>
      </dsp:txBody>
      <dsp:txXfrm>
        <a:off x="8451713" y="1047677"/>
        <a:ext cx="1581785" cy="1581785"/>
      </dsp:txXfrm>
    </dsp:sp>
    <dsp:sp modelId="{1FBCA192-D746-AB4E-A7D5-B66B71EE9DE0}">
      <dsp:nvSpPr>
        <dsp:cNvPr id="0" name=""/>
        <dsp:cNvSpPr/>
      </dsp:nvSpPr>
      <dsp:spPr>
        <a:xfrm>
          <a:off x="7467349" y="3175496"/>
          <a:ext cx="3550513" cy="1622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3. Selve </a:t>
          </a:r>
          <a:r>
            <a:rPr lang="en-GB" sz="3200" kern="1200" dirty="0" err="1"/>
            <a:t>migrerings-procesen</a:t>
          </a:r>
          <a:r>
            <a:rPr lang="en-GB" sz="3200" kern="1200" dirty="0"/>
            <a:t> </a:t>
          </a:r>
        </a:p>
      </dsp:txBody>
      <dsp:txXfrm>
        <a:off x="7467349" y="3175496"/>
        <a:ext cx="3550513" cy="16229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fallback" val="2D"/>
          <dgm:param type="nodeVertAlign" val="t"/>
        </dgm:alg>
      </dgm:if>
      <dgm:else name="Name3">
        <dgm:alg type="lin">
          <dgm:param type="fallback" val="2D"/>
          <dgm:param type="nodeVertAlign" val="t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rot="180" type="chevron" r:blip="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rot="180" type="chevron" r:blip="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0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tNode1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dk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31/08/2026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+.vscode-resource.vscode-cdn.net/Users/B044554/code/kb/workshop-helm-chart/deck-notes/gitops-loop.md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449159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43978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49927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4271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684233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387E5-455D-B866-5FF5-14094FF8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947102-1DB8-5A07-5FB5-58267CEE1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40C785-6CE2-DF13-6443-028844AC44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E4C6B-5EC9-4853-9EBF-E6E19FCEF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83571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688755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two version numbers and why they move independently — version is the chart, appVersion is the app inside. Fixing a typo in a template bumps version only.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80187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262796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182851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Ask: </a:t>
            </a:r>
            <a:r>
              <a:rPr lang="en-DK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"Hvis vi installerer chartet én gang til, har vi så fået et nyt chart eller et nyt release?”</a:t>
            </a: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Answer: a new release.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ask what must differ for the two installations to coexist. The release name must flow into resource names; hardcoded names collide when releases share a namespace. Different namespaces hide that collision but do not fix the chart.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92988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 — NATIVE PPT: revision timeline — see deck-notes/release-revisions.md.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five large revision nodes; red only for the failed revision.</a:t>
            </a:r>
            <a:endParaRPr lang="en-DK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68828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>
                <a:effectLst/>
              </a:rPr>
              <a:t>Use neutral Secret cards inside a clearly labelled </a:t>
            </a:r>
            <a:r>
              <a:rPr lang="en-DK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namespace: prod</a:t>
            </a:r>
            <a:r>
              <a:rPr lang="en-DK" dirty="0">
                <a:effectLst/>
              </a:rPr>
              <a:t> boundary. The point is that Helm has no server and no laptop-local release history.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957710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11267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884915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21C9-6BA4-1DD5-AABC-08C55841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64060-26E7-3B1E-F25E-29A147D28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ACE53D-5D6E-CCC3-32E6-5AD6D10D8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Notes: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They don't need to memorise it — README.md has the reference.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Point at helm show values &lt;chart&gt; as the single most useful command when meeting a chart you didn't write.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an installed release, ”helm get values greetings --revision 3 -n prod” retrieves the values used by that historical revision.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CCF98-7575-D695-E1CC-6DC51A48D9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48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4: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--dry-run now takes client or server. Bare --dry-run still means client. Hammer the loop: you don't need a cluster to iterate on a template.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7425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139171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8387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30075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75251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New value: --reset-then-reuse-values</a:t>
            </a:r>
          </a:p>
          <a:p>
            <a:endParaRPr lang="en-DK" dirty="0"/>
          </a:p>
          <a:p>
            <a:r>
              <a:rPr lang="en-DK" dirty="0"/>
              <a:t>Helm upgrade didn’t restart: Only changed manifests leads to redeploys</a:t>
            </a:r>
          </a:p>
          <a:p>
            <a:r>
              <a:rPr lang="en-DK" dirty="0"/>
              <a:t>-&gt; Add annotation: helm-revision: {{ .Release.Revision 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430837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Notes: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condition is the payoff: --set postgres.enabled=false and the whole database tier disappears, so the toy Postgres can be swapped for a managed one.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Demo it live from edu-greetings-chart — it takes 10 seconds and it lands.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39804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Don’t delete pre-upgrade/install jobs after success!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create demo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install demo demo --namespace default</a:t>
            </a:r>
            <a:b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test demo</a:t>
            </a:r>
            <a:b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DK" dirty="0"/>
            </a:b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335451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Charts are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OCI artifacts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they live in a container registry next to workshop #1's images. Same registry, same auth, same mental model. A chart version must mean exactly one thing forever, so registries reject re-pushing an existing version. Bump version every time.</a:t>
            </a:r>
          </a:p>
          <a:p>
            <a:br>
              <a:rPr lang="en-DK" dirty="0"/>
            </a:b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6619909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986616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b="1" dirty="0"/>
              <a:t>Notes:</a:t>
            </a:r>
            <a:r>
              <a:rPr lang="en-DK" dirty="0"/>
              <a:t> </a:t>
            </a:r>
            <a:r>
              <a:rPr lang="en-DK" dirty="0">
                <a:hlinkClick r:id="rId3"/>
              </a:rPr>
              <a:t>deck-notes/gitops-loop.md</a:t>
            </a:r>
            <a:r>
              <a:rPr lang="en-DK" dirty="0"/>
              <a:t>. The question the Merkur demo provokes: someone ran 266 upgrades — who? Not a person. Callback to slide 22: Helm renders and stops caring; a GitOps controller reconciles continuously.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077647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chart-author takeaway is the interface: accept a Secret name and key, then use them through secretKeyRef.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 database.existingSecret: 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greetings-db-credentials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from edu-greetings-chart's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values-prod.yaml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the number: it renders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Secrets because it names one instead of containing one.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433112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2000" dirty="0"/>
              <a:t>Registry host and login on screen. If the registry isn't ready, the README's local-.tgz + helm repo index path teaches the same thing with no credentials — say which one you're doing before they start.</a:t>
            </a:r>
          </a:p>
          <a:p>
            <a:endParaRPr lang="en-DK" sz="2000" b="1" dirty="0"/>
          </a:p>
          <a:p>
            <a:r>
              <a:rPr lang="en-DK" sz="2000" b="1" dirty="0"/>
              <a:t>Compression valve:</a:t>
            </a:r>
            <a:r>
              <a:rPr lang="en-DK" sz="2000" dirty="0"/>
              <a:t> if behind, demo it in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606496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4C1F-0226-D377-5CD5-58A6DF878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BC908E-65D3-3AC4-D296-164DEC63A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0EA08-A2AD-C5BA-2780-E4564BCA9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AC364-F911-3B09-B5E8-858394D2F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26831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99423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Hvorfor trin 3, når manifests alligevel bliver erstattet af et chart?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Fordi det adskiller to spørgsmål der ellers skal fejlsøges samtidig:</a:t>
            </a:r>
          </a:p>
          <a:p>
            <a:pPr lvl="0"/>
            <a:r>
              <a:rPr lang="en-DK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 applikationen overhovedet køre i Kubernetes?</a:t>
            </a: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DK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 mit chart korrekt?</a:t>
            </a:r>
          </a:p>
          <a:p>
            <a:pPr lvl="0"/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Får man begge fejl på én gang, er de svære at skille. Og de fungerende manifests er præcis det man templater chartet ud fra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⭐ Det er nemmere at gøre kørende YAML manifester konfigurerbar end at skrive et chart i blinde.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⭐ Rancher gør det nemt for udviklere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visuelt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og uden omfattende YAML forståelse at opsætte et system i Kubernetes.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det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første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system i et team er trinnet reelt obligatorisk. Har teamet allerede et chart de kan kopiere fra, kan de gå direkte til trin 5.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233798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957657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095313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8429670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0020819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75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43394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august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138" y="655604"/>
            <a:ext cx="6840537" cy="1504666"/>
          </a:xfrm>
        </p:spPr>
        <p:txBody>
          <a:bodyPr/>
          <a:lstStyle/>
          <a:p>
            <a:r>
              <a:rPr lang="da-DK" noProof="0"/>
              <a:t>Klik for at redigere titeltypografien i masteren</a:t>
            </a:r>
            <a:endParaRPr lang="da-DK" noProof="0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719138" y="2800800"/>
            <a:ext cx="6840000" cy="24840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da-DK" dirty="0"/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75665A-61CB-4DAB-8750-5B97BD1810B6}" type="datetime5">
              <a:rPr lang="da-DK" smtClean="0"/>
              <a:pPr/>
              <a:t>august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07852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762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3" r:id="rId13"/>
    <p:sldLayoutId id="214748373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31.08.2026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+.vscode-resource.vscode-cdn.net/Users/B044554/code/kb/workshop-helm-chart/1-simplest-chart/README.md" TargetMode="External"/><Relationship Id="rId2" Type="http://schemas.openxmlformats.org/officeDocument/2006/relationships/hyperlink" Target="https://github.com/notalib/workshop-helm-charts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helm.sh/docs" TargetMode="External"/><Relationship Id="rId2" Type="http://schemas.openxmlformats.org/officeDocument/2006/relationships/hyperlink" Target="https://file+.vscode-resource.vscode-cdn.net/Users/B044554/code/kb/workshop-helm-chart/2-gateway-chart/README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Notalib/workshop-helm-chart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helm-chart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b-dk.atlassian.net/wiki/x/B4BAUQ" TargetMode="Externa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oci://harbor.tools.cluster.kongeligebibliotek.dk/workshop/my-package-nam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+.vscode-resource.vscode-cdn.net/Users/B044554/code/kb/workshop-helm-chart/edu-greetings-chart/README.md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mailto:platform@kb.dk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/>
              <a:t>Helm-</a:t>
            </a:r>
            <a:r>
              <a:rPr lang="da-DK" dirty="0" err="1"/>
              <a:t>chart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#3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august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1557" y="83605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7261" y="822087"/>
            <a:ext cx="9308806" cy="5415083"/>
          </a:xfrm>
        </p:spPr>
        <p:txBody>
          <a:bodyPr>
            <a:normAutofit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Hvor er vi? </a:t>
            </a:r>
            <a:r>
              <a:rPr lang="en-DK" sz="3600" dirty="0">
                <a:solidFill>
                  <a:srgbClr val="C54D02"/>
                </a:solidFill>
              </a:rPr>
              <a:t>[Recap + Plan]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CLI/Live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Helm-chart basics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Chart Templating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da-DK" sz="3600" dirty="0"/>
              <a:t>Charts i drift &amp; </a:t>
            </a:r>
            <a:r>
              <a:rPr lang="da-DK" sz="3600" dirty="0" err="1"/>
              <a:t>GitOps</a:t>
            </a:r>
            <a:r>
              <a:rPr lang="da-DK" sz="3600" dirty="0"/>
              <a:t>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Processen herfra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Afslutning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>
            <a:normAutofit/>
          </a:bodyPr>
          <a:lstStyle/>
          <a:p>
            <a:r>
              <a:rPr lang="da-DK" dirty="0"/>
              <a:t>Hvor er vi?</a:t>
            </a:r>
          </a:p>
          <a:p>
            <a:r>
              <a:rPr lang="da-DK" sz="3600" dirty="0" err="1">
                <a:solidFill>
                  <a:srgbClr val="C54D02"/>
                </a:solidFill>
              </a:rPr>
              <a:t>Recap</a:t>
            </a:r>
            <a:r>
              <a:rPr lang="da-DK" sz="3600" dirty="0">
                <a:solidFill>
                  <a:srgbClr val="C54D02"/>
                </a:solidFill>
              </a:rPr>
              <a:t> af tidligere workshops og den overordnede plan</a:t>
            </a:r>
            <a:endParaRPr lang="da-DK" dirty="0">
              <a:solidFill>
                <a:srgbClr val="C54D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9E3A0-B150-708C-E36D-CEC6BAB13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00221-BFE8-A6BB-3486-43C8BA3A0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Containerisation</a:t>
            </a:r>
            <a:r>
              <a:rPr lang="en-DK" dirty="0"/>
              <a:t> — byg </a:t>
            </a:r>
            <a:r>
              <a:rPr lang="en-DK" i="1" dirty="0"/>
              <a:t>én</a:t>
            </a:r>
            <a:r>
              <a:rPr lang="en-DK" dirty="0"/>
              <a:t> container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Kubernetes</a:t>
            </a:r>
            <a:r>
              <a:rPr lang="en-DK" dirty="0"/>
              <a:t> — kør, skalér og eksponér containere i et cluster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Helm</a:t>
            </a:r>
            <a:r>
              <a:rPr lang="en-DK" dirty="0"/>
              <a:t> — pak hele systemet som </a:t>
            </a:r>
            <a:r>
              <a:rPr lang="en-DK" i="1" dirty="0"/>
              <a:t>ét</a:t>
            </a:r>
            <a:r>
              <a:rPr lang="en-DK" dirty="0"/>
              <a:t> versioneret release</a:t>
            </a:r>
            <a:br>
              <a:rPr lang="en-DK" dirty="0"/>
            </a:br>
            <a:r>
              <a:rPr lang="en-DK" sz="2000" dirty="0">
                <a:solidFill>
                  <a:srgbClr val="C54D02"/>
                </a:solidFill>
              </a:rPr>
              <a:t>+ Processen herfra og skabelon for system-migrering</a:t>
            </a:r>
            <a:br>
              <a:rPr lang="en-DK" sz="2000" dirty="0">
                <a:solidFill>
                  <a:srgbClr val="C54D02"/>
                </a:solidFill>
              </a:rPr>
            </a:br>
            <a:endParaRPr lang="en-DK" dirty="0">
              <a:solidFill>
                <a:srgbClr val="C54D02"/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Platformen</a:t>
            </a:r>
            <a:r>
              <a:rPr lang="en-DK" dirty="0"/>
              <a:t> — intro til den nye platform og alle dens værktøjer</a:t>
            </a:r>
          </a:p>
          <a:p>
            <a:endParaRPr lang="en-DK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F6ED695-3A7A-53BA-4047-7752C076E3EC}"/>
              </a:ext>
            </a:extLst>
          </p:cNvPr>
          <p:cNvSpPr/>
          <p:nvPr/>
        </p:nvSpPr>
        <p:spPr>
          <a:xfrm>
            <a:off x="147811" y="3298746"/>
            <a:ext cx="587875" cy="30800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rgbClr val="C54D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9227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DB768-5B31-234A-1FE8-C9785E198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gør vi det her?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EF15D-B440-C5ED-3807-F2C01F47C01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1738312"/>
          </a:xfrm>
        </p:spPr>
        <p:txBody>
          <a:bodyPr>
            <a:normAutofit lnSpcReduction="10000"/>
          </a:bodyPr>
          <a:lstStyle/>
          <a:p>
            <a:pPr lvl="0"/>
            <a:r>
              <a:rPr lang="en-DK" b="1" dirty="0"/>
              <a:t>Vi har vedtaget en Container-first-strategi</a:t>
            </a:r>
          </a:p>
          <a:p>
            <a:pPr lvl="1"/>
            <a:r>
              <a:rPr lang="en-DK" sz="2400" dirty="0"/>
              <a:t>Eksisterende systemer skal så vidt muligt containeriseres og migreres til den nye platform </a:t>
            </a:r>
            <a:r>
              <a:rPr lang="en-DK" sz="2400" b="1" dirty="0"/>
              <a:t>inden for 3 år.</a:t>
            </a:r>
            <a:br>
              <a:rPr lang="en-DK" sz="2400" b="1" dirty="0"/>
            </a:br>
            <a:endParaRPr lang="en-DK" dirty="0"/>
          </a:p>
          <a:p>
            <a:pPr lvl="0"/>
            <a:r>
              <a:rPr lang="en-DK" dirty="0"/>
              <a:t>Teknologirådet har vedtaget kriterier for </a:t>
            </a:r>
            <a:r>
              <a:rPr lang="en-DK" b="1" dirty="0"/>
              <a:t>udvælgelse</a:t>
            </a:r>
            <a:r>
              <a:rPr lang="en-DK" dirty="0"/>
              <a:t> og </a:t>
            </a:r>
            <a:r>
              <a:rPr lang="en-DK" b="1" dirty="0"/>
              <a:t>prioritering </a:t>
            </a:r>
            <a:r>
              <a:rPr lang="en-DK" dirty="0"/>
              <a:t>af systemer.</a:t>
            </a:r>
          </a:p>
          <a:p>
            <a:pPr lvl="0"/>
            <a:endParaRPr lang="en-DK" sz="2800" dirty="0"/>
          </a:p>
          <a:p>
            <a:endParaRPr lang="en-DK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942CC6-832C-10EF-7E8E-8298D67F9B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648" b="16709"/>
          <a:stretch>
            <a:fillRect/>
          </a:stretch>
        </p:blipFill>
        <p:spPr>
          <a:xfrm>
            <a:off x="6186055" y="3553691"/>
            <a:ext cx="6005945" cy="2317803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9841ACD-51CF-2BEC-F553-D2EA26C9600A}"/>
              </a:ext>
            </a:extLst>
          </p:cNvPr>
          <p:cNvSpPr txBox="1">
            <a:spLocks/>
          </p:cNvSpPr>
          <p:nvPr/>
        </p:nvSpPr>
        <p:spPr>
          <a:xfrm>
            <a:off x="838132" y="3689837"/>
            <a:ext cx="5604232" cy="22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Det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lærer</a:t>
            </a:r>
            <a:r>
              <a:rPr lang="en-GB" dirty="0"/>
              <a:t> </a:t>
            </a:r>
            <a:r>
              <a:rPr lang="en-GB" dirty="0" err="1"/>
              <a:t>på</a:t>
            </a:r>
            <a:r>
              <a:rPr lang="en-GB" dirty="0"/>
              <a:t> workshops er </a:t>
            </a:r>
            <a:r>
              <a:rPr lang="en-GB" dirty="0" err="1"/>
              <a:t>Udvikler-teamets</a:t>
            </a:r>
            <a:r>
              <a:rPr lang="en-GB" dirty="0"/>
              <a:t> del </a:t>
            </a:r>
            <a:r>
              <a:rPr lang="en-GB" dirty="0" err="1"/>
              <a:t>af</a:t>
            </a:r>
            <a:r>
              <a:rPr lang="en-GB" dirty="0"/>
              <a:t> </a:t>
            </a:r>
            <a:r>
              <a:rPr lang="en-GB" dirty="0" err="1"/>
              <a:t>processen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 err="1"/>
              <a:t>Senere</a:t>
            </a:r>
            <a:r>
              <a:rPr lang="en-GB" dirty="0"/>
              <a:t> 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dag</a:t>
            </a:r>
            <a:r>
              <a:rPr lang="en-GB" dirty="0"/>
              <a:t>: </a:t>
            </a:r>
            <a:r>
              <a:rPr lang="en-GB" dirty="0" err="1"/>
              <a:t>Planen</a:t>
            </a:r>
            <a:r>
              <a:rPr lang="en-GB" dirty="0"/>
              <a:t> for </a:t>
            </a:r>
            <a:r>
              <a:rPr lang="en-GB" dirty="0" err="1"/>
              <a:t>migrering</a:t>
            </a:r>
            <a:r>
              <a:rPr lang="en-GB" dirty="0"/>
              <a:t> </a:t>
            </a:r>
            <a:r>
              <a:rPr lang="en-GB" dirty="0" err="1"/>
              <a:t>af</a:t>
            </a:r>
            <a:r>
              <a:rPr lang="en-GB" dirty="0"/>
              <a:t> </a:t>
            </a:r>
            <a:r>
              <a:rPr lang="en-GB" dirty="0" err="1"/>
              <a:t>vores</a:t>
            </a:r>
            <a:r>
              <a:rPr lang="en-GB" dirty="0"/>
              <a:t> </a:t>
            </a:r>
            <a:r>
              <a:rPr lang="en-GB" dirty="0" err="1"/>
              <a:t>systemer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den </a:t>
            </a:r>
            <a:r>
              <a:rPr lang="en-GB" dirty="0" err="1"/>
              <a:t>videre</a:t>
            </a:r>
            <a:r>
              <a:rPr lang="en-GB" dirty="0"/>
              <a:t> process.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81504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A174B-DD18-0D02-F942-952C46686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Jeres tanker siden sidst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8F34D5-B496-DA54-5746-3102F9AF2E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har fungeret godt eller skidt på de første 2 workshops?</a:t>
            </a:r>
          </a:p>
          <a:p>
            <a:endParaRPr lang="en-DK" dirty="0"/>
          </a:p>
          <a:p>
            <a:r>
              <a:rPr lang="en-DK" dirty="0"/>
              <a:t>Har i kunne bruge det til noget endnu? Hvad har i containerised?</a:t>
            </a:r>
          </a:p>
          <a:p>
            <a:endParaRPr lang="en-DK" dirty="0"/>
          </a:p>
          <a:p>
            <a:r>
              <a:rPr lang="en-DK" dirty="0"/>
              <a:t>Har i tænkt over noget ift. jeres systemer?</a:t>
            </a:r>
          </a:p>
          <a:p>
            <a:endParaRPr lang="en-DK" dirty="0"/>
          </a:p>
          <a:p>
            <a:r>
              <a:rPr lang="en-DK" dirty="0"/>
              <a:t>Var noget letere eller mere vanskeligt end i troede? Noget viden i manglede?</a:t>
            </a:r>
          </a:p>
        </p:txBody>
      </p:sp>
    </p:spTree>
    <p:extLst>
      <p:ext uri="{BB962C8B-B14F-4D97-AF65-F5344CB8AC3E}">
        <p14:creationId xmlns:p14="http://schemas.microsoft.com/office/powerpoint/2010/main" val="1659138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 fontScale="92500" lnSpcReduction="10000"/>
          </a:bodyPr>
          <a:lstStyle/>
          <a:p>
            <a:r>
              <a:rPr lang="en-DK" sz="2600" dirty="0"/>
              <a:t>Hvis vi kan bygge hvert komponent</a:t>
            </a:r>
            <a:br>
              <a:rPr lang="en-DK" sz="2600" dirty="0"/>
            </a:br>
            <a:r>
              <a:rPr lang="en-DK" sz="2600" dirty="0"/>
              <a:t>i vores system som selvstændige</a:t>
            </a:r>
            <a:br>
              <a:rPr lang="en-DK" sz="2600" dirty="0"/>
            </a:br>
            <a:r>
              <a:rPr lang="en-DK" sz="2600" dirty="0"/>
              <a:t>isolerede komponenter…</a:t>
            </a:r>
            <a:br>
              <a:rPr lang="en-DK" dirty="0"/>
            </a:br>
            <a:br>
              <a:rPr lang="en-DK" dirty="0"/>
            </a:b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køre systemet </a:t>
            </a:r>
            <a:r>
              <a:rPr lang="en-DK" sz="2400" u="sng" dirty="0"/>
              <a:t>hvor som helst</a:t>
            </a:r>
            <a:r>
              <a:rPr lang="en-DK" sz="2400" dirty="0"/>
              <a:t>.</a:t>
            </a:r>
          </a:p>
          <a:p>
            <a:endParaRPr lang="en-DK" sz="2800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hurtigt </a:t>
            </a:r>
            <a:r>
              <a:rPr lang="en-DK" sz="2400" u="sng" dirty="0"/>
              <a:t>skalere efter behov</a:t>
            </a:r>
            <a:r>
              <a:rPr lang="en-DK" sz="2400" dirty="0"/>
              <a:t>, ved at sætte flere af de samme legoklodser på pladen.</a:t>
            </a:r>
          </a:p>
          <a:p>
            <a:endParaRPr lang="en-DK" sz="2800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</a:t>
            </a:r>
            <a:r>
              <a:rPr lang="en-DK" sz="2400" u="sng" dirty="0"/>
              <a:t>opbygge komplekse systemer</a:t>
            </a:r>
            <a:r>
              <a:rPr lang="en-DK" sz="2400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396" y="1286868"/>
            <a:ext cx="6301487" cy="2625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7625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338711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6095999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2096792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B8EF-E755-4930-F384-32F4D453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3C880-6D74-D482-8741-F49B8E3B4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425"/>
          </a:xfrm>
        </p:spPr>
        <p:txBody>
          <a:bodyPr>
            <a:normAutofit fontScale="90000"/>
          </a:bodyPr>
          <a:lstStyle/>
          <a:p>
            <a:pPr algn="ctr"/>
            <a:r>
              <a:rPr lang="en-DK" dirty="0"/>
              <a:t>Fra kubectl til kørende Pod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D3F72C-5B7A-00E3-D9C3-E1F218AC9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" t="16500" r="1687" b="5097"/>
          <a:stretch>
            <a:fillRect/>
          </a:stretch>
        </p:blipFill>
        <p:spPr>
          <a:xfrm>
            <a:off x="25875" y="1121664"/>
            <a:ext cx="12140249" cy="550227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5F8A054-E48F-21CF-A9DD-9C3B79B02535}"/>
              </a:ext>
            </a:extLst>
          </p:cNvPr>
          <p:cNvSpPr/>
          <p:nvPr/>
        </p:nvSpPr>
        <p:spPr>
          <a:xfrm>
            <a:off x="4158114" y="2261937"/>
            <a:ext cx="1780673" cy="286832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5A025-31B3-D04A-EEE7-F2125A6490B8}"/>
              </a:ext>
            </a:extLst>
          </p:cNvPr>
          <p:cNvSpPr txBox="1"/>
          <p:nvPr/>
        </p:nvSpPr>
        <p:spPr>
          <a:xfrm rot="20804853">
            <a:off x="1885317" y="4963025"/>
            <a:ext cx="22426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800" dirty="0">
                <a:solidFill>
                  <a:srgbClr val="FF0000"/>
                </a:solidFill>
              </a:rPr>
              <a:t>Vores fokus -&gt;</a:t>
            </a:r>
          </a:p>
        </p:txBody>
      </p:sp>
    </p:spTree>
    <p:extLst>
      <p:ext uri="{BB962C8B-B14F-4D97-AF65-F5344CB8AC3E}">
        <p14:creationId xmlns:p14="http://schemas.microsoft.com/office/powerpoint/2010/main" val="199583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9DF90-E4E3-04A9-423A-8612CD2A5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nu Helm?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FC19C-0C2F-8BB7-FCFF-A4BC24C827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endParaRPr lang="en-GB" sz="2000" dirty="0"/>
          </a:p>
          <a:p>
            <a:endParaRPr lang="en-GB" sz="20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 err="1"/>
              <a:t>Rå</a:t>
            </a:r>
            <a:r>
              <a:rPr lang="en-GB" dirty="0"/>
              <a:t> Kubernetes YAML manifester er:</a:t>
            </a:r>
          </a:p>
          <a:p>
            <a:pPr lvl="1"/>
            <a:r>
              <a:rPr lang="en-GB" sz="2400" dirty="0" err="1"/>
              <a:t>Repetative</a:t>
            </a:r>
            <a:endParaRPr lang="en-GB" sz="2400" dirty="0"/>
          </a:p>
          <a:p>
            <a:pPr lvl="1"/>
            <a:r>
              <a:rPr lang="en-GB" sz="2400" dirty="0" err="1"/>
              <a:t>Svære</a:t>
            </a:r>
            <a:r>
              <a:rPr lang="en-GB" sz="2400" dirty="0"/>
              <a:t> at </a:t>
            </a:r>
            <a:r>
              <a:rPr lang="en-GB" sz="2400" dirty="0" err="1"/>
              <a:t>genbruge</a:t>
            </a:r>
            <a:endParaRPr lang="en-GB" sz="2400" dirty="0"/>
          </a:p>
          <a:p>
            <a:pPr lvl="1"/>
            <a:r>
              <a:rPr lang="en-GB" sz="2400" dirty="0" err="1"/>
              <a:t>Vanskelige</a:t>
            </a:r>
            <a:r>
              <a:rPr lang="en-GB" sz="2400" dirty="0"/>
              <a:t> at </a:t>
            </a:r>
            <a:r>
              <a:rPr lang="en-GB" sz="2400" dirty="0" err="1"/>
              <a:t>omkonfigurere</a:t>
            </a:r>
            <a:r>
              <a:rPr lang="en-GB" sz="2400" dirty="0"/>
              <a:t> </a:t>
            </a:r>
            <a:r>
              <a:rPr lang="en-GB" sz="2400" dirty="0" err="1"/>
              <a:t>til</a:t>
            </a:r>
            <a:r>
              <a:rPr lang="en-GB" sz="2400" dirty="0"/>
              <a:t> </a:t>
            </a:r>
            <a:r>
              <a:rPr lang="en-GB" sz="2400" dirty="0" err="1"/>
              <a:t>hvert</a:t>
            </a:r>
            <a:r>
              <a:rPr lang="en-GB" sz="2400" dirty="0"/>
              <a:t> </a:t>
            </a:r>
            <a:r>
              <a:rPr lang="en-GB" sz="2400" dirty="0" err="1"/>
              <a:t>miljø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u="sng" dirty="0"/>
              <a:t>Helm</a:t>
            </a:r>
            <a:r>
              <a:rPr lang="en-GB" u="sng" dirty="0"/>
              <a:t> </a:t>
            </a:r>
            <a:r>
              <a:rPr lang="en-GB" u="sng" dirty="0" err="1"/>
              <a:t>kommer</a:t>
            </a:r>
            <a:r>
              <a:rPr lang="en-GB" u="sng" dirty="0"/>
              <a:t> </a:t>
            </a:r>
            <a:r>
              <a:rPr lang="en-GB" u="sng" dirty="0" err="1"/>
              <a:t>til</a:t>
            </a:r>
            <a:r>
              <a:rPr lang="en-GB" u="sng" dirty="0"/>
              <a:t> </a:t>
            </a:r>
            <a:r>
              <a:rPr lang="en-GB" u="sng" dirty="0" err="1"/>
              <a:t>vores</a:t>
            </a:r>
            <a:r>
              <a:rPr lang="en-GB" u="sng" dirty="0"/>
              <a:t> </a:t>
            </a:r>
            <a:r>
              <a:rPr lang="en-GB" u="sng" dirty="0" err="1"/>
              <a:t>undsætning</a:t>
            </a:r>
            <a:r>
              <a:rPr lang="en-GB" u="sng" dirty="0"/>
              <a:t>!</a:t>
            </a:r>
            <a:r>
              <a:rPr lang="en-GB" dirty="0"/>
              <a:t>  </a:t>
            </a:r>
            <a:r>
              <a:rPr lang="en-DK" sz="2800" dirty="0"/>
              <a:t>🦸‍♂️</a:t>
            </a:r>
            <a:endParaRPr lang="en-GB" sz="2000" u="sng" dirty="0"/>
          </a:p>
          <a:p>
            <a:pPr lvl="1">
              <a:buFont typeface="Wingdings" pitchFamily="2" charset="2"/>
              <a:buChar char="Ø"/>
            </a:pPr>
            <a:endParaRPr lang="en-DK" dirty="0"/>
          </a:p>
          <a:p>
            <a:pPr lvl="1">
              <a:buFont typeface="Wingdings" pitchFamily="2" charset="2"/>
              <a:buChar char="Ø"/>
            </a:pPr>
            <a:endParaRPr lang="en-GB" sz="1800" b="1" dirty="0"/>
          </a:p>
          <a:p>
            <a:endParaRPr lang="en-DK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925B99-D537-5ED1-D4E9-677A69C98E66}"/>
              </a:ext>
            </a:extLst>
          </p:cNvPr>
          <p:cNvSpPr txBox="1"/>
          <p:nvPr/>
        </p:nvSpPr>
        <p:spPr>
          <a:xfrm>
            <a:off x="838063" y="1585407"/>
            <a:ext cx="9837853" cy="91940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DK" sz="2400" dirty="0"/>
              <a:t>Spørgsmål fra sidste workshop:</a:t>
            </a:r>
          </a:p>
          <a:p>
            <a:r>
              <a:rPr lang="en-DK" sz="2400" b="1" i="1" dirty="0"/>
              <a:t>“Skal jeg virkelig copy-paste al den YAML for hver app og til hvert miljø?”</a:t>
            </a:r>
            <a:endParaRPr lang="en-GB" sz="32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2A1C9D-C6A1-89EE-CAA9-C29045C30B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6920" y="4559300"/>
            <a:ext cx="1856846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422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19EC4-18FC-E2BD-09B9-DF018FC3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Det Helm lover at give 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34B10-091B-067E-D5E9-A53FA6E119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847187" cy="4442517"/>
          </a:xfrm>
        </p:spPr>
        <p:txBody>
          <a:bodyPr/>
          <a:lstStyle/>
          <a:p>
            <a:pPr lvl="0"/>
            <a:r>
              <a:rPr lang="en-DK" b="1" dirty="0"/>
              <a:t>Packaging</a:t>
            </a:r>
            <a:br>
              <a:rPr lang="en-DK" b="1" dirty="0"/>
            </a:br>
            <a:r>
              <a:rPr lang="en-DK" dirty="0"/>
              <a:t>Hele systemet som ét samlet artefakt med semantisk versionsnummer.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Configuration</a:t>
            </a:r>
            <a:br>
              <a:rPr lang="en-DK" b="1" dirty="0"/>
            </a:br>
            <a:r>
              <a:rPr lang="en-DK" dirty="0"/>
              <a:t>Knapper (aka. </a:t>
            </a:r>
            <a:r>
              <a:rPr lang="en-GB" dirty="0"/>
              <a:t>k</a:t>
            </a:r>
            <a:r>
              <a:rPr lang="en-DK" dirty="0"/>
              <a:t>nobs) i stedet for at skulle redigering rå YAML.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Releases</a:t>
            </a:r>
            <a:br>
              <a:rPr lang="en-DK" b="1" dirty="0"/>
            </a:br>
            <a:r>
              <a:rPr lang="en-DK" dirty="0"/>
              <a:t>Nummererede revisioner, med rollback funktion.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Distribution</a:t>
            </a:r>
            <a:br>
              <a:rPr lang="en-DK" b="1" dirty="0"/>
            </a:br>
            <a:r>
              <a:rPr lang="en-DK" dirty="0"/>
              <a:t>Charts pushes til et fælles registry (app-store), ved siden af vores container images.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74439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17E6F-603F-B191-18D4-9C76887D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DA3E4D65-EB7A-D35E-28FA-2FEA620029C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8808E94-A188-1521-3493-A072290277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a-DK" dirty="0"/>
              <a:t>CLI/Live Demo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6299005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A069-99C0-61C5-1AB8-8BA5E561D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Demo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039D91-0490-2C3D-0E21-089FFAC4DE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Ét system, én kommando</a:t>
            </a:r>
          </a:p>
          <a:p>
            <a:pPr lvl="0"/>
            <a:r>
              <a:rPr lang="en-DK" dirty="0"/>
              <a:t>Clusteret ser </a:t>
            </a:r>
            <a:r>
              <a:rPr lang="en-DK" b="1" dirty="0"/>
              <a:t>almindelige manifests</a:t>
            </a:r>
            <a:r>
              <a:rPr lang="en-DK" dirty="0"/>
              <a:t> — Helm forsvinder</a:t>
            </a:r>
          </a:p>
          <a:p>
            <a:pPr lvl="0"/>
            <a:r>
              <a:rPr lang="en-DK" dirty="0"/>
              <a:t>Samme chart som dev </a:t>
            </a:r>
            <a:r>
              <a:rPr lang="en-DK" b="1" dirty="0"/>
              <a:t>og</a:t>
            </a:r>
            <a:r>
              <a:rPr lang="en-DK" dirty="0"/>
              <a:t> prod, side om side</a:t>
            </a:r>
          </a:p>
          <a:p>
            <a:pPr lvl="0"/>
            <a:r>
              <a:rPr lang="en-DK" b="1" dirty="0"/>
              <a:t>Revisioner</a:t>
            </a:r>
            <a:r>
              <a:rPr lang="en-DK" dirty="0"/>
              <a:t>: upgrade, historik, rollback</a:t>
            </a:r>
          </a:p>
          <a:p>
            <a:pPr lvl="0"/>
            <a:r>
              <a:rPr lang="en-DK" dirty="0"/>
              <a:t>Vi ødelægger det med vilje — og det retter sig selv via </a:t>
            </a:r>
            <a:r>
              <a:rPr lang="en-DK" b="1" dirty="0"/>
              <a:t>self-healing</a:t>
            </a:r>
            <a:endParaRPr lang="en-DK" dirty="0"/>
          </a:p>
          <a:p>
            <a:endParaRPr lang="en-DK" dirty="0"/>
          </a:p>
          <a:p>
            <a:r>
              <a:rPr lang="en-DK" dirty="0"/>
              <a:t>Observationer?</a:t>
            </a:r>
          </a:p>
        </p:txBody>
      </p:sp>
    </p:spTree>
    <p:extLst>
      <p:ext uri="{BB962C8B-B14F-4D97-AF65-F5344CB8AC3E}">
        <p14:creationId xmlns:p14="http://schemas.microsoft.com/office/powerpoint/2010/main" val="2606911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55D22-325E-4083-E79F-0A694578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E52E8A9-DE2E-6273-DCCC-345CE54E3E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99C3CAD-B123-8BF9-8AE3-ED7E1D2571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a-DK" dirty="0"/>
              <a:t>Helm basics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907201840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56B03-B713-6A3A-ABC3-B482C358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Helm?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D69098-E7FB-72F7-4B78-AD6BED8ABE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b="1" dirty="0"/>
              <a:t>En package manager for Kubernetes</a:t>
            </a:r>
            <a:r>
              <a:rPr lang="en-DK" dirty="0"/>
              <a:t> — apt/npm, men for cluster-workloads</a:t>
            </a:r>
          </a:p>
          <a:p>
            <a:pPr lvl="0"/>
            <a:endParaRPr lang="en-DK" dirty="0"/>
          </a:p>
          <a:p>
            <a:pPr lvl="0"/>
            <a:r>
              <a:rPr lang="en-DK" b="1" dirty="0"/>
              <a:t>Termer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Chart 		= pakken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Repository 	= pakke registry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Release 		= en installation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Revision 	= en version af installationen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Et CLI værktøj + noget metadata i clusteret</a:t>
            </a:r>
            <a:br>
              <a:rPr lang="en-DK" dirty="0"/>
            </a:br>
            <a:br>
              <a:rPr lang="en-DK" dirty="0"/>
            </a:br>
            <a:r>
              <a:rPr lang="en-DK" dirty="0"/>
              <a:t> </a:t>
            </a:r>
            <a:r>
              <a:rPr lang="en-DK" b="1" dirty="0">
                <a:sym typeface="Wingdings" pitchFamily="2" charset="2"/>
              </a:rPr>
              <a:t></a:t>
            </a:r>
            <a:r>
              <a:rPr lang="en-DK" dirty="0">
                <a:sym typeface="Wingdings" pitchFamily="2" charset="2"/>
              </a:rPr>
              <a:t> </a:t>
            </a:r>
            <a:r>
              <a:rPr lang="en-DK" b="1" dirty="0"/>
              <a:t>Ingen server eller controller.</a:t>
            </a:r>
            <a:endParaRPr lang="en-DK" dirty="0"/>
          </a:p>
          <a:p>
            <a:endParaRPr lang="en-D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46A814-081C-20B1-0CEF-16A8EF63D2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5392" y="4449132"/>
            <a:ext cx="1856846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57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EF0BA6-D142-11B7-4D1D-AF61A3ECD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15342" r="1550" b="12192"/>
          <a:stretch>
            <a:fillRect/>
          </a:stretch>
        </p:blipFill>
        <p:spPr>
          <a:xfrm>
            <a:off x="4940135" y="3305812"/>
            <a:ext cx="7053943" cy="29483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1DD70F-0023-735C-EFDB-BA16DE2B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= Lego Byggesæt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CA3A2-7848-3D06-BEDE-D44FBC52B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9"/>
            <a:ext cx="8845697" cy="4282600"/>
          </a:xfrm>
        </p:spPr>
        <p:txBody>
          <a:bodyPr/>
          <a:lstStyle/>
          <a:p>
            <a:r>
              <a:rPr lang="en-DK" dirty="0"/>
              <a:t>Vi brygger lidt videre på lego-analogien…</a:t>
            </a:r>
            <a:br>
              <a:rPr lang="en-DK" dirty="0"/>
            </a:br>
            <a:endParaRPr lang="en-DK" dirty="0"/>
          </a:p>
          <a:p>
            <a:r>
              <a:rPr lang="en-DK" dirty="0"/>
              <a:t>Løse brikker (containere + manifester)</a:t>
            </a:r>
            <a:br>
              <a:rPr lang="en-DK" dirty="0"/>
            </a:br>
            <a:r>
              <a:rPr lang="en-DK" dirty="0"/>
              <a:t>→ packaged as a boxed set with a parts list and instruction booklet.</a:t>
            </a:r>
            <a:br>
              <a:rPr lang="en-DK" dirty="0"/>
            </a:br>
            <a:endParaRPr lang="en-DK" dirty="0"/>
          </a:p>
          <a:p>
            <a:r>
              <a:rPr lang="en-DK" dirty="0"/>
              <a:t>Same bricks. Now shippable,</a:t>
            </a:r>
            <a:br>
              <a:rPr lang="en-DK" dirty="0"/>
            </a:br>
            <a:r>
              <a:rPr lang="en-DK" dirty="0"/>
              <a:t>and someone else can build it.</a:t>
            </a:r>
          </a:p>
        </p:txBody>
      </p:sp>
    </p:spTree>
    <p:extLst>
      <p:ext uri="{BB962C8B-B14F-4D97-AF65-F5344CB8AC3E}">
        <p14:creationId xmlns:p14="http://schemas.microsoft.com/office/powerpoint/2010/main" val="3019539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B0BA4-B745-C0FA-8A10-63A987273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23D8-FF87-6AE2-D9DB-AEF7AF97E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chart –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671CC4-4B65-2247-BCD1-03C0310820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40724" cy="444251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Chart.yaml</a:t>
            </a:r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Metadata about the application.</a:t>
            </a:r>
          </a:p>
          <a:p>
            <a:pPr lvl="1"/>
            <a:r>
              <a:rPr lang="en-GB" dirty="0"/>
              <a:t>v</a:t>
            </a:r>
            <a:r>
              <a:rPr lang="en-DK" dirty="0"/>
              <a:t>ersion: Semver of the helm chart, can change independently of the app.</a:t>
            </a:r>
          </a:p>
          <a:p>
            <a:pPr lvl="1"/>
            <a:r>
              <a:rPr lang="en-DK" dirty="0"/>
              <a:t>appVersion: Semver of the contained app which will be installed.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Values used to template in k8s resources.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Should have sane defaults for installation.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Can have a full schema for validation before install.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emplates/*</a:t>
            </a:r>
          </a:p>
          <a:p>
            <a:pPr lvl="1"/>
            <a:r>
              <a:rPr lang="en-GB" dirty="0"/>
              <a:t>A directory of Kubernetes (k8s) resource templates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(Deployments, Secrets, Services, etc.)</a:t>
            </a:r>
            <a:endParaRPr lang="en-GB" dirty="0"/>
          </a:p>
          <a:p>
            <a:pPr lvl="1"/>
            <a:r>
              <a:rPr lang="en-GB" dirty="0"/>
              <a:t>Combined with values, they will generate valid Kubernetes manifest files.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717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53373-B0D2-3DF2-1781-285D501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Helm chart –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FC3F5-1B53-5760-2ABF-5E313010EDF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DK" u="sng" dirty="0"/>
              <a:t>Required files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Chart.yaml 	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Metadata about chart/app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alues.yaml 	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 variables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emplates/*.yaml 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Templated kubernetes manifests: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Deployments, ConfigMaps, Services, Ingress, etc.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DK" u="sng" dirty="0"/>
              <a:t>Optional files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templates/_helpers.tpl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Helper scripts available in all templates</a:t>
            </a:r>
            <a:endParaRPr lang="en-DK" dirty="0"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templates/NOTES.txt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		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Notes printed on install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alues.schema.json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JSON schema for template variables</a:t>
            </a:r>
            <a:endParaRPr lang="en-DK" dirty="0"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.helmignore	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Ignore for chart package</a:t>
            </a:r>
            <a:endParaRPr lang="en-DK" dirty="0">
              <a:cs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7AE4E3-704D-6704-14AD-73817CA45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5392" y="4449132"/>
            <a:ext cx="1856846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77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394ED-A01F-ED6D-40BD-0425309A0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anatomi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7ACAF-C21D-1ED0-AE96-A710D731BF8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377959" y="1359795"/>
            <a:ext cx="10515600" cy="536049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my-chart/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Chart.yaml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............. metadata. name, version,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appVersion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dependencies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│                           </a:t>
            </a: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⇒ the label on the box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............ DEFAULTS, and the chart's public API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│                           </a:t>
            </a: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⇒ the knobs on the front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values.schema.json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 optional: validates values before install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                        </a:t>
            </a: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⇒ make the knobs only turn to legal positions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templates/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 the manifests you already write, with “holes” in them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service.yaml</a:t>
            </a:r>
            <a:endParaRPr lang="en-GB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ingress.yaml</a:t>
            </a:r>
            <a:endParaRPr lang="en-GB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_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helpers.tpl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 template helpers (Leading _ = not a manifest)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NOTES.txt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.......... printed after install. ALSO a template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└── tests/ ............. only run by `helm test`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charts/ ................ sub-charts (dependencies) live here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└── .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helmignore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............ like .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dockerignore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for `helm package`</a:t>
            </a:r>
            <a:endParaRPr lang="en-DK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104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E5EAB-C3D3-9E02-2924-672D4FEE5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254" y="365125"/>
            <a:ext cx="10515600" cy="1325563"/>
          </a:xfrm>
        </p:spPr>
        <p:txBody>
          <a:bodyPr/>
          <a:lstStyle/>
          <a:p>
            <a:r>
              <a:rPr lang="en-DK" dirty="0"/>
              <a:t>Chart.yaml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6BFC6-D3AF-B418-1DC5-A370EF9E23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254" y="1690688"/>
            <a:ext cx="3662616" cy="4442517"/>
          </a:xfrm>
        </p:spPr>
        <p:txBody>
          <a:bodyPr/>
          <a:lstStyle/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apiVersion: v2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ame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version (of chart)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appVersion (of app)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ependencies</a:t>
            </a:r>
          </a:p>
          <a:p>
            <a:pPr lvl="1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Sub-charts our app needs installed</a:t>
            </a:r>
          </a:p>
          <a:p>
            <a:pPr lvl="1"/>
            <a:endParaRPr lang="en-DK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Optional:</a:t>
            </a:r>
            <a:b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keywords, home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E435B8-DF75-47C2-1814-AF5287B19D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26"/>
          <a:stretch>
            <a:fillRect/>
          </a:stretch>
        </p:blipFill>
        <p:spPr>
          <a:xfrm>
            <a:off x="4556083" y="1690689"/>
            <a:ext cx="7378700" cy="3581956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41097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80A40-C339-15FC-2BF6-EF91E8A9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values.yaml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99AF-F3C1-5619-4F46-4D77148CED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4111483" cy="4442517"/>
          </a:xfrm>
        </p:spPr>
        <p:txBody>
          <a:bodyPr>
            <a:normAutofit/>
          </a:bodyPr>
          <a:lstStyle/>
          <a:p>
            <a:r>
              <a:rPr lang="en-DK" dirty="0"/>
              <a:t>Chart’ets eksterne “kontrakt”.</a:t>
            </a:r>
          </a:p>
          <a:p>
            <a:r>
              <a:rPr lang="en-DK" dirty="0"/>
              <a:t>Hver indstilling udgør en del af kontrakten</a:t>
            </a:r>
          </a:p>
          <a:p>
            <a:pPr lvl="0"/>
            <a:r>
              <a:rPr lang="en-DK" dirty="0"/>
              <a:t>Mulighed for default values</a:t>
            </a:r>
            <a:br>
              <a:rPr lang="en-DK" dirty="0"/>
            </a:b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nem opsætning.</a:t>
            </a:r>
            <a:br>
              <a:rPr lang="en-DK" dirty="0"/>
            </a:b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sæt kun de values du vil ændre ved installation.</a:t>
            </a:r>
            <a:br>
              <a:rPr lang="en-DK" dirty="0"/>
            </a:br>
            <a:endParaRPr lang="en-DK" dirty="0"/>
          </a:p>
          <a:p>
            <a:pPr lvl="0"/>
            <a:r>
              <a:rPr lang="en-DK" dirty="0"/>
              <a:t>At omdøbe en value </a:t>
            </a:r>
            <a:r>
              <a:rPr lang="en-DK" dirty="0">
                <a:sym typeface="Wingdings" pitchFamily="2" charset="2"/>
              </a:rPr>
              <a:t>er en</a:t>
            </a:r>
            <a:br>
              <a:rPr lang="en-DK" dirty="0">
                <a:sym typeface="Wingdings" pitchFamily="2" charset="2"/>
              </a:rPr>
            </a:br>
            <a:r>
              <a:rPr lang="en-DK" b="1" dirty="0"/>
              <a:t>breaking change</a:t>
            </a:r>
            <a:br>
              <a:rPr lang="en-DK" b="1" dirty="0"/>
            </a:br>
            <a:r>
              <a:rPr lang="en-DK" b="1" dirty="0">
                <a:sym typeface="Wingdings" pitchFamily="2" charset="2"/>
              </a:rPr>
              <a:t> </a:t>
            </a:r>
            <a:r>
              <a:rPr lang="en-DK" dirty="0"/>
              <a:t>derfor er chart versioneret</a:t>
            </a:r>
            <a:endParaRPr lang="en-DK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ADE15-C750-AEB7-5C40-0EB63E8FC9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2727" b="1309"/>
          <a:stretch>
            <a:fillRect/>
          </a:stretch>
        </p:blipFill>
        <p:spPr>
          <a:xfrm>
            <a:off x="5442858" y="825902"/>
            <a:ext cx="6404186" cy="4921755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31471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48D2C-2CA8-8E0E-00D5-C2386CB9C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 kilder &amp; prioritet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F53DD-3C38-1BA3-0F35-AE503F4EA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dirty="0"/>
              <a:t>Values overskrives i prioriteret rækkefølge (fra mindst til højest)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Chart defaults i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En fil med values givet ved install</a:t>
            </a:r>
            <a:br>
              <a:rPr lang="en-DK" dirty="0"/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helm install ...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--file prod-values.yml</a:t>
            </a: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000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Enkelt value sat via flag ved install</a:t>
            </a:r>
            <a:br>
              <a:rPr lang="en-DK" dirty="0"/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helm install ...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--set replicas=3</a:t>
            </a:r>
            <a:endParaRPr lang="en-DK" sz="2800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37A3E7-789A-09AC-E088-CA743F8FD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843" b="14065"/>
          <a:stretch>
            <a:fillRect/>
          </a:stretch>
        </p:blipFill>
        <p:spPr>
          <a:xfrm>
            <a:off x="7651436" y="2260578"/>
            <a:ext cx="4520540" cy="108333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5EEB0D-9A4B-17B1-8866-DC89DC15A6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672" y="5476869"/>
            <a:ext cx="3670680" cy="330963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13" name="Down Arrow 12">
            <a:extLst>
              <a:ext uri="{FF2B5EF4-FFF2-40B4-BE49-F238E27FC236}">
                <a16:creationId xmlns:a16="http://schemas.microsoft.com/office/drawing/2014/main" id="{23747E05-094B-93C9-D3A1-A7547E571418}"/>
              </a:ext>
            </a:extLst>
          </p:cNvPr>
          <p:cNvSpPr/>
          <p:nvPr/>
        </p:nvSpPr>
        <p:spPr>
          <a:xfrm>
            <a:off x="8668988" y="3351292"/>
            <a:ext cx="285007" cy="634356"/>
          </a:xfrm>
          <a:prstGeom prst="downArrow">
            <a:avLst/>
          </a:prstGeom>
          <a:solidFill>
            <a:srgbClr val="C54D0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21CA3F74-AF5F-EAB1-6798-86DD956690B6}"/>
              </a:ext>
            </a:extLst>
          </p:cNvPr>
          <p:cNvSpPr/>
          <p:nvPr/>
        </p:nvSpPr>
        <p:spPr>
          <a:xfrm>
            <a:off x="8668987" y="4823852"/>
            <a:ext cx="285007" cy="634356"/>
          </a:xfrm>
          <a:prstGeom prst="downArrow">
            <a:avLst/>
          </a:prstGeom>
          <a:solidFill>
            <a:srgbClr val="C54D0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87CD3BD-D5FC-BBCE-433E-8C5CA29DB3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436" y="3972599"/>
            <a:ext cx="2527300" cy="88900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8620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365C9B-CB18-CDFC-630C-105C5E3539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04" t="4033" r="1393" b="4864"/>
          <a:stretch>
            <a:fillRect/>
          </a:stretch>
        </p:blipFill>
        <p:spPr>
          <a:xfrm>
            <a:off x="4904508" y="2351314"/>
            <a:ext cx="7184573" cy="37818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50F6D8-328E-3A1D-107C-B6BE26F03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Chart ≠ Release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4A48C-B93E-F2A1-1E6A-59CA9965D5B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477068" cy="4442517"/>
          </a:xfrm>
        </p:spPr>
        <p:txBody>
          <a:bodyPr/>
          <a:lstStyle/>
          <a:p>
            <a:r>
              <a:rPr lang="en-DK" dirty="0"/>
              <a:t>A single chart can be installed as </a:t>
            </a:r>
            <a:r>
              <a:rPr lang="en-DK" u="sng" dirty="0"/>
              <a:t>many</a:t>
            </a:r>
            <a:r>
              <a:rPr lang="en-DK" dirty="0"/>
              <a:t> releases.</a:t>
            </a:r>
          </a:p>
          <a:p>
            <a:r>
              <a:rPr lang="en-DK" dirty="0"/>
              <a:t>One chart can be:</a:t>
            </a:r>
          </a:p>
          <a:p>
            <a:pPr lvl="1"/>
            <a:r>
              <a:rPr lang="en-DK" dirty="0"/>
              <a:t>Installed in several clusters (dev + stage + prod).</a:t>
            </a:r>
          </a:p>
          <a:p>
            <a:pPr lvl="1"/>
            <a:r>
              <a:rPr lang="en-DK" dirty="0">
                <a:sym typeface="Wingdings" pitchFamily="2" charset="2"/>
              </a:rPr>
              <a:t>Installed in </a:t>
            </a:r>
            <a:r>
              <a:rPr lang="en-DK" dirty="0"/>
              <a:t>several namespaces of the same cluster.</a:t>
            </a:r>
          </a:p>
          <a:p>
            <a:r>
              <a:rPr lang="en-DK" dirty="0"/>
              <a:t>Usefulness:</a:t>
            </a:r>
          </a:p>
          <a:p>
            <a:pPr lvl="1"/>
            <a:r>
              <a:rPr lang="en-DK" dirty="0"/>
              <a:t>Promoted delivery across environments.</a:t>
            </a:r>
          </a:p>
          <a:p>
            <a:pPr lvl="1"/>
            <a:r>
              <a:rPr lang="en-DK" dirty="0"/>
              <a:t>Separate installs within one for AB testing.</a:t>
            </a:r>
          </a:p>
          <a:p>
            <a:pPr lvl="1"/>
            <a:r>
              <a:rPr lang="en-DK" dirty="0"/>
              <a:t>Integration tests on version candidates</a:t>
            </a:r>
          </a:p>
          <a:p>
            <a:r>
              <a:rPr lang="en-DK" dirty="0"/>
              <a:t>Each release exists</a:t>
            </a:r>
            <a:br>
              <a:rPr lang="en-DK" dirty="0"/>
            </a:br>
            <a:r>
              <a:rPr lang="en-DK" dirty="0"/>
              <a:t>independently of the other.</a:t>
            </a:r>
            <a:br>
              <a:rPr lang="en-DK" dirty="0"/>
            </a:br>
            <a:r>
              <a:rPr lang="en-DK" dirty="0">
                <a:solidFill>
                  <a:srgbClr val="C54D02"/>
                </a:solidFill>
              </a:rPr>
              <a:t>(separate namespaces)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21172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EACF-E4C5-FCD1-3169-1C4E17BAE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Release revisioner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E8057-D07F-CE20-07CC-B18A38BC2D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571933"/>
            <a:ext cx="10515600" cy="4442517"/>
          </a:xfrm>
        </p:spPr>
        <p:txBody>
          <a:bodyPr>
            <a:normAutofit/>
          </a:bodyPr>
          <a:lstStyle/>
          <a:p>
            <a:r>
              <a:rPr lang="en-DK" dirty="0"/>
              <a:t>Revisions timeline er </a:t>
            </a:r>
            <a:r>
              <a:rPr lang="en-DK" u="sng" dirty="0"/>
              <a:t>altid sekventiel.</a:t>
            </a:r>
          </a:p>
          <a:p>
            <a:r>
              <a:rPr lang="en-DK" dirty="0"/>
              <a:t>Rollback går ikke tilbage i historikken — den tilføjer en ny revision.</a:t>
            </a:r>
          </a:p>
          <a:p>
            <a:r>
              <a:rPr lang="en-DK" dirty="0"/>
              <a:t>Se release historik: 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history greetings -n stage</a:t>
            </a:r>
            <a:b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rev 1       rev 2       rev 3       rev 4       rev 5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install     upgrade     upgrade     upgrade     rollback → 3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v1.0.0      v1.0.1      v1.1.0      v1.2.0      v1.1.0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✅          ✅          ✅          ❌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FAILED 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✅</a:t>
            </a:r>
          </a:p>
        </p:txBody>
      </p:sp>
      <p:sp>
        <p:nvSpPr>
          <p:cNvPr id="14" name="Curved Down Arrow 13">
            <a:extLst>
              <a:ext uri="{FF2B5EF4-FFF2-40B4-BE49-F238E27FC236}">
                <a16:creationId xmlns:a16="http://schemas.microsoft.com/office/drawing/2014/main" id="{C762C8D9-2E1C-7788-F975-199A47F63EB7}"/>
              </a:ext>
            </a:extLst>
          </p:cNvPr>
          <p:cNvSpPr/>
          <p:nvPr/>
        </p:nvSpPr>
        <p:spPr>
          <a:xfrm rot="10800000">
            <a:off x="4975754" y="5511742"/>
            <a:ext cx="4144489" cy="651552"/>
          </a:xfrm>
          <a:prstGeom prst="curvedDownArrow">
            <a:avLst/>
          </a:prstGeom>
          <a:solidFill>
            <a:srgbClr val="0074D9"/>
          </a:solidFill>
          <a:ln w="19050">
            <a:solidFill>
              <a:schemeClr val="tx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2030122 w 4144489"/>
                      <a:gd name="csY0" fmla="*/ 632 h 673966"/>
                      <a:gd name="csX1" fmla="*/ 168492 w 4144489"/>
                      <a:gd name="csY1" fmla="*/ 673966 h 673966"/>
                      <a:gd name="csX2" fmla="*/ 0 w 4144489"/>
                      <a:gd name="csY2" fmla="*/ 673966 h 673966"/>
                      <a:gd name="csX3" fmla="*/ 1945876 w 4144489"/>
                      <a:gd name="csY3" fmla="*/ 0 h 673966"/>
                      <a:gd name="csX4" fmla="*/ 2114367 w 4144489"/>
                      <a:gd name="csY4" fmla="*/ 0 h 673966"/>
                      <a:gd name="csX5" fmla="*/ 3998453 w 4144489"/>
                      <a:gd name="csY5" fmla="*/ 505474 h 673966"/>
                      <a:gd name="csX6" fmla="*/ 4082699 w 4144489"/>
                      <a:gd name="csY6" fmla="*/ 505475 h 673966"/>
                      <a:gd name="csX7" fmla="*/ 3975998 w 4144489"/>
                      <a:gd name="csY7" fmla="*/ 673966 h 673966"/>
                      <a:gd name="csX8" fmla="*/ 3745716 w 4144489"/>
                      <a:gd name="csY8" fmla="*/ 505475 h 673966"/>
                      <a:gd name="csX9" fmla="*/ 3829962 w 4144489"/>
                      <a:gd name="csY9" fmla="*/ 505475 h 673966"/>
                      <a:gd name="csX10" fmla="*/ 1945876 w 4144489"/>
                      <a:gd name="csY10" fmla="*/ 1 h 6739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4144489" h="673966" stroke="0" extrusionOk="0">
                        <a:moveTo>
                          <a:pt x="3975998" y="673966"/>
                        </a:moveTo>
                        <a:cubicBezTo>
                          <a:pt x="3846607" y="611663"/>
                          <a:pt x="3860508" y="555830"/>
                          <a:pt x="3745716" y="505475"/>
                        </a:cubicBezTo>
                        <a:cubicBezTo>
                          <a:pt x="3774887" y="498014"/>
                          <a:pt x="3807737" y="508123"/>
                          <a:pt x="3829962" y="505475"/>
                        </a:cubicBezTo>
                        <a:cubicBezTo>
                          <a:pt x="3570594" y="415399"/>
                          <a:pt x="2731884" y="-55427"/>
                          <a:pt x="1945876" y="1"/>
                        </a:cubicBezTo>
                        <a:cubicBezTo>
                          <a:pt x="2028693" y="-18383"/>
                          <a:pt x="2055768" y="12157"/>
                          <a:pt x="2114367" y="0"/>
                        </a:cubicBezTo>
                        <a:cubicBezTo>
                          <a:pt x="2981549" y="-13202"/>
                          <a:pt x="3790541" y="185258"/>
                          <a:pt x="3998453" y="505474"/>
                        </a:cubicBezTo>
                        <a:cubicBezTo>
                          <a:pt x="4024249" y="499796"/>
                          <a:pt x="4050399" y="509291"/>
                          <a:pt x="4082699" y="505475"/>
                        </a:cubicBezTo>
                        <a:cubicBezTo>
                          <a:pt x="4044776" y="592086"/>
                          <a:pt x="4004390" y="593651"/>
                          <a:pt x="3975998" y="673966"/>
                        </a:cubicBezTo>
                        <a:close/>
                      </a:path>
                      <a:path w="4144489" h="673966" fill="darkenLess" stroke="0" extrusionOk="0">
                        <a:moveTo>
                          <a:pt x="2030122" y="632"/>
                        </a:moveTo>
                        <a:cubicBezTo>
                          <a:pt x="974662" y="15425"/>
                          <a:pt x="171250" y="305531"/>
                          <a:pt x="168492" y="673966"/>
                        </a:cubicBezTo>
                        <a:cubicBezTo>
                          <a:pt x="89262" y="685124"/>
                          <a:pt x="60195" y="669939"/>
                          <a:pt x="0" y="673966"/>
                        </a:cubicBezTo>
                        <a:cubicBezTo>
                          <a:pt x="114065" y="517364"/>
                          <a:pt x="586572" y="91773"/>
                          <a:pt x="1376973" y="29447"/>
                        </a:cubicBezTo>
                        <a:cubicBezTo>
                          <a:pt x="1598093" y="-38612"/>
                          <a:pt x="1800182" y="-1192"/>
                          <a:pt x="2030122" y="632"/>
                        </a:cubicBezTo>
                        <a:close/>
                      </a:path>
                      <a:path w="4144489" h="673966" fill="none" extrusionOk="0">
                        <a:moveTo>
                          <a:pt x="2030122" y="632"/>
                        </a:moveTo>
                        <a:cubicBezTo>
                          <a:pt x="971664" y="70882"/>
                          <a:pt x="151661" y="260090"/>
                          <a:pt x="168492" y="673966"/>
                        </a:cubicBezTo>
                        <a:cubicBezTo>
                          <a:pt x="117597" y="682262"/>
                          <a:pt x="57505" y="662736"/>
                          <a:pt x="0" y="673966"/>
                        </a:cubicBezTo>
                        <a:cubicBezTo>
                          <a:pt x="14825" y="315492"/>
                          <a:pt x="1003157" y="-78899"/>
                          <a:pt x="1945876" y="0"/>
                        </a:cubicBezTo>
                        <a:cubicBezTo>
                          <a:pt x="2012910" y="-7079"/>
                          <a:pt x="2080473" y="19300"/>
                          <a:pt x="2114367" y="0"/>
                        </a:cubicBezTo>
                        <a:cubicBezTo>
                          <a:pt x="2991562" y="37873"/>
                          <a:pt x="3789085" y="211480"/>
                          <a:pt x="3998453" y="505474"/>
                        </a:cubicBezTo>
                        <a:cubicBezTo>
                          <a:pt x="4039648" y="500693"/>
                          <a:pt x="4062914" y="512198"/>
                          <a:pt x="4082699" y="505475"/>
                        </a:cubicBezTo>
                        <a:cubicBezTo>
                          <a:pt x="4057277" y="558588"/>
                          <a:pt x="3985966" y="621976"/>
                          <a:pt x="3975998" y="673966"/>
                        </a:cubicBezTo>
                        <a:cubicBezTo>
                          <a:pt x="3884470" y="643345"/>
                          <a:pt x="3838343" y="538782"/>
                          <a:pt x="3745716" y="505475"/>
                        </a:cubicBezTo>
                        <a:cubicBezTo>
                          <a:pt x="3770020" y="500968"/>
                          <a:pt x="3793360" y="508815"/>
                          <a:pt x="3829962" y="505475"/>
                        </a:cubicBezTo>
                        <a:cubicBezTo>
                          <a:pt x="3553729" y="110731"/>
                          <a:pt x="2632757" y="93153"/>
                          <a:pt x="1945876" y="1"/>
                        </a:cubicBezTo>
                      </a:path>
                      <a:path w="4144489" h="673966" fill="none" stroke="0" extrusionOk="0">
                        <a:moveTo>
                          <a:pt x="2030122" y="632"/>
                        </a:moveTo>
                        <a:cubicBezTo>
                          <a:pt x="978476" y="8866"/>
                          <a:pt x="148923" y="311704"/>
                          <a:pt x="168492" y="673966"/>
                        </a:cubicBezTo>
                        <a:cubicBezTo>
                          <a:pt x="99645" y="681608"/>
                          <a:pt x="41340" y="655180"/>
                          <a:pt x="0" y="673966"/>
                        </a:cubicBezTo>
                        <a:cubicBezTo>
                          <a:pt x="42859" y="293038"/>
                          <a:pt x="983445" y="18235"/>
                          <a:pt x="1945876" y="0"/>
                        </a:cubicBezTo>
                        <a:cubicBezTo>
                          <a:pt x="1983346" y="-9196"/>
                          <a:pt x="2057353" y="14225"/>
                          <a:pt x="2114367" y="0"/>
                        </a:cubicBezTo>
                        <a:cubicBezTo>
                          <a:pt x="2956665" y="71469"/>
                          <a:pt x="3668993" y="213645"/>
                          <a:pt x="3998453" y="505474"/>
                        </a:cubicBezTo>
                        <a:cubicBezTo>
                          <a:pt x="4029833" y="499732"/>
                          <a:pt x="4047245" y="505482"/>
                          <a:pt x="4082699" y="505475"/>
                        </a:cubicBezTo>
                        <a:cubicBezTo>
                          <a:pt x="4059182" y="571712"/>
                          <a:pt x="4018848" y="583891"/>
                          <a:pt x="3975998" y="673966"/>
                        </a:cubicBezTo>
                        <a:cubicBezTo>
                          <a:pt x="3900707" y="619061"/>
                          <a:pt x="3865910" y="569438"/>
                          <a:pt x="3745716" y="505475"/>
                        </a:cubicBezTo>
                        <a:cubicBezTo>
                          <a:pt x="3783270" y="502094"/>
                          <a:pt x="3800211" y="508240"/>
                          <a:pt x="3829962" y="505475"/>
                        </a:cubicBezTo>
                        <a:cubicBezTo>
                          <a:pt x="3719355" y="277976"/>
                          <a:pt x="2636213" y="43226"/>
                          <a:pt x="1945876" y="1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chemeClr val="tx1"/>
              </a:solidFill>
            </a:endParaRPr>
          </a:p>
        </p:txBody>
      </p:sp>
      <p:sp>
        <p:nvSpPr>
          <p:cNvPr id="15" name="Striped Right Arrow 14">
            <a:extLst>
              <a:ext uri="{FF2B5EF4-FFF2-40B4-BE49-F238E27FC236}">
                <a16:creationId xmlns:a16="http://schemas.microsoft.com/office/drawing/2014/main" id="{D6F549A0-9991-4C9C-B5A0-B01D55DCA17E}"/>
              </a:ext>
            </a:extLst>
          </p:cNvPr>
          <p:cNvSpPr/>
          <p:nvPr/>
        </p:nvSpPr>
        <p:spPr>
          <a:xfrm>
            <a:off x="683820" y="3390405"/>
            <a:ext cx="10419676" cy="301844"/>
          </a:xfrm>
          <a:prstGeom prst="stripedRightArrow">
            <a:avLst/>
          </a:prstGeom>
          <a:solidFill>
            <a:srgbClr val="B8580A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C205DA-B1DD-A433-FE6C-7BAB6095D32D}"/>
              </a:ext>
            </a:extLst>
          </p:cNvPr>
          <p:cNvSpPr/>
          <p:nvPr/>
        </p:nvSpPr>
        <p:spPr>
          <a:xfrm>
            <a:off x="8659258" y="3692249"/>
            <a:ext cx="2694542" cy="19483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9590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  <p:bldP spid="15" grpId="0" animBg="1"/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097CF-0ADD-1270-2001-E3881A6E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 bor et release?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748392-0CB6-97E6-F1A1-3EF3119808B5}"/>
              </a:ext>
            </a:extLst>
          </p:cNvPr>
          <p:cNvGrpSpPr/>
          <p:nvPr/>
        </p:nvGrpSpPr>
        <p:grpSpPr>
          <a:xfrm>
            <a:off x="6787311" y="1017176"/>
            <a:ext cx="5168766" cy="5116029"/>
            <a:chOff x="3426593" y="1372371"/>
            <a:chExt cx="5168766" cy="511602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522A52E-B61E-7E86-5CDD-AE63FB194B82}"/>
                </a:ext>
              </a:extLst>
            </p:cNvPr>
            <p:cNvSpPr/>
            <p:nvPr/>
          </p:nvSpPr>
          <p:spPr>
            <a:xfrm>
              <a:off x="3426593" y="1372371"/>
              <a:ext cx="5168766" cy="5116029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br>
                <a:rPr lang="da-DK" sz="2000" dirty="0">
                  <a:solidFill>
                    <a:schemeClr val="tx1"/>
                  </a:solidFill>
                </a:rPr>
              </a:br>
              <a:r>
                <a:rPr lang="da-DK" sz="2000" b="1" dirty="0">
                  <a:solidFill>
                    <a:schemeClr val="tx1"/>
                  </a:solidFill>
                </a:rPr>
                <a:t>Helm release:</a:t>
              </a:r>
              <a:r>
                <a:rPr lang="da-DK" sz="2000" dirty="0">
                  <a:solidFill>
                    <a:schemeClr val="tx1"/>
                  </a:solidFill>
                </a:rPr>
                <a:t> </a:t>
              </a:r>
              <a:r>
                <a:rPr lang="da-DK" sz="2000" dirty="0" err="1">
                  <a:solidFill>
                    <a:schemeClr val="tx1"/>
                  </a:solidFill>
                </a:rPr>
                <a:t>greetings</a:t>
              </a:r>
              <a:endParaRPr lang="en-DK" sz="20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9E3369A-5477-E133-5AEA-4B2CAB4432E1}"/>
                </a:ext>
              </a:extLst>
            </p:cNvPr>
            <p:cNvSpPr/>
            <p:nvPr/>
          </p:nvSpPr>
          <p:spPr>
            <a:xfrm>
              <a:off x="3825917" y="246559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sh.helm.release.v1.greetings.v1</a:t>
              </a:r>
              <a:br>
                <a:rPr lang="en-GB" dirty="0"/>
              </a:br>
              <a:r>
                <a:rPr lang="en-GB" dirty="0"/>
                <a:t>revision 1</a:t>
              </a:r>
              <a:endParaRPr lang="en-DK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2CCEB28-C7A9-F073-ED5E-2D10F740101F}"/>
                </a:ext>
              </a:extLst>
            </p:cNvPr>
            <p:cNvSpPr/>
            <p:nvPr/>
          </p:nvSpPr>
          <p:spPr>
            <a:xfrm>
              <a:off x="3825917" y="367240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sh.helm.release.v1.greetings.v2</a:t>
              </a:r>
              <a:br>
                <a:rPr lang="en-GB" dirty="0"/>
              </a:br>
              <a:r>
                <a:rPr lang="en-GB" dirty="0"/>
                <a:t>revision 2</a:t>
              </a:r>
              <a:endParaRPr lang="en-DK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B97920-3128-078F-8664-3F09F5C50734}"/>
                </a:ext>
              </a:extLst>
            </p:cNvPr>
            <p:cNvSpPr/>
            <p:nvPr/>
          </p:nvSpPr>
          <p:spPr>
            <a:xfrm>
              <a:off x="3825917" y="487921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sh.helm.release.v1.greetings.v3</a:t>
              </a:r>
              <a:br>
                <a:rPr lang="en-GB" dirty="0"/>
              </a:br>
              <a:r>
                <a:rPr lang="en-GB" dirty="0"/>
                <a:t>revision 3</a:t>
              </a:r>
              <a:endParaRPr lang="en-DK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8C82853-BEE0-1DB4-59C6-34AFCCDAA5ED}"/>
                </a:ext>
              </a:extLst>
            </p:cNvPr>
            <p:cNvSpPr txBox="1"/>
            <p:nvPr/>
          </p:nvSpPr>
          <p:spPr>
            <a:xfrm>
              <a:off x="4809588" y="1372371"/>
              <a:ext cx="26243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b="1" dirty="0"/>
                <a:t>n</a:t>
              </a:r>
              <a:r>
                <a:rPr lang="en-DK" sz="2000" b="1" dirty="0"/>
                <a:t>amespace:</a:t>
              </a:r>
              <a:r>
                <a:rPr lang="en-DK" sz="2000" dirty="0"/>
                <a:t> stage</a:t>
              </a: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7820AA2-0E08-EADB-37BE-C430AE0D74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690688"/>
            <a:ext cx="10515600" cy="4442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Find release historikken:</a:t>
            </a:r>
          </a:p>
          <a:p>
            <a:pPr marL="0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secret -l owner=helm</a:t>
            </a:r>
            <a:endParaRPr lang="en-DK" dirty="0"/>
          </a:p>
          <a:p>
            <a:endParaRPr lang="en-DK" dirty="0"/>
          </a:p>
          <a:p>
            <a:pPr marL="0" indent="0">
              <a:buNone/>
            </a:pPr>
            <a:r>
              <a:rPr lang="en-DK" dirty="0"/>
              <a:t>Vigtigt:</a:t>
            </a:r>
          </a:p>
          <a:p>
            <a:r>
              <a:rPr lang="en-DK" dirty="0"/>
              <a:t>Historik bor i clusteret</a:t>
            </a:r>
          </a:p>
          <a:p>
            <a:pPr lvl="0"/>
            <a:r>
              <a:rPr lang="en-DK" dirty="0"/>
              <a:t>Slet namespace → historikken forsvinder</a:t>
            </a:r>
          </a:p>
          <a:p>
            <a:pPr marL="0" indent="0">
              <a:buNone/>
            </a:pP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37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F2ACED-803C-0B02-FB7E-C0497DA41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Hvor helms arbejde slutter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B088D89-E96C-950A-8741-ECBB1667BA51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894621" cy="4449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K" u="sng" dirty="0"/>
              <a:t>Helm templater &amp; renderer manifester</a:t>
            </a:r>
            <a:r>
              <a:rPr lang="en-DK" dirty="0"/>
              <a:t> og afleverer dem til Kubernetes.</a:t>
            </a:r>
          </a:p>
          <a:p>
            <a:r>
              <a:rPr lang="en-DK" dirty="0"/>
              <a:t>Stadig </a:t>
            </a:r>
            <a:r>
              <a:rPr lang="en-DK" u="sng" dirty="0"/>
              <a:t>Kubernetes der holder det kørende </a:t>
            </a:r>
            <a:r>
              <a:rPr lang="en-DK" dirty="0"/>
              <a:t>- helm følger ikke med i hvad der sker.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6472AE-A3A1-D226-5669-4FBC118EED03}"/>
              </a:ext>
            </a:extLst>
          </p:cNvPr>
          <p:cNvGrpSpPr/>
          <p:nvPr/>
        </p:nvGrpSpPr>
        <p:grpSpPr>
          <a:xfrm>
            <a:off x="2209800" y="2880817"/>
            <a:ext cx="7772400" cy="3486934"/>
            <a:chOff x="2304735" y="2836748"/>
            <a:chExt cx="7772400" cy="382530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58C08D1-211B-E164-D533-74B0DB815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184" b="5839"/>
            <a:stretch>
              <a:fillRect/>
            </a:stretch>
          </p:blipFill>
          <p:spPr>
            <a:xfrm>
              <a:off x="2304735" y="3298413"/>
              <a:ext cx="7772400" cy="3363644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47E3A6-C6FC-F55B-470D-8FC9D76E83AD}"/>
                </a:ext>
              </a:extLst>
            </p:cNvPr>
            <p:cNvSpPr txBox="1"/>
            <p:nvPr/>
          </p:nvSpPr>
          <p:spPr>
            <a:xfrm>
              <a:off x="4821382" y="2836748"/>
              <a:ext cx="41919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sz="2400" b="1" dirty="0"/>
                <a:t>Helm                        Kubernetes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6016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195D6-4312-A608-E3E2-36FCA088B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Helm: Bottom-line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8BAB28-D87F-5BE5-7C89-A11EF5FEA8C8}"/>
              </a:ext>
            </a:extLst>
          </p:cNvPr>
          <p:cNvSpPr txBox="1"/>
          <p:nvPr/>
        </p:nvSpPr>
        <p:spPr>
          <a:xfrm>
            <a:off x="838132" y="2045045"/>
            <a:ext cx="5669546" cy="510778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Helm = Template Engine &amp; Release Ledger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8C142-2FA9-48A4-17FD-0DAFA7263DF3}"/>
              </a:ext>
            </a:extLst>
          </p:cNvPr>
          <p:cNvSpPr txBox="1"/>
          <p:nvPr/>
        </p:nvSpPr>
        <p:spPr>
          <a:xfrm>
            <a:off x="838131" y="2729341"/>
            <a:ext cx="6583395" cy="510778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Helm renderer </a:t>
            </a:r>
            <a:r>
              <a:rPr lang="en-GB" sz="2400" dirty="0" err="1"/>
              <a:t>og</a:t>
            </a:r>
            <a:r>
              <a:rPr lang="en-GB" sz="2400" dirty="0"/>
              <a:t> </a:t>
            </a:r>
            <a:r>
              <a:rPr lang="en-GB" sz="2400" dirty="0" err="1"/>
              <a:t>apply’er</a:t>
            </a:r>
            <a:r>
              <a:rPr lang="en-GB" sz="2400" dirty="0"/>
              <a:t> Kubernetes manifester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C1E76D-D3C0-165D-AD07-C29B16D13DD1}"/>
              </a:ext>
            </a:extLst>
          </p:cNvPr>
          <p:cNvSpPr txBox="1"/>
          <p:nvPr/>
        </p:nvSpPr>
        <p:spPr>
          <a:xfrm>
            <a:off x="838131" y="3969047"/>
            <a:ext cx="8794967" cy="510778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 err="1"/>
              <a:t>Hvis</a:t>
            </a:r>
            <a:r>
              <a:rPr lang="en-GB" sz="2400" dirty="0"/>
              <a:t> </a:t>
            </a:r>
            <a:r>
              <a:rPr lang="en-GB" sz="2400" dirty="0" err="1"/>
              <a:t>jeg</a:t>
            </a:r>
            <a:r>
              <a:rPr lang="en-GB" sz="2400" dirty="0"/>
              <a:t> </a:t>
            </a:r>
            <a:r>
              <a:rPr lang="en-GB" sz="2400" dirty="0" err="1"/>
              <a:t>sletter</a:t>
            </a:r>
            <a:r>
              <a:rPr lang="en-GB" sz="2400" dirty="0"/>
              <a:t> </a:t>
            </a:r>
            <a:r>
              <a:rPr lang="en-GB" sz="2400" dirty="0" err="1"/>
              <a:t>en</a:t>
            </a:r>
            <a:r>
              <a:rPr lang="en-GB" sz="2400" dirty="0"/>
              <a:t> Pod </a:t>
            </a:r>
            <a:r>
              <a:rPr lang="en-GB" sz="2400" dirty="0" err="1"/>
              <a:t>fra</a:t>
            </a:r>
            <a:r>
              <a:rPr lang="en-GB" sz="2400" dirty="0"/>
              <a:t> et Helm release, </a:t>
            </a:r>
            <a:r>
              <a:rPr lang="en-GB" sz="2400" dirty="0" err="1"/>
              <a:t>hvad</a:t>
            </a:r>
            <a:r>
              <a:rPr lang="en-GB" sz="2400" dirty="0"/>
              <a:t> </a:t>
            </a:r>
            <a:r>
              <a:rPr lang="en-GB" sz="2400" dirty="0" err="1"/>
              <a:t>genskaber</a:t>
            </a:r>
            <a:r>
              <a:rPr lang="en-GB" sz="2400" dirty="0"/>
              <a:t> den </a:t>
            </a:r>
            <a:r>
              <a:rPr lang="en-GB" sz="2400" dirty="0" err="1"/>
              <a:t>så</a:t>
            </a:r>
            <a:r>
              <a:rPr lang="en-GB" sz="2400" dirty="0"/>
              <a:t>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55F22-88AF-3728-C831-3E4EBA994AE7}"/>
              </a:ext>
            </a:extLst>
          </p:cNvPr>
          <p:cNvSpPr txBox="1"/>
          <p:nvPr/>
        </p:nvSpPr>
        <p:spPr>
          <a:xfrm>
            <a:off x="838131" y="3515096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SPØRGSMÅL: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EDC160-4F98-0387-27BC-03AAECAEC9C9}"/>
              </a:ext>
            </a:extLst>
          </p:cNvPr>
          <p:cNvSpPr txBox="1"/>
          <p:nvPr/>
        </p:nvSpPr>
        <p:spPr>
          <a:xfrm>
            <a:off x="838130" y="1562977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HUSK: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477B31-B04F-CE55-6BB7-B1C1A6574CE2}"/>
              </a:ext>
            </a:extLst>
          </p:cNvPr>
          <p:cNvSpPr txBox="1"/>
          <p:nvPr/>
        </p:nvSpPr>
        <p:spPr>
          <a:xfrm>
            <a:off x="838130" y="5039634"/>
            <a:ext cx="8018792" cy="510778"/>
          </a:xfrm>
          <a:prstGeom prst="roundRect">
            <a:avLst/>
          </a:prstGeom>
          <a:solidFill>
            <a:srgbClr val="B8580A"/>
          </a:solidFill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Stadig bare Kubernetes’ </a:t>
            </a:r>
            <a:r>
              <a:rPr lang="en-GB" sz="2400" dirty="0" err="1"/>
              <a:t>ReplicaSet</a:t>
            </a:r>
            <a:r>
              <a:rPr lang="en-GB" sz="2400" dirty="0"/>
              <a:t> (</a:t>
            </a:r>
            <a:r>
              <a:rPr lang="en-GB" sz="2400" dirty="0" err="1"/>
              <a:t>lavet</a:t>
            </a:r>
            <a:r>
              <a:rPr lang="en-GB" sz="2400" dirty="0"/>
              <a:t> </a:t>
            </a:r>
            <a:r>
              <a:rPr lang="en-GB" sz="2400" dirty="0" err="1"/>
              <a:t>fra</a:t>
            </a:r>
            <a:r>
              <a:rPr lang="en-GB" sz="2400" dirty="0"/>
              <a:t> </a:t>
            </a:r>
            <a:r>
              <a:rPr lang="en-GB" sz="2400" dirty="0" err="1"/>
              <a:t>dit</a:t>
            </a:r>
            <a:r>
              <a:rPr lang="en-GB" sz="2400" dirty="0"/>
              <a:t> Deployment)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C9C866-FF6B-6262-6AAA-BC1400C2AFDA}"/>
              </a:ext>
            </a:extLst>
          </p:cNvPr>
          <p:cNvSpPr txBox="1"/>
          <p:nvPr/>
        </p:nvSpPr>
        <p:spPr>
          <a:xfrm>
            <a:off x="838129" y="4551895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SVAR:</a:t>
            </a:r>
          </a:p>
        </p:txBody>
      </p:sp>
    </p:spTree>
    <p:extLst>
      <p:ext uri="{BB962C8B-B14F-4D97-AF65-F5344CB8AC3E}">
        <p14:creationId xmlns:p14="http://schemas.microsoft.com/office/powerpoint/2010/main" val="748307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1" animBg="1"/>
      <p:bldP spid="11" grpId="1"/>
      <p:bldP spid="3" grpId="0" animBg="1"/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6A64-3240-3F82-79D5-5A979B8F7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er </a:t>
            </a:r>
            <a:r>
              <a:rPr lang="en-DK" u="sng" dirty="0"/>
              <a:t>ikke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BC3D1-9662-83B2-C589-B92105BF8D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716559" cy="4442517"/>
          </a:xfrm>
        </p:spPr>
        <p:txBody>
          <a:bodyPr/>
          <a:lstStyle/>
          <a:p>
            <a:pPr marL="0" lvl="0" indent="0">
              <a:buNone/>
            </a:pPr>
            <a:r>
              <a:rPr lang="en-DK" sz="2800" dirty="0"/>
              <a:t>❌ Ikke reconciliation — stadig Kubernetes der holder skidtet kørende</a:t>
            </a:r>
          </a:p>
          <a:p>
            <a:pPr marL="0" lvl="0" indent="0">
              <a:buNone/>
            </a:pP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et CD-værktøj — noget andet skal beslutte </a:t>
            </a:r>
            <a:r>
              <a:rPr lang="en-DK" sz="2800" i="1" dirty="0"/>
              <a:t>hvornår</a:t>
            </a:r>
            <a:r>
              <a:rPr lang="en-DK" sz="2800" dirty="0"/>
              <a:t> det installeres</a:t>
            </a:r>
            <a:br>
              <a:rPr lang="en-DK" sz="2800" i="1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en secrets manager — credentials hører </a:t>
            </a:r>
            <a:r>
              <a:rPr lang="en-DK" sz="2800" b="1" dirty="0"/>
              <a:t>ikke</a:t>
            </a:r>
            <a:r>
              <a:rPr lang="en-DK" sz="2800" dirty="0"/>
              <a:t> til i en values-fil</a:t>
            </a:r>
            <a:br>
              <a:rPr lang="en-DK" sz="2800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kommer ikke med nogen garanti for at din app virker, når installeret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55394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A8065-A0DC-86EC-4B77-94863F33A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5922-1ECE-88D2-7C23-94FD6E8FF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CLI – kommandoer du får brug for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E53D0-AE27-5F16-8728-E15F4E2759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402453"/>
            <a:ext cx="11138520" cy="4442517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DK" sz="1800" dirty="0">
                <a:solidFill>
                  <a:schemeClr val="tx1"/>
                </a:solidFill>
              </a:rPr>
              <a:t>Templating</a:t>
            </a:r>
          </a:p>
          <a:p>
            <a:pPr lvl="1">
              <a:lnSpc>
                <a:spcPct val="120000"/>
              </a:lnSpc>
            </a:pPr>
            <a:r>
              <a:rPr lang="en-GB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lint ./path-to-chart</a:t>
            </a:r>
            <a:r>
              <a:rPr lang="en-DK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# Static validate chart locally</a:t>
            </a:r>
          </a:p>
          <a:p>
            <a:pPr lvl="1">
              <a:lnSpc>
                <a:spcPct val="120000"/>
              </a:lnSpc>
            </a:pPr>
            <a:r>
              <a:rPr lang="en-GB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template ./path-to-chart</a:t>
            </a:r>
            <a:r>
              <a:rPr lang="en-DK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# Generate manifests locally</a:t>
            </a:r>
          </a:p>
          <a:p>
            <a:pPr lvl="1">
              <a:lnSpc>
                <a:spcPct val="120000"/>
              </a:lnSpc>
            </a:pPr>
            <a:r>
              <a:rPr lang="en-GB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show values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# What knobs/values does it have?</a:t>
            </a:r>
            <a:endParaRPr lang="en-DK" sz="1600" dirty="0"/>
          </a:p>
          <a:p>
            <a:pPr>
              <a:lnSpc>
                <a:spcPct val="120000"/>
              </a:lnSpc>
            </a:pPr>
            <a:r>
              <a:rPr lang="en-DK" sz="1800" dirty="0"/>
              <a:t>Install chart</a:t>
            </a:r>
          </a:p>
          <a:p>
            <a:pPr lvl="1">
              <a:lnSpc>
                <a:spcPct val="120000"/>
              </a:lnSpc>
            </a:pPr>
            <a:r>
              <a:rPr lang="en-DK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install|upgrade|uninstall </a:t>
            </a:r>
            <a:r>
              <a:rPr lang="en-DK" sz="1600" dirty="0">
                <a:solidFill>
                  <a:srgbClr val="FF0000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&lt;release-name&gt;</a:t>
            </a:r>
            <a:r>
              <a:rPr lang="en-DK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&lt;chart-path&gt; \</a:t>
            </a:r>
            <a:br>
              <a:rPr lang="en-DK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	    --file my-values.yml --set a.value=b [–n &lt;namespace&gt;]</a:t>
            </a:r>
            <a:endParaRPr lang="en-DK" sz="1600" dirty="0">
              <a:solidFill>
                <a:schemeClr val="tx1"/>
              </a:solidFill>
            </a:endParaRPr>
          </a:p>
          <a:p>
            <a:pPr lvl="1">
              <a:lnSpc>
                <a:spcPct val="120000"/>
              </a:lnSpc>
            </a:pPr>
            <a:r>
              <a:rPr lang="en-GB" sz="16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get </a:t>
            </a:r>
            <a:r>
              <a:rPr lang="en-GB" sz="1600" dirty="0" err="1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values|manifest|notes|hooks</a:t>
            </a:r>
            <a:r>
              <a:rPr lang="en-GB" sz="1600" dirty="0"/>
              <a:t>   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# fetch from an existing release</a:t>
            </a:r>
            <a:endParaRPr lang="en-DK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20000"/>
              </a:lnSpc>
            </a:pPr>
            <a:r>
              <a:rPr lang="en-DK" sz="1800" dirty="0">
                <a:solidFill>
                  <a:schemeClr val="tx1"/>
                </a:solidFill>
              </a:rPr>
              <a:t>Releases and rollback</a:t>
            </a:r>
          </a:p>
          <a:p>
            <a:pPr lvl="1">
              <a:lnSpc>
                <a:spcPct val="120000"/>
              </a:lnSpc>
            </a:pP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list -A</a:t>
            </a:r>
            <a:r>
              <a:rPr lang="en-GB" sz="1600" dirty="0"/>
              <a:t>  # </a:t>
            </a:r>
            <a:r>
              <a:rPr lang="en-GB" sz="1600" dirty="0" err="1">
                <a:solidFill>
                  <a:schemeClr val="tx1"/>
                </a:solidFill>
              </a:rPr>
              <a:t>Hvilke</a:t>
            </a:r>
            <a:r>
              <a:rPr lang="en-GB" sz="1600" dirty="0">
                <a:solidFill>
                  <a:schemeClr val="tx1"/>
                </a:solidFill>
              </a:rPr>
              <a:t> charts er </a:t>
            </a:r>
            <a:r>
              <a:rPr lang="en-GB" sz="1600" dirty="0" err="1">
                <a:solidFill>
                  <a:schemeClr val="tx1"/>
                </a:solidFill>
              </a:rPr>
              <a:t>installeret</a:t>
            </a:r>
            <a:r>
              <a:rPr lang="en-GB" sz="1600" dirty="0">
                <a:solidFill>
                  <a:schemeClr val="tx1"/>
                </a:solidFill>
              </a:rPr>
              <a:t>? (</a:t>
            </a:r>
            <a:r>
              <a:rPr lang="en-GB" sz="1600" dirty="0" err="1">
                <a:solidFill>
                  <a:schemeClr val="tx1"/>
                </a:solidFill>
              </a:rPr>
              <a:t>i</a:t>
            </a:r>
            <a:r>
              <a:rPr lang="en-GB" sz="1600" dirty="0">
                <a:solidFill>
                  <a:schemeClr val="tx1"/>
                </a:solidFill>
              </a:rPr>
              <a:t> alle namespaces)</a:t>
            </a:r>
          </a:p>
          <a:p>
            <a:pPr lvl="1">
              <a:lnSpc>
                <a:spcPct val="120000"/>
              </a:lnSpc>
            </a:pP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history </a:t>
            </a:r>
            <a:r>
              <a:rPr lang="en-DK" sz="1600" dirty="0">
                <a:solidFill>
                  <a:srgbClr val="FF0000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&lt;release-name&gt;</a:t>
            </a:r>
            <a:r>
              <a:rPr lang="en-DK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-n &lt;namespace&gt;</a:t>
            </a:r>
            <a:r>
              <a:rPr lang="en-DK" sz="1600" dirty="0">
                <a:solidFill>
                  <a:schemeClr val="tx1"/>
                </a:solidFill>
              </a:rPr>
              <a:t> </a:t>
            </a:r>
            <a:r>
              <a:rPr lang="en-DK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Hvilke revisioner et release?</a:t>
            </a:r>
          </a:p>
          <a:p>
            <a:pPr lvl="1">
              <a:lnSpc>
                <a:spcPct val="120000"/>
              </a:lnSpc>
            </a:pPr>
            <a:r>
              <a:rPr lang="en-DK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rollback </a:t>
            </a:r>
            <a:r>
              <a:rPr lang="en-DK" sz="1600" dirty="0">
                <a:solidFill>
                  <a:srgbClr val="FF0000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&lt;release-name&gt;</a:t>
            </a:r>
            <a:r>
              <a:rPr lang="en-DK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&lt;id&gt;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 # Vend tilbage til en tidligere revision</a:t>
            </a:r>
            <a:r>
              <a:rPr lang="en-DK" sz="1600" dirty="0"/>
              <a:t>.</a:t>
            </a:r>
            <a:endParaRPr lang="en-DK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4177A-3DA3-A845-1351-6B60AC8ED640}"/>
              </a:ext>
            </a:extLst>
          </p:cNvPr>
          <p:cNvSpPr txBox="1"/>
          <p:nvPr/>
        </p:nvSpPr>
        <p:spPr>
          <a:xfrm>
            <a:off x="2649130" y="6028935"/>
            <a:ext cx="6893739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GB" sz="2000" dirty="0"/>
              <a:t>⚠️   Helm </a:t>
            </a:r>
            <a:r>
              <a:rPr lang="en-GB" sz="2000" dirty="0" err="1"/>
              <a:t>benytter</a:t>
            </a:r>
            <a:r>
              <a:rPr lang="en-GB" sz="2000" dirty="0"/>
              <a:t> din </a:t>
            </a:r>
            <a:r>
              <a:rPr lang="en-GB" sz="2000" dirty="0" err="1"/>
              <a:t>aktive</a:t>
            </a:r>
            <a:r>
              <a:rPr lang="en-GB" sz="2000" dirty="0"/>
              <a:t> </a:t>
            </a:r>
            <a:r>
              <a:rPr lang="en-GB" sz="2000" b="1" dirty="0" err="1"/>
              <a:t>kubectl</a:t>
            </a:r>
            <a:r>
              <a:rPr lang="en-GB" sz="2000" dirty="0"/>
              <a:t> context!</a:t>
            </a:r>
          </a:p>
        </p:txBody>
      </p:sp>
    </p:spTree>
    <p:extLst>
      <p:ext uri="{BB962C8B-B14F-4D97-AF65-F5344CB8AC3E}">
        <p14:creationId xmlns:p14="http://schemas.microsoft.com/office/powerpoint/2010/main" val="1595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53C9F-01D2-D9C6-A0E0-4763E964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61144680-22E6-482F-E739-491EE62342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3b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A037F52-A0CC-4243-3816-CD80136B92E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8125" y="2703049"/>
            <a:ext cx="6499526" cy="2884543"/>
          </a:xfrm>
        </p:spPr>
        <p:txBody>
          <a:bodyPr/>
          <a:lstStyle/>
          <a:p>
            <a:r>
              <a:rPr lang="da-DK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en-DK" sz="4000" b="1" dirty="0">
                <a:solidFill>
                  <a:srgbClr val="0074D9"/>
                </a:solidFill>
              </a:rPr>
              <a:t>1-simplest-chart</a:t>
            </a:r>
            <a:endParaRPr lang="da-DK" dirty="0">
              <a:solidFill>
                <a:srgbClr val="0074D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481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FF71B-CFE2-5A6D-D503-9A508277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Øvelsen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7D9631-0DD7-153E-5BF4-650F239912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git clone </a:t>
            </a:r>
            <a:r>
              <a:rPr lang="en-DK" dirty="0">
                <a:hlinkClick r:id="rId2"/>
              </a:rPr>
              <a:t>https://github.com/notalib/workshop-helm-charts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 </a:t>
            </a:r>
            <a:r>
              <a:rPr lang="en-DK" dirty="0">
                <a:hlinkClick r:id="rId3"/>
              </a:rPr>
              <a:t>1-simplest-chart/README.md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Én Deployment, én ConfigMap, tre values — </a:t>
            </a:r>
            <a:r>
              <a:rPr lang="en-DK" b="1" dirty="0"/>
              <a:t>ingen templating endnu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Mål: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install → upgrade → history → rollback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3906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F83C-7FE4-C3A6-04CF-80473887C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F43008A7-9083-349B-315F-469083839E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7F96A89-187B-01C8-22C3-932E933C27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354119" cy="2884543"/>
          </a:xfrm>
        </p:spPr>
        <p:txBody>
          <a:bodyPr/>
          <a:lstStyle/>
          <a:p>
            <a:r>
              <a:rPr lang="da-DK" dirty="0"/>
              <a:t>Chart </a:t>
            </a:r>
            <a:r>
              <a:rPr lang="da-DK" dirty="0" err="1"/>
              <a:t>Templating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911904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DE8D8BA-F1E6-529F-8906-D3C83C39375D}"/>
              </a:ext>
            </a:extLst>
          </p:cNvPr>
          <p:cNvSpPr txBox="1"/>
          <p:nvPr/>
        </p:nvSpPr>
        <p:spPr>
          <a:xfrm>
            <a:off x="838063" y="3694998"/>
            <a:ext cx="1120351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u="sng" dirty="0"/>
              <a:t>Et par andre mønstre du hurtigt støder på: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	image: harbor.kb.dk/my-app:</a:t>
            </a:r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 .Values.image.tag | default .Chart.AppVersion }}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pPr lvl="2"/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{{- with .Values.podAnnotations }}</a:t>
            </a:r>
          </a:p>
          <a:p>
            <a:pPr lvl="2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annotations:</a:t>
            </a:r>
          </a:p>
          <a:p>
            <a:pPr lvl="2"/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{{- toYaml . | nindent 4 }}</a:t>
            </a:r>
          </a:p>
          <a:p>
            <a:pPr lvl="2"/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{{- end }}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9393AB-DBBE-F033-9C55-FDF40BB72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Go templates på 60 sekunder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53A32-BA9B-8878-ACFC-565D744BE3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DBFA6-0040-0CEA-EBDD-29C540AC1E89}"/>
              </a:ext>
            </a:extLst>
          </p:cNvPr>
          <p:cNvSpPr txBox="1"/>
          <p:nvPr/>
        </p:nvSpPr>
        <p:spPr>
          <a:xfrm>
            <a:off x="838063" y="1412727"/>
            <a:ext cx="5814530" cy="40862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dirty="0"/>
              <a:t>Helm bygger på Go-standardbibliotekets template engine</a:t>
            </a:r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B021722-BF8E-73FB-8A9F-2B5B8DFA71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810270"/>
              </p:ext>
            </p:extLst>
          </p:nvPr>
        </p:nvGraphicFramePr>
        <p:xfrm>
          <a:off x="838063" y="2016494"/>
          <a:ext cx="9745672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025875">
                  <a:extLst>
                    <a:ext uri="{9D8B030D-6E8A-4147-A177-3AD203B41FA5}">
                      <a16:colId xmlns:a16="http://schemas.microsoft.com/office/drawing/2014/main" val="815139981"/>
                    </a:ext>
                  </a:extLst>
                </a:gridCol>
                <a:gridCol w="3719797">
                  <a:extLst>
                    <a:ext uri="{9D8B030D-6E8A-4147-A177-3AD203B41FA5}">
                      <a16:colId xmlns:a16="http://schemas.microsoft.com/office/drawing/2014/main" val="15900468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.Values.replicaCount }}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indsæt en værdi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773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.Values.name | quote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pipe gennem en funktion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83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{{- if ... }} ... {{- end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flow control / betingelser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8212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include "chart.fullname" .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genbrug et named template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352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83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4E2E-6EFC-B10B-D487-8842FC66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A8D1-F017-43F8-63B3-0AF2D9166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How templating works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AB8E01-5CCF-C3E6-61C3-28ADCA65CD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You start by writing </a:t>
            </a:r>
            <a:r>
              <a:rPr lang="en-GB" b="1" dirty="0"/>
              <a:t>normal Kubernetes YAML manifests.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You replace hardcoded values with </a:t>
            </a:r>
            <a:r>
              <a:rPr lang="en-GB" b="1" dirty="0"/>
              <a:t>variable references.</a:t>
            </a:r>
            <a:br>
              <a:rPr lang="en-GB" b="1" dirty="0"/>
            </a:br>
            <a:br>
              <a:rPr lang="en-GB" b="1" dirty="0"/>
            </a:br>
            <a:r>
              <a:rPr lang="en-GB" b="1" dirty="0"/>
              <a:t>Before</a:t>
            </a:r>
            <a:br>
              <a:rPr lang="en-GB" b="1" dirty="0"/>
            </a:b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harbor.kb.dk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/frontend:1.2.3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b="1" dirty="0"/>
              <a:t>After</a:t>
            </a:r>
            <a:br>
              <a:rPr lang="en-GB" b="1" dirty="0"/>
            </a:br>
            <a:r>
              <a:rPr lang="en-GB" sz="20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 .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Values.image.repo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}}:{{ .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Values.image.tag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  <a:br>
              <a:rPr lang="en-GB" b="1" dirty="0">
                <a:solidFill>
                  <a:srgbClr val="005DE0"/>
                </a:solidFill>
                <a:highlight>
                  <a:srgbClr val="C0C0C0"/>
                </a:highlight>
              </a:rPr>
            </a:b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Define defaults for those variables in </a:t>
            </a:r>
            <a:r>
              <a:rPr lang="en-GB" b="1" dirty="0" err="1"/>
              <a:t>values.yaml</a:t>
            </a:r>
            <a:br>
              <a:rPr lang="en-GB" dirty="0"/>
            </a:br>
            <a:br>
              <a:rPr lang="en-GB" dirty="0"/>
            </a:b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repo: "</a:t>
            </a:r>
            <a:r>
              <a:rPr lang="en-GB" sz="22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harbor.kb.dk</a:t>
            </a: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2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examsystem</a:t>
            </a: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/exam-backend"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tag: "1.2.3”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10E095-A063-6C52-E6A8-BD9E914C1CD0}"/>
              </a:ext>
            </a:extLst>
          </p:cNvPr>
          <p:cNvSpPr txBox="1"/>
          <p:nvPr/>
        </p:nvSpPr>
        <p:spPr>
          <a:xfrm>
            <a:off x="4215742" y="5690531"/>
            <a:ext cx="7695210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Value references use a “dot notation” into the nested YAML structure</a:t>
            </a:r>
          </a:p>
        </p:txBody>
      </p:sp>
    </p:spTree>
    <p:extLst>
      <p:ext uri="{BB962C8B-B14F-4D97-AF65-F5344CB8AC3E}">
        <p14:creationId xmlns:p14="http://schemas.microsoft.com/office/powerpoint/2010/main" val="1249560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F85D0-852B-78FD-E790-126955C9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Indbyggede template values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54613-C1F0-9A9D-3B82-5E035847AC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39500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.Values  [.foo.bar fra values.yaml]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.Release [.Name, .Namespace, .Revision, .Service]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.Chart   [.Name, .Version, .AppVersion]</a:t>
            </a:r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b="1" dirty="0"/>
              <a:t>Eksempler: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.Values.backend.replicaCount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.Chart.AppVersion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.Release.Name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.Release.Revision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2B1805-D999-0040-829D-F4C85AE10798}"/>
              </a:ext>
            </a:extLst>
          </p:cNvPr>
          <p:cNvSpPr txBox="1"/>
          <p:nvPr/>
        </p:nvSpPr>
        <p:spPr>
          <a:xfrm>
            <a:off x="4393859" y="5249182"/>
            <a:ext cx="6872416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cs typeface="Consolas" panose="020B0609020204030204" pitchFamily="49" charset="0"/>
              </a:rPr>
              <a:t>Husk: IDE plugins </a:t>
            </a:r>
            <a:r>
              <a:rPr lang="en-GB" sz="2000" dirty="0" err="1">
                <a:cs typeface="Consolas" panose="020B0609020204030204" pitchFamily="49" charset="0"/>
              </a:rPr>
              <a:t>til</a:t>
            </a:r>
            <a:r>
              <a:rPr lang="en-GB" sz="2000" dirty="0">
                <a:cs typeface="Consolas" panose="020B0609020204030204" pitchFamily="49" charset="0"/>
              </a:rPr>
              <a:t> Kubernetes/Helm</a:t>
            </a:r>
            <a:br>
              <a:rPr lang="en-GB" sz="2000" dirty="0">
                <a:cs typeface="Consolas" panose="020B0609020204030204" pitchFamily="49" charset="0"/>
              </a:rPr>
            </a:br>
            <a:r>
              <a:rPr lang="en-GB" sz="2000" dirty="0">
                <a:cs typeface="Consolas" panose="020B0609020204030204" pitchFamily="49" charset="0"/>
              </a:rPr>
              <a:t>De </a:t>
            </a:r>
            <a:r>
              <a:rPr lang="en-GB" sz="2000" dirty="0" err="1">
                <a:cs typeface="Consolas" panose="020B0609020204030204" pitchFamily="49" charset="0"/>
              </a:rPr>
              <a:t>hjælper</a:t>
            </a:r>
            <a:r>
              <a:rPr lang="en-GB" sz="2000" dirty="0">
                <a:cs typeface="Consolas" panose="020B0609020204030204" pitchFamily="49" charset="0"/>
              </a:rPr>
              <a:t> med auto-complete!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306839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131E-CE6E-8E81-7205-7B46B619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a chart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AE149-1321-5166-5263-37BBA129FB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lint ./chart-path</a:t>
            </a:r>
          </a:p>
          <a:p>
            <a:pPr lvl="1"/>
            <a:r>
              <a:rPr lang="en-GB" dirty="0"/>
              <a:t>S</a:t>
            </a:r>
            <a:r>
              <a:rPr lang="en-DK" dirty="0"/>
              <a:t>tatic validation</a:t>
            </a:r>
          </a:p>
          <a:p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template ./chart-path --debug</a:t>
            </a:r>
          </a:p>
          <a:p>
            <a:pPr lvl="1"/>
            <a:r>
              <a:rPr lang="en-GB" dirty="0"/>
              <a:t>R</a:t>
            </a:r>
            <a:r>
              <a:rPr lang="en-DK" dirty="0"/>
              <a:t>ender manifests + see errors in context</a:t>
            </a:r>
          </a:p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install x ./chart-path --dry-run=client|server</a:t>
            </a:r>
          </a:p>
          <a:p>
            <a:pPr lvl="1"/>
            <a:r>
              <a:rPr lang="en-DK" dirty="0"/>
              <a:t>Render manifests without applying them</a:t>
            </a:r>
          </a:p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get manifest &lt;release&gt;</a:t>
            </a:r>
          </a:p>
          <a:p>
            <a:pPr lvl="1"/>
            <a:r>
              <a:rPr lang="en-DK" dirty="0"/>
              <a:t>See </a:t>
            </a:r>
            <a:r>
              <a:rPr lang="da-DK" dirty="0"/>
              <a:t>the manifests </a:t>
            </a:r>
            <a:r>
              <a:rPr lang="en-DK" dirty="0"/>
              <a:t>Kubernetes actually got from Helm install</a:t>
            </a:r>
          </a:p>
        </p:txBody>
      </p:sp>
    </p:spTree>
    <p:extLst>
      <p:ext uri="{BB962C8B-B14F-4D97-AF65-F5344CB8AC3E}">
        <p14:creationId xmlns:p14="http://schemas.microsoft.com/office/powerpoint/2010/main" val="296727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23F98-EB14-7DA4-0851-5BDC5C2B1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Make the Chart fail early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B1150-6D17-4F4F-E30B-0A122FAC9CB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977816" cy="4442517"/>
          </a:xfrm>
        </p:spPr>
        <p:txBody>
          <a:bodyPr/>
          <a:lstStyle/>
          <a:p>
            <a:pPr marL="0" indent="0">
              <a:buNone/>
            </a:pPr>
            <a:r>
              <a:rPr lang="en-DK" dirty="0"/>
              <a:t>Required value in a manifest template:</a:t>
            </a:r>
            <a:br>
              <a:rPr lang="en-DK" dirty="0"/>
            </a:br>
            <a: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{{ required "secretName is mandatory" .Values.secretName }}</a:t>
            </a:r>
            <a:endParaRPr lang="en-DK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dirty="0"/>
              <a:t>JSON schema which values </a:t>
            </a:r>
            <a:r>
              <a:rPr lang="en-DK" b="1" dirty="0"/>
              <a:t>must  </a:t>
            </a:r>
            <a:r>
              <a:rPr lang="en-DK" dirty="0"/>
              <a:t>adhere to (values.schema.json)</a:t>
            </a:r>
            <a:br>
              <a:rPr lang="en-DK" dirty="0"/>
            </a:br>
            <a: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"replicaCount": { "type": "integer", "minimum": 1, "maximum": 10 }</a:t>
            </a:r>
            <a:b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2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DK" dirty="0"/>
              <a:t>Cheap way to “tighten the contract”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Prevent app installs with faulty configuration.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9454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95B3E-F559-E40D-39E7-CFFDD9E3F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Chart - 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A6369F-FF78-9FE6-9365-B0D58733F3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Template det der varierer per miljø (dev vs. prod)</a:t>
            </a:r>
          </a:p>
          <a:p>
            <a:r>
              <a:rPr lang="en-DK" dirty="0"/>
              <a:t>Ikke alt bør være konfigurerbart (KISS)</a:t>
            </a:r>
          </a:p>
          <a:p>
            <a:r>
              <a:rPr lang="en-DK" dirty="0"/>
              <a:t>Template aldrig namespace feltet - Brug i stedet </a:t>
            </a:r>
            <a:r>
              <a:rPr lang="en-DK" dirty="0">
                <a:solidFill>
                  <a:srgbClr val="0074D9"/>
                </a:solidFill>
              </a:rPr>
              <a:t>--namespace</a:t>
            </a:r>
            <a:r>
              <a:rPr lang="en-DK" dirty="0"/>
              <a:t> ved install</a:t>
            </a:r>
          </a:p>
          <a:p>
            <a:r>
              <a:rPr lang="en-DK" dirty="0"/>
              <a:t>Brug Chart hooks </a:t>
            </a:r>
            <a:r>
              <a:rPr lang="en-DK" dirty="0">
                <a:solidFill>
                  <a:srgbClr val="0074D9"/>
                </a:solidFill>
              </a:rPr>
              <a:t>post-install, pre-upgrade</a:t>
            </a:r>
            <a:r>
              <a:rPr lang="en-DK" dirty="0"/>
              <a:t> til at køre éngangs migrations på install tidspunktet.</a:t>
            </a:r>
          </a:p>
          <a:p>
            <a:r>
              <a:rPr lang="en-DK" dirty="0"/>
              <a:t>Kør </a:t>
            </a:r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helm lint</a:t>
            </a:r>
            <a:r>
              <a:rPr lang="en-DK" dirty="0"/>
              <a:t> i jeres CI pipeline – Fanger fejl før de rammer Kubernetes.</a:t>
            </a:r>
          </a:p>
          <a:p>
            <a:pPr marL="0" lvl="0" indent="0">
              <a:buNone/>
            </a:pPr>
            <a:endParaRPr lang="en-DK" dirty="0"/>
          </a:p>
          <a:p>
            <a:pPr marL="0" lvl="0" indent="0">
              <a:buNone/>
            </a:pPr>
            <a:r>
              <a:rPr lang="en-DK" dirty="0"/>
              <a:t>→ alt dette og mere er samlet i </a:t>
            </a:r>
            <a:r>
              <a:rPr lang="en-DK" dirty="0">
                <a:solidFill>
                  <a:srgbClr val="0074D9"/>
                </a:solidFill>
              </a:rPr>
              <a:t>BEST-PRACTICES.md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61908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88A44DA-92A1-680E-8455-414F448B52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4b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FF451-77EF-098D-C2D4-854839AF15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722505" cy="2884543"/>
          </a:xfrm>
        </p:spPr>
        <p:txBody>
          <a:bodyPr/>
          <a:lstStyle/>
          <a:p>
            <a:r>
              <a:rPr lang="en-DK" dirty="0"/>
              <a:t>Templating Exercise</a:t>
            </a:r>
            <a:br>
              <a:rPr lang="en-DK" dirty="0"/>
            </a:br>
            <a:r>
              <a:rPr lang="en-DK" sz="4000" dirty="0">
                <a:solidFill>
                  <a:srgbClr val="0074D9"/>
                </a:solidFill>
              </a:rPr>
              <a:t>2-gateway-chart</a:t>
            </a:r>
            <a:endParaRPr lang="en-DK" dirty="0">
              <a:solidFill>
                <a:srgbClr val="0074D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44260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C29DB-DC8D-7B3A-4C9E-474E703F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Let’s template a helm chart!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5952-9754-D37B-A8ED-85326CF67C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802187"/>
          </a:xfrm>
        </p:spPr>
        <p:txBody>
          <a:bodyPr>
            <a:normAutofit/>
          </a:bodyPr>
          <a:lstStyle/>
          <a:p>
            <a:r>
              <a:rPr lang="en-DK" dirty="0"/>
              <a:t>Øvelse:</a:t>
            </a:r>
          </a:p>
          <a:p>
            <a:pPr lvl="1"/>
            <a:r>
              <a:rPr lang="en-DK" dirty="0"/>
              <a:t>Følg </a:t>
            </a:r>
            <a:r>
              <a:rPr lang="en-DK" dirty="0">
                <a:hlinkClick r:id="rId2"/>
              </a:rPr>
              <a:t>2-gateway-chart/README.md</a:t>
            </a:r>
            <a:r>
              <a:rPr lang="en-DK" dirty="0"/>
              <a:t>, TASK 1–6</a:t>
            </a:r>
          </a:p>
          <a:p>
            <a:pPr lvl="1"/>
            <a:r>
              <a:rPr lang="en-DK" dirty="0"/>
              <a:t>Template de ni TODOs → dev/prod values → ødelæg det → rul tilbage</a:t>
            </a:r>
          </a:p>
          <a:p>
            <a:pPr lvl="1"/>
            <a:r>
              <a:rPr lang="en-DK" dirty="0">
                <a:solidFill>
                  <a:srgbClr val="0074D9"/>
                </a:solidFill>
              </a:rPr>
              <a:t>helm lint </a:t>
            </a:r>
            <a:r>
              <a:rPr lang="en-DK" dirty="0"/>
              <a:t>+ </a:t>
            </a:r>
            <a:r>
              <a:rPr lang="en-DK" dirty="0">
                <a:solidFill>
                  <a:srgbClr val="0074D9"/>
                </a:solidFill>
              </a:rPr>
              <a:t>helm template </a:t>
            </a:r>
            <a:r>
              <a:rPr lang="en-DK" dirty="0"/>
              <a:t>er hele feedback-loopet</a:t>
            </a:r>
          </a:p>
          <a:p>
            <a:pPr lvl="1"/>
            <a:r>
              <a:rPr lang="en-DK" dirty="0"/>
              <a:t>Stuck? → Se solutions branch</a:t>
            </a:r>
          </a:p>
          <a:p>
            <a:endParaRPr lang="en-DK" dirty="0"/>
          </a:p>
          <a:p>
            <a:r>
              <a:rPr lang="en-DK" dirty="0"/>
              <a:t>Resources</a:t>
            </a:r>
          </a:p>
          <a:p>
            <a:pPr lvl="1"/>
            <a:r>
              <a:rPr lang="en-GB" dirty="0">
                <a:hlinkClick r:id="rId3"/>
              </a:rPr>
              <a:t>https://helm.sh/docs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https://github.com/Notalib/workshop-helm-chart</a:t>
            </a:r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Hint</a:t>
            </a:r>
          </a:p>
          <a:p>
            <a:pPr lvl="1"/>
            <a:r>
              <a:rPr lang="en-GB" dirty="0" err="1"/>
              <a:t>Installér</a:t>
            </a:r>
            <a:r>
              <a:rPr lang="en-GB" dirty="0"/>
              <a:t> et Helm plugin </a:t>
            </a:r>
            <a:r>
              <a:rPr lang="en-GB" dirty="0" err="1"/>
              <a:t>i</a:t>
            </a:r>
            <a:r>
              <a:rPr lang="en-GB" dirty="0"/>
              <a:t> din IDE 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2097053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1015D-C4BE-6158-A6ED-E29BC4EE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Assignment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37C84-46B7-3071-1514-6B8B152090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Workshop repo:</a:t>
            </a:r>
          </a:p>
          <a:p>
            <a:pPr lvl="1"/>
            <a:r>
              <a:rPr lang="en-GB" dirty="0">
                <a:hlinkClick r:id="rId3"/>
              </a:rPr>
              <a:t>https://github.com/Notalib/workshop-helm-chart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https://kb-dk.atlassian.net/wiki/x/B4BAUQ</a:t>
            </a:r>
            <a:br>
              <a:rPr lang="en-GB" dirty="0"/>
            </a:br>
            <a:endParaRPr lang="en-GB" dirty="0"/>
          </a:p>
          <a:p>
            <a:r>
              <a:rPr lang="en-GB" dirty="0"/>
              <a:t>Tasks:</a:t>
            </a:r>
          </a:p>
          <a:p>
            <a:pPr lvl="1"/>
            <a:r>
              <a:rPr lang="en-GB" dirty="0"/>
              <a:t>Implement the TODOs so the chart deploys a working gateway.</a:t>
            </a:r>
            <a:br>
              <a:rPr lang="en-GB" dirty="0"/>
            </a:br>
            <a:endParaRPr lang="en-GB" dirty="0"/>
          </a:p>
          <a:p>
            <a:r>
              <a:rPr lang="en-GB" dirty="0"/>
              <a:t>Must support: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api.enabled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toggles /</a:t>
            </a:r>
            <a:r>
              <a:rPr lang="en-GB" dirty="0" err="1"/>
              <a:t>api</a:t>
            </a:r>
            <a:r>
              <a:rPr lang="en-GB" dirty="0"/>
              <a:t> route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backend.port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controls where nginx proxies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backend.text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changes the /</a:t>
            </a:r>
            <a:r>
              <a:rPr lang="en-GB" dirty="0" err="1"/>
              <a:t>api</a:t>
            </a:r>
            <a:r>
              <a:rPr lang="en-GB" dirty="0"/>
              <a:t> response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replicaCount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affects number of pods</a:t>
            </a:r>
          </a:p>
          <a:p>
            <a:pPr lvl="1"/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3070674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6500-3CA6-9267-0FCC-356760BFB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Assignment details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8A090-A5CB-EB7C-C64C-2BA80114EB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3469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Working your way to a chart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lint ./gateway-chart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passes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template ./gateway-chart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renders valid YAML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upgrade --install &lt;release-name&gt; ./gateway-chart (-n &lt;namespace&gt;)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Should work after install:</a:t>
            </a:r>
          </a:p>
          <a:p>
            <a:pPr lvl="1"/>
            <a:r>
              <a:rPr lang="en-GB" b="1" dirty="0"/>
              <a:t>/</a:t>
            </a:r>
            <a:r>
              <a:rPr lang="en-GB" dirty="0"/>
              <a:t> returns gateway text</a:t>
            </a:r>
          </a:p>
          <a:p>
            <a:pPr lvl="1"/>
            <a:r>
              <a:rPr lang="en-GB" b="1" dirty="0"/>
              <a:t>/</a:t>
            </a:r>
            <a:r>
              <a:rPr lang="en-GB" b="1" dirty="0" err="1"/>
              <a:t>api</a:t>
            </a:r>
            <a:r>
              <a:rPr lang="en-GB" dirty="0"/>
              <a:t> returns backend text</a:t>
            </a:r>
          </a:p>
          <a:p>
            <a:pPr marL="0" indent="0">
              <a:buNone/>
            </a:pPr>
            <a:br>
              <a:rPr lang="en-GB" b="1" dirty="0"/>
            </a:br>
            <a:r>
              <a:rPr lang="en-GB" dirty="0"/>
              <a:t>Suggested flow</a:t>
            </a:r>
          </a:p>
          <a:p>
            <a:r>
              <a:rPr lang="en-GB" dirty="0"/>
              <a:t>Start with Deployment (pods running)</a:t>
            </a:r>
          </a:p>
          <a:p>
            <a:r>
              <a:rPr lang="en-GB" dirty="0"/>
              <a:t>Add </a:t>
            </a:r>
            <a:r>
              <a:rPr lang="en-GB" dirty="0" err="1"/>
              <a:t>ConfigMap</a:t>
            </a:r>
            <a:r>
              <a:rPr lang="en-GB" dirty="0"/>
              <a:t> mount (nginx starts)</a:t>
            </a:r>
          </a:p>
          <a:p>
            <a:r>
              <a:rPr lang="en-GB" dirty="0"/>
              <a:t>Add Service</a:t>
            </a:r>
          </a:p>
          <a:p>
            <a:r>
              <a:rPr lang="en-GB" dirty="0"/>
              <a:t>Add Ingress</a:t>
            </a:r>
          </a:p>
          <a:p>
            <a:r>
              <a:rPr lang="en-GB" dirty="0"/>
              <a:t>Then try to break &amp; fix the the gateway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0092714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3DF2A-0E93-8330-C033-0788DF6E5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3579D-37D7-9CD6-1B46-37CDA1AF7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DBABFB-C3E7-2354-4FB5-7E05DCCC7F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37401456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BE604-F236-F50E-7BDE-12BBAFF7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3C007C-15B4-F72C-1B13-EF8D91E42A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5.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FFB1B-B3A7-F18E-A890-FF44D00EAC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Helm Charts i drift</a:t>
            </a:r>
            <a:br>
              <a:rPr lang="en-DK" dirty="0"/>
            </a:br>
            <a:r>
              <a:rPr lang="en-DK" dirty="0"/>
              <a:t>+ GitOps</a:t>
            </a:r>
          </a:p>
        </p:txBody>
      </p:sp>
    </p:spTree>
    <p:extLst>
      <p:ext uri="{BB962C8B-B14F-4D97-AF65-F5344CB8AC3E}">
        <p14:creationId xmlns:p14="http://schemas.microsoft.com/office/powerpoint/2010/main" val="1982496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0E0B8-9894-D5A6-4EF5-0DAE774C3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CBBF2-4BF8-9C65-B00E-C78AD78407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5481645" cy="4442517"/>
          </a:xfrm>
        </p:spPr>
        <p:txBody>
          <a:bodyPr/>
          <a:lstStyle/>
          <a:p>
            <a:r>
              <a:rPr lang="en-DK" dirty="0"/>
              <a:t>Chart reposity = App catalogue.</a:t>
            </a:r>
          </a:p>
          <a:p>
            <a:endParaRPr lang="en-DK" dirty="0"/>
          </a:p>
          <a:p>
            <a:r>
              <a:rPr lang="en-DK" dirty="0"/>
              <a:t>Chart is “built”, versioned and packaged to a zip file.</a:t>
            </a:r>
          </a:p>
          <a:p>
            <a:pPr lvl="1"/>
            <a:r>
              <a:rPr lang="en-DK" dirty="0"/>
              <a:t>.tgz file is uploaded to repo and indexed by name and version.</a:t>
            </a:r>
          </a:p>
          <a:p>
            <a:endParaRPr lang="en-DK" dirty="0"/>
          </a:p>
          <a:p>
            <a:r>
              <a:rPr lang="en-DK" dirty="0"/>
              <a:t>Commands: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elm repo list</a:t>
            </a:r>
          </a:p>
          <a:p>
            <a:pPr lvl="1"/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helm repo add notalib http://nota-ci.dbb.dk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elm search repo notalib</a:t>
            </a:r>
            <a:r>
              <a:rPr lang="en-DK" dirty="0">
                <a:solidFill>
                  <a:schemeClr val="tx1"/>
                </a:solidFill>
              </a:rPr>
              <a:t> </a:t>
            </a:r>
            <a:r>
              <a:rPr lang="en-DK" dirty="0">
                <a:solidFill>
                  <a:schemeClr val="bg2">
                    <a:lumMod val="25000"/>
                  </a:schemeClr>
                </a:solidFill>
              </a:rPr>
              <a:t>(--versions)</a:t>
            </a:r>
          </a:p>
        </p:txBody>
      </p:sp>
      <p:pic>
        <p:nvPicPr>
          <p:cNvPr id="4" name="Picture 2" descr="Intro to Helm Charts for Complete Beginners">
            <a:extLst>
              <a:ext uri="{FF2B5EF4-FFF2-40B4-BE49-F238E27FC236}">
                <a16:creationId xmlns:a16="http://schemas.microsoft.com/office/drawing/2014/main" id="{35F0F4FE-2DB8-E77F-40D8-69DFCB700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058" y="1945034"/>
            <a:ext cx="5626942" cy="336774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9921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900C-8D1C-5997-D433-E29A99605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DT-DIT helm charts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9E383-E8F2-1433-4164-37A0E867E9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Apps can be installed from Chart repo via Rancher</a:t>
            </a:r>
          </a:p>
          <a:p>
            <a:pPr lvl="1"/>
            <a:r>
              <a:rPr lang="en-DK" dirty="0"/>
              <a:t>Rancher UI example with Notalib charts.</a:t>
            </a:r>
          </a:p>
          <a:p>
            <a:endParaRPr lang="en-DK" dirty="0"/>
          </a:p>
          <a:p>
            <a:r>
              <a:rPr lang="en-DK" dirty="0"/>
              <a:t>Let’s look at more complex examples</a:t>
            </a:r>
          </a:p>
          <a:p>
            <a:pPr lvl="1"/>
            <a:r>
              <a:rPr lang="en-DK" dirty="0"/>
              <a:t>BookCoverService</a:t>
            </a:r>
          </a:p>
          <a:p>
            <a:pPr lvl="1"/>
            <a:r>
              <a:rPr lang="en-DK" dirty="0"/>
              <a:t>ExamSystem</a:t>
            </a:r>
            <a:br>
              <a:rPr lang="en-DK" dirty="0"/>
            </a:br>
            <a:endParaRPr lang="en-DK" dirty="0"/>
          </a:p>
          <a:p>
            <a:r>
              <a:rPr lang="en-DK" dirty="0"/>
              <a:t>Common issues:</a:t>
            </a:r>
          </a:p>
          <a:p>
            <a:pPr lvl="1"/>
            <a:r>
              <a:rPr lang="en-DK" dirty="0"/>
              <a:t>A new value broke my chart!</a:t>
            </a:r>
          </a:p>
          <a:p>
            <a:pPr lvl="1"/>
            <a:r>
              <a:rPr lang="en-DK" dirty="0"/>
              <a:t>Why didn’t </a:t>
            </a:r>
            <a:r>
              <a:rPr lang="en-DK" dirty="0">
                <a:highlight>
                  <a:srgbClr val="D6ECCB"/>
                </a:highlight>
              </a:rPr>
              <a:t>helm upgrade</a:t>
            </a:r>
            <a:r>
              <a:rPr lang="en-DK" dirty="0"/>
              <a:t> restart my app!?</a:t>
            </a:r>
          </a:p>
        </p:txBody>
      </p:sp>
    </p:spTree>
    <p:extLst>
      <p:ext uri="{BB962C8B-B14F-4D97-AF65-F5344CB8AC3E}">
        <p14:creationId xmlns:p14="http://schemas.microsoft.com/office/powerpoint/2010/main" val="39641541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6AEC8-9A38-A940-7FE4-E1A4A875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Dependencies &amp; subcharts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86522-87C2-3092-2038-E7E2CA977A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105029" cy="4632994"/>
          </a:xfrm>
        </p:spPr>
        <p:txBody>
          <a:bodyPr>
            <a:normAutofit/>
          </a:bodyPr>
          <a:lstStyle/>
          <a:p>
            <a:r>
              <a:rPr lang="en-DK" dirty="0"/>
              <a:t>One chart can depend on another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Defineres i Chart.yaml</a:t>
            </a:r>
            <a:br>
              <a:rPr lang="en-DK" dirty="0"/>
            </a:br>
            <a:endParaRPr lang="en-DK" dirty="0"/>
          </a:p>
          <a:p>
            <a:r>
              <a:rPr lang="en-DK" dirty="0"/>
              <a:t>Values sendes videre til sub-charts</a:t>
            </a:r>
            <a:br>
              <a:rPr lang="en-DK" dirty="0"/>
            </a:br>
            <a:r>
              <a:rPr lang="en-DK" sz="2000" u="sng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  <a:endParaRPr lang="en-DK" sz="2000" u="sng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foo: bar</a:t>
            </a:r>
            <a:b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b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postgres:</a:t>
            </a:r>
            <a:b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  enabled: true</a:t>
            </a:r>
            <a:b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  replicaCount: 2</a:t>
            </a:r>
            <a:br>
              <a:rPr lang="en-DK" sz="1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1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Muligt at lave ét chart der indeholder alle andre</a:t>
            </a:r>
          </a:p>
          <a:p>
            <a:pPr lvl="1"/>
            <a:r>
              <a:rPr lang="en-DK" dirty="0"/>
              <a:t>Dette kaldes et “Umbrella chart”</a:t>
            </a:r>
          </a:p>
          <a:p>
            <a:pPr lvl="1"/>
            <a:r>
              <a:rPr lang="en-DK" dirty="0"/>
              <a:t>Kunne fx. være ét chart der deployer alle et teams apps i et miljø på én gang.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1CFAC0-498C-F41D-8E2F-940F4E8C6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4" t="8130" r="30777" b="1217"/>
          <a:stretch>
            <a:fillRect/>
          </a:stretch>
        </p:blipFill>
        <p:spPr>
          <a:xfrm>
            <a:off x="7446818" y="1918855"/>
            <a:ext cx="4572000" cy="326967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561C33C2-3E91-A0B9-E075-006F4126C6BD}"/>
              </a:ext>
            </a:extLst>
          </p:cNvPr>
          <p:cNvCxnSpPr>
            <a:cxnSpLocks/>
          </p:cNvCxnSpPr>
          <p:nvPr/>
        </p:nvCxnSpPr>
        <p:spPr>
          <a:xfrm>
            <a:off x="4003964" y="2341418"/>
            <a:ext cx="3380509" cy="1995055"/>
          </a:xfrm>
          <a:prstGeom prst="bentConnector3">
            <a:avLst>
              <a:gd name="adj1" fmla="val 77869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150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F213-B56A-EB20-A218-D40B2B735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Fra initContainer til helm hook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F0F85-15AB-7372-7861-5A00AE5225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2895356"/>
            <a:ext cx="10515600" cy="3237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sz="2600" dirty="0"/>
              <a:t>Brug for at køre noget én gang, før chartet installeres? </a:t>
            </a:r>
            <a:r>
              <a:rPr lang="en-DK" sz="2600" dirty="0">
                <a:sym typeface="Wingdings" pitchFamily="2" charset="2"/>
              </a:rPr>
              <a:t></a:t>
            </a:r>
            <a:r>
              <a:rPr lang="en-DK" sz="2600" dirty="0"/>
              <a:t> Helm hooks!</a:t>
            </a:r>
          </a:p>
          <a:p>
            <a:pPr>
              <a:buFontTx/>
              <a:buChar char="-"/>
            </a:pPr>
            <a:r>
              <a:rPr lang="en-DK" sz="2200" dirty="0"/>
              <a:t>Database Migrations</a:t>
            </a:r>
          </a:p>
          <a:p>
            <a:pPr>
              <a:buFontTx/>
              <a:buChar char="-"/>
            </a:pPr>
            <a:r>
              <a:rPr lang="en-DK" sz="2200" dirty="0"/>
              <a:t>Capability checks</a:t>
            </a:r>
          </a:p>
          <a:p>
            <a:pPr>
              <a:buFontTx/>
              <a:buChar char="-"/>
            </a:pPr>
            <a:r>
              <a:rPr lang="en-DK" sz="2200" dirty="0"/>
              <a:t>Storage setup</a:t>
            </a:r>
            <a:br>
              <a:rPr lang="en-DK" sz="2200" dirty="0"/>
            </a:br>
            <a:endParaRPr lang="en-DK" dirty="0">
              <a:solidFill>
                <a:srgbClr val="0074D9"/>
              </a:solidFill>
            </a:endParaRPr>
          </a:p>
          <a:p>
            <a:pPr marL="0" indent="0">
              <a:buNone/>
            </a:pPr>
            <a:r>
              <a:rPr lang="en-DK" sz="2600" dirty="0"/>
              <a:t>Hooks:</a:t>
            </a:r>
          </a:p>
          <a:p>
            <a:pPr marL="0" indent="0">
              <a:buNone/>
            </a:pP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pre-install, </a:t>
            </a:r>
            <a:r>
              <a:rPr lang="en-GB" sz="22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ost-install, pre-upgrade, pre-rollback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4D7C86-DC25-9747-1891-2E58ACC2BA3F}"/>
              </a:ext>
            </a:extLst>
          </p:cNvPr>
          <p:cNvSpPr txBox="1"/>
          <p:nvPr/>
        </p:nvSpPr>
        <p:spPr>
          <a:xfrm>
            <a:off x="838064" y="1569793"/>
            <a:ext cx="10407867" cy="91940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DK" sz="2400" dirty="0"/>
              <a:t>Hvis du har en DB migration i en </a:t>
            </a:r>
            <a:r>
              <a:rPr lang="en-DK" sz="2400" b="1" dirty="0"/>
              <a:t>initContainer</a:t>
            </a:r>
            <a:r>
              <a:rPr lang="en-DK" sz="2400" dirty="0"/>
              <a:t> på din </a:t>
            </a:r>
            <a:r>
              <a:rPr lang="en-DK" sz="2400" b="1" dirty="0"/>
              <a:t>Deployment</a:t>
            </a:r>
            <a:r>
              <a:rPr lang="en-DK" sz="2400" dirty="0"/>
              <a:t> hvad sker der så når du installerer chartet med </a:t>
            </a:r>
            <a:r>
              <a:rPr lang="en-DK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--set backend.replicaCount = 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332B2-FE97-29C9-A53C-5E7B11BA0389}"/>
              </a:ext>
            </a:extLst>
          </p:cNvPr>
          <p:cNvSpPr txBox="1"/>
          <p:nvPr/>
        </p:nvSpPr>
        <p:spPr>
          <a:xfrm>
            <a:off x="7220197" y="6123543"/>
            <a:ext cx="6103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dirty="0">
                <a:solidFill>
                  <a:srgbClr val="0074D9"/>
                </a:solidFill>
              </a:rPr>
              <a:t>https://helm.sh/docs/topics/charts_hooks/</a:t>
            </a:r>
          </a:p>
        </p:txBody>
      </p:sp>
    </p:spTree>
    <p:extLst>
      <p:ext uri="{BB962C8B-B14F-4D97-AF65-F5344CB8AC3E}">
        <p14:creationId xmlns:p14="http://schemas.microsoft.com/office/powerpoint/2010/main" val="348210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D49F1-FC83-B94C-FA58-B2ED4F255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Packaging &amp; Publishing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33044-FAF7-7F9B-83B1-82539CBB50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Classic repo vs. OCI</a:t>
            </a:r>
          </a:p>
          <a:p>
            <a:pPr marL="0" indent="0">
              <a:buNone/>
            </a:pPr>
            <a:br>
              <a:rPr lang="en-DK" dirty="0"/>
            </a:br>
            <a:endParaRPr lang="en-DK" dirty="0"/>
          </a:p>
          <a:p>
            <a:r>
              <a:rPr lang="en-DK" dirty="0"/>
              <a:t>Package and push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 edu-greetings-chart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package ./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-&gt; greetings-1.0.0.tgz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push greetings-1.0.0.tgz oci://&lt;registry&gt;/&lt;project&gt;</a:t>
            </a:r>
          </a:p>
          <a:p>
            <a:pPr lvl="1"/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Deploy pushed chart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install &lt;release-name&gt; oci://&lt;registry&gt;/&lt;project&gt;/greetings \</a:t>
            </a:r>
            <a:b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--version 1.0.0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upgrade &lt;release-name&gt; oci://&lt;registry&gt;/&lt;project&gt;/greetings \</a:t>
            </a:r>
            <a:b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--version 1.2.3</a:t>
            </a:r>
          </a:p>
          <a:p>
            <a:pPr lvl="1"/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C72DA-736A-1B93-1306-AD67EB2E27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659" b="22574"/>
          <a:stretch>
            <a:fillRect/>
          </a:stretch>
        </p:blipFill>
        <p:spPr>
          <a:xfrm>
            <a:off x="5846550" y="1473170"/>
            <a:ext cx="5507182" cy="185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29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A7B4-5EF7-2349-D1EF-B214039C3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From Package to Publish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102152C-08C7-FD59-C288-3B904111BFF3}"/>
              </a:ext>
            </a:extLst>
          </p:cNvPr>
          <p:cNvGrpSpPr/>
          <p:nvPr/>
        </p:nvGrpSpPr>
        <p:grpSpPr>
          <a:xfrm>
            <a:off x="1678627" y="1525973"/>
            <a:ext cx="8834746" cy="4966902"/>
            <a:chOff x="1678627" y="1525973"/>
            <a:chExt cx="8834746" cy="496690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9697999-E3CD-B4C4-92E9-53C1BAAC7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8627" y="1525973"/>
              <a:ext cx="8834746" cy="4966902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3EB57E1-3423-A2E6-D320-52E7C4142067}"/>
                </a:ext>
              </a:extLst>
            </p:cNvPr>
            <p:cNvSpPr txBox="1"/>
            <p:nvPr/>
          </p:nvSpPr>
          <p:spPr>
            <a:xfrm>
              <a:off x="1775011" y="1659284"/>
              <a:ext cx="6347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dirty="0"/>
                <a:t>1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4C3507-674E-5BF7-7B5F-4ED78B533555}"/>
                </a:ext>
              </a:extLst>
            </p:cNvPr>
            <p:cNvSpPr txBox="1"/>
            <p:nvPr/>
          </p:nvSpPr>
          <p:spPr>
            <a:xfrm>
              <a:off x="6214116" y="1659284"/>
              <a:ext cx="6347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dirty="0"/>
                <a:t>2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440497-81D1-E170-5768-468451921A21}"/>
                </a:ext>
              </a:extLst>
            </p:cNvPr>
            <p:cNvSpPr txBox="1"/>
            <p:nvPr/>
          </p:nvSpPr>
          <p:spPr>
            <a:xfrm>
              <a:off x="1775010" y="4110958"/>
              <a:ext cx="6347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dirty="0"/>
                <a:t>4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9770D40-7235-7D3D-92DF-9DE5F52CD8FC}"/>
                </a:ext>
              </a:extLst>
            </p:cNvPr>
            <p:cNvSpPr txBox="1"/>
            <p:nvPr/>
          </p:nvSpPr>
          <p:spPr>
            <a:xfrm>
              <a:off x="6214116" y="4110958"/>
              <a:ext cx="6347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dirty="0"/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96614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EAEB7-2B59-B53B-0ADF-FEB26AC5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Hvem skal køre Helm Upgrade 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4A97A-B863-D516-C71D-0B141D8B6D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000" r="19167"/>
          <a:stretch>
            <a:fillRect/>
          </a:stretch>
        </p:blipFill>
        <p:spPr>
          <a:xfrm>
            <a:off x="7869382" y="1690688"/>
            <a:ext cx="4077343" cy="376814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DFB2FD-DEC9-8AF7-8259-90B80F0D54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31250" cy="4442517"/>
          </a:xfrm>
        </p:spPr>
        <p:txBody>
          <a:bodyPr/>
          <a:lstStyle/>
          <a:p>
            <a:r>
              <a:rPr lang="en-DK" dirty="0"/>
              <a:t>Who does the actual Helm install/upgrade ???</a:t>
            </a:r>
          </a:p>
          <a:p>
            <a:endParaRPr lang="en-DK" dirty="0"/>
          </a:p>
          <a:p>
            <a:pPr>
              <a:buFont typeface="Courier New" panose="02070309020205020404" pitchFamily="49" charset="0"/>
              <a:buChar char="o"/>
            </a:pPr>
            <a:r>
              <a:rPr lang="en-DK" dirty="0"/>
              <a:t>Developer via laptop → Kubernetes cluster</a:t>
            </a:r>
            <a:br>
              <a:rPr lang="en-DK" dirty="0"/>
            </a:br>
            <a:br>
              <a:rPr lang="en-DK" dirty="0"/>
            </a:br>
            <a:r>
              <a:rPr lang="en-DK" sz="2000" dirty="0"/>
              <a:t>❌ no audit trail, credentials on laptop</a:t>
            </a:r>
            <a:br>
              <a:rPr lang="en-DK" sz="2000" dirty="0"/>
            </a:br>
            <a:r>
              <a:rPr lang="en-DK" sz="2000" dirty="0"/>
              <a:t>❌ takes effort and know-how to do it right every time</a:t>
            </a:r>
            <a:endParaRPr lang="en-DK" dirty="0"/>
          </a:p>
          <a:p>
            <a:pPr>
              <a:buFont typeface="Courier New" panose="02070309020205020404" pitchFamily="49" charset="0"/>
              <a:buChar char="o"/>
            </a:pPr>
            <a:r>
              <a:rPr lang="en-DK" dirty="0"/>
              <a:t>DevOps via Git → ArgoCD → Kubernetes cluster</a:t>
            </a:r>
            <a:br>
              <a:rPr lang="en-DK" dirty="0"/>
            </a:br>
            <a:br>
              <a:rPr lang="en-DK" dirty="0"/>
            </a:br>
            <a:r>
              <a:rPr lang="en-DK" sz="2000" dirty="0"/>
              <a:t>✅ the deploy button is just a merge </a:t>
            </a:r>
            <a:br>
              <a:rPr lang="en-DK" sz="2000" dirty="0"/>
            </a:br>
            <a:r>
              <a:rPr lang="en-DK" sz="2000" dirty="0"/>
              <a:t>✅ the process is automated, less sweaty CLI commands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382890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96A40-FA33-43E2-551D-924B80F8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 &amp; Secrets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A46BE3-4FB9-28A9-B4CB-02AA821978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values.yaml indeholder konfiguration — </a:t>
            </a:r>
            <a:r>
              <a:rPr lang="en-DK" b="1" dirty="0"/>
              <a:t>ikke credentials</a:t>
            </a:r>
            <a:endParaRPr lang="en-DK" dirty="0"/>
          </a:p>
          <a:p>
            <a:pPr lvl="0"/>
            <a:r>
              <a:rPr lang="en-DK" b="1" dirty="0"/>
              <a:t>Vault</a:t>
            </a:r>
            <a:r>
              <a:rPr lang="en-DK" dirty="0"/>
              <a:t> opbevarer secrets</a:t>
            </a:r>
          </a:p>
          <a:p>
            <a:pPr lvl="0"/>
            <a:r>
              <a:rPr lang="en-DK" b="1" dirty="0"/>
              <a:t>External Secrets Operator</a:t>
            </a:r>
            <a:r>
              <a:rPr lang="en-DK" dirty="0"/>
              <a:t> henter dem og opretter almindelige Kubernetes Secrets</a:t>
            </a:r>
          </a:p>
          <a:p>
            <a:pPr lvl="0"/>
            <a:r>
              <a:rPr lang="en-DK" dirty="0"/>
              <a:t>Chartet kender kun </a:t>
            </a:r>
            <a:r>
              <a:rPr lang="en-DK" b="1" dirty="0"/>
              <a:t>Secret-navnet og key'en</a:t>
            </a:r>
            <a:r>
              <a:rPr lang="en-DK" dirty="0"/>
              <a:t> — fx existingSecret</a:t>
            </a:r>
          </a:p>
          <a:p>
            <a:endParaRPr lang="en-D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D96F9-2FFC-415F-C5AC-E3841601D7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172" b="26695"/>
          <a:stretch>
            <a:fillRect/>
          </a:stretch>
        </p:blipFill>
        <p:spPr>
          <a:xfrm>
            <a:off x="3068714" y="4382178"/>
            <a:ext cx="6054436" cy="1570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465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F22CB-ADDE-9FE1-8E45-8BFF4317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Publish your chart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C73BD-81AF-8674-5610-A7B1D9F760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/>
              <a:t>Pak og publicér dit chart</a:t>
            </a:r>
          </a:p>
          <a:p>
            <a:endParaRPr lang="en-DK" b="1" dirty="0"/>
          </a:p>
          <a:p>
            <a:r>
              <a:rPr lang="en-DK" dirty="0"/>
              <a:t>2-gateway-chart TASK</a:t>
            </a:r>
          </a:p>
          <a:p>
            <a:pPr marL="0" indent="0">
              <a:buNone/>
            </a:pPr>
            <a:r>
              <a:rPr lang="en-DK" dirty="0"/>
              <a:t>→ helm lint</a:t>
            </a:r>
            <a:br>
              <a:rPr lang="en-DK" dirty="0"/>
            </a:br>
            <a:r>
              <a:rPr lang="en-DK" dirty="0"/>
              <a:t>→ helm package</a:t>
            </a:r>
            <a:br>
              <a:rPr lang="en-DK" dirty="0"/>
            </a:br>
            <a:r>
              <a:rPr lang="en-DK" dirty="0"/>
              <a:t>→ helm push</a:t>
            </a:r>
            <a:br>
              <a:rPr lang="en-DK" dirty="0"/>
            </a:br>
            <a:r>
              <a:rPr lang="en-DK" dirty="0"/>
              <a:t>→ helm install oci://…</a:t>
            </a:r>
            <a:br>
              <a:rPr lang="en-DK" dirty="0"/>
            </a:br>
            <a:r>
              <a:rPr lang="en-DK" dirty="0"/>
              <a:t>→ helm show values</a:t>
            </a:r>
          </a:p>
          <a:p>
            <a:endParaRPr lang="en-DK" b="1" dirty="0"/>
          </a:p>
          <a:p>
            <a:r>
              <a:rPr lang="en-DK" b="1" dirty="0"/>
              <a:t>KB Harbor Registry</a:t>
            </a:r>
            <a:br>
              <a:rPr lang="en-DK" b="1" dirty="0"/>
            </a:br>
            <a:r>
              <a:rPr lang="en-GB" dirty="0">
                <a:hlinkClick r:id="rId3"/>
              </a:rPr>
              <a:t>oci://harbor.tools.cluster.kongeligebibliotek.dk/workshop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0874786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E427-E7BE-EAD6-0193-0B8B0D21F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26675E-9B1B-7B80-5201-52061D6685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018508-78E2-88B0-A8C6-088BEA3887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488873" cy="2884543"/>
          </a:xfrm>
        </p:spPr>
        <p:txBody>
          <a:bodyPr/>
          <a:lstStyle/>
          <a:p>
            <a:r>
              <a:rPr lang="en-DK" dirty="0"/>
              <a:t>Processen herfra</a:t>
            </a:r>
          </a:p>
          <a:p>
            <a:r>
              <a:rPr lang="en-DK" sz="3200" dirty="0">
                <a:solidFill>
                  <a:srgbClr val="C54D02"/>
                </a:solidFill>
              </a:rPr>
              <a:t>Udvælgelse</a:t>
            </a:r>
            <a:br>
              <a:rPr lang="en-DK" sz="3200" dirty="0">
                <a:solidFill>
                  <a:srgbClr val="C54D02"/>
                </a:solidFill>
              </a:rPr>
            </a:br>
            <a:r>
              <a:rPr lang="en-DK" sz="3200" dirty="0">
                <a:solidFill>
                  <a:srgbClr val="C54D02"/>
                </a:solidFill>
              </a:rPr>
              <a:t>Prioritering</a:t>
            </a:r>
            <a:br>
              <a:rPr lang="en-DK" sz="3200" dirty="0">
                <a:solidFill>
                  <a:srgbClr val="C54D02"/>
                </a:solidFill>
              </a:rPr>
            </a:br>
            <a:r>
              <a:rPr lang="en-DK" sz="3200" dirty="0">
                <a:solidFill>
                  <a:srgbClr val="C54D02"/>
                </a:solidFill>
              </a:rPr>
              <a:t>Migrerings-processen</a:t>
            </a:r>
          </a:p>
        </p:txBody>
      </p:sp>
    </p:spTree>
    <p:extLst>
      <p:ext uri="{BB962C8B-B14F-4D97-AF65-F5344CB8AC3E}">
        <p14:creationId xmlns:p14="http://schemas.microsoft.com/office/powerpoint/2010/main" val="7730110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8A9AE95-9A09-47D7-BBB6-61DA0BB7B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6ACF7D-3AFC-4928-4847-A231E3BF95C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LEDELSES-SLIDES</a:t>
            </a:r>
          </a:p>
        </p:txBody>
      </p:sp>
    </p:spTree>
    <p:extLst>
      <p:ext uri="{BB962C8B-B14F-4D97-AF65-F5344CB8AC3E}">
        <p14:creationId xmlns:p14="http://schemas.microsoft.com/office/powerpoint/2010/main" val="17719896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kstfelt 6">
            <a:extLst>
              <a:ext uri="{FF2B5EF4-FFF2-40B4-BE49-F238E27FC236}">
                <a16:creationId xmlns:a16="http://schemas.microsoft.com/office/drawing/2014/main" id="{B9E87989-DAB9-48C1-637B-98D1E1F3A573}"/>
              </a:ext>
            </a:extLst>
          </p:cNvPr>
          <p:cNvSpPr txBox="1"/>
          <p:nvPr/>
        </p:nvSpPr>
        <p:spPr>
          <a:xfrm>
            <a:off x="2272877" y="4996502"/>
            <a:ext cx="2646459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a-DK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1400" dirty="0"/>
              <a:t>sparrer med teamene ved tvivlsspørgsmål samt ift. egen kapacitet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14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A17A426-D8C5-2183-19D7-B3ACF9E51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655604"/>
            <a:ext cx="11288832" cy="1504666"/>
          </a:xfrm>
        </p:spPr>
        <p:txBody>
          <a:bodyPr/>
          <a:lstStyle/>
          <a:p>
            <a:r>
              <a:rPr lang="da-DK" sz="4800" dirty="0"/>
              <a:t>Proces for planlægning af containerisering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C4BC396-11C4-8661-F1FA-BC52E4752FF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38EDC37-9F2B-A941-2CCD-DBA8536235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7984667"/>
              </p:ext>
            </p:extLst>
          </p:nvPr>
        </p:nvGraphicFramePr>
        <p:xfrm>
          <a:off x="-428176" y="1794295"/>
          <a:ext cx="9710199" cy="27669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kstfelt 5">
            <a:extLst>
              <a:ext uri="{FF2B5EF4-FFF2-40B4-BE49-F238E27FC236}">
                <a16:creationId xmlns:a16="http://schemas.microsoft.com/office/drawing/2014/main" id="{79E614D1-551B-F599-304C-F6E9187ED201}"/>
              </a:ext>
            </a:extLst>
          </p:cNvPr>
          <p:cNvSpPr txBox="1"/>
          <p:nvPr/>
        </p:nvSpPr>
        <p:spPr>
          <a:xfrm>
            <a:off x="627961" y="4737253"/>
            <a:ext cx="2057538" cy="30777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/>
          <a:p>
            <a:r>
              <a:rPr lang="da-DK" sz="2000" dirty="0"/>
              <a:t>Platformsteamet</a:t>
            </a:r>
          </a:p>
        </p:txBody>
      </p:sp>
      <p:sp>
        <p:nvSpPr>
          <p:cNvPr id="9" name="Sky 8">
            <a:extLst>
              <a:ext uri="{FF2B5EF4-FFF2-40B4-BE49-F238E27FC236}">
                <a16:creationId xmlns:a16="http://schemas.microsoft.com/office/drawing/2014/main" id="{7B6DF5FA-6CF2-9075-251F-3785A0499AEE}"/>
              </a:ext>
            </a:extLst>
          </p:cNvPr>
          <p:cNvSpPr/>
          <p:nvPr/>
        </p:nvSpPr>
        <p:spPr>
          <a:xfrm>
            <a:off x="8718304" y="1794295"/>
            <a:ext cx="3112356" cy="2501743"/>
          </a:xfrm>
          <a:prstGeom prst="cloud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2000" noProof="0" dirty="0" err="1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6132926F-45B1-41CC-558C-BBAE6D7DAFDE}"/>
              </a:ext>
            </a:extLst>
          </p:cNvPr>
          <p:cNvSpPr txBox="1"/>
          <p:nvPr/>
        </p:nvSpPr>
        <p:spPr>
          <a:xfrm>
            <a:off x="9171660" y="2160270"/>
            <a:ext cx="2515354" cy="1600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a-DK" sz="1400" b="0" i="0" dirty="0">
                <a:solidFill>
                  <a:schemeClr val="bg1"/>
                </a:solidFill>
                <a:effectLst/>
                <a:latin typeface="Mona Sans VF"/>
              </a:rPr>
              <a:t>Som del af overgangen til en </a:t>
            </a:r>
            <a:r>
              <a:rPr lang="da-DK" sz="1400" b="1" i="0" dirty="0">
                <a:solidFill>
                  <a:schemeClr val="bg1"/>
                </a:solidFill>
                <a:effectLst/>
                <a:latin typeface="Mona Sans VF"/>
              </a:rPr>
              <a:t>container-first</a:t>
            </a:r>
            <a:r>
              <a:rPr lang="da-DK" sz="1400" b="0" i="0" dirty="0">
                <a:solidFill>
                  <a:schemeClr val="bg1"/>
                </a:solidFill>
                <a:effectLst/>
                <a:latin typeface="Mona Sans VF"/>
              </a:rPr>
              <a:t>-strategi skal eksisterende systemer så vidt muligt containeriseres og migreres til den nye </a:t>
            </a:r>
            <a:r>
              <a:rPr lang="da-DK" sz="1400" b="0" i="0" dirty="0" err="1">
                <a:solidFill>
                  <a:schemeClr val="bg1"/>
                </a:solidFill>
                <a:effectLst/>
                <a:latin typeface="Mona Sans VF"/>
              </a:rPr>
              <a:t>Kubernetes</a:t>
            </a:r>
            <a:r>
              <a:rPr lang="da-DK" sz="1400" b="0" i="0" dirty="0">
                <a:solidFill>
                  <a:schemeClr val="bg1"/>
                </a:solidFill>
                <a:effectLst/>
                <a:latin typeface="Mona Sans VF"/>
              </a:rPr>
              <a:t>-platform </a:t>
            </a:r>
            <a:r>
              <a:rPr lang="da-DK" sz="1400" b="1" i="0" dirty="0">
                <a:solidFill>
                  <a:schemeClr val="bg1"/>
                </a:solidFill>
                <a:effectLst/>
                <a:latin typeface="Mona Sans VF"/>
              </a:rPr>
              <a:t>inden for de næste 3 år</a:t>
            </a:r>
            <a:r>
              <a:rPr lang="da-DK" sz="1400" b="0" i="0" dirty="0">
                <a:solidFill>
                  <a:schemeClr val="bg1"/>
                </a:solidFill>
                <a:effectLst/>
                <a:latin typeface="Mona Sans VF"/>
              </a:rPr>
              <a:t>.</a:t>
            </a:r>
            <a:endParaRPr lang="da-DK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6079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18BA8F-9736-71CD-D5E5-04E728447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Tidsplan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7628131-A297-881B-76FE-85C431330B6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4DC9F41-A8F4-00F6-3CC2-8C0EF2EEB6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4980509"/>
              </p:ext>
            </p:extLst>
          </p:nvPr>
        </p:nvGraphicFramePr>
        <p:xfrm>
          <a:off x="349848" y="554749"/>
          <a:ext cx="1173576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748876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288662-7D86-5A3B-B197-F6C13997E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Svar på spørgsmål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E865BC5-9D9C-E20E-1514-3D95C38E1C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2051653"/>
            <a:ext cx="6840000" cy="2484000"/>
          </a:xfrm>
        </p:spPr>
        <p:txBody>
          <a:bodyPr>
            <a:normAutofit fontScale="85000" lnSpcReduction="20000"/>
          </a:bodyPr>
          <a:lstStyle/>
          <a:p>
            <a:r>
              <a:rPr lang="da-DK" dirty="0"/>
              <a:t>Der skal ikke prioriteres et bestemt procentvis tid</a:t>
            </a:r>
          </a:p>
          <a:p>
            <a:r>
              <a:rPr lang="da-DK" dirty="0"/>
              <a:t>Containerisering skal prioriteres sammen med ejerkreds</a:t>
            </a:r>
          </a:p>
          <a:p>
            <a:r>
              <a:rPr lang="da-DK" dirty="0"/>
              <a:t>Kvartalsvis status til ID ledelsen</a:t>
            </a:r>
          </a:p>
          <a:p>
            <a:r>
              <a:rPr lang="da-DK" dirty="0"/>
              <a:t>Vigtigt at komme i gang hurtigst muligt i 2027</a:t>
            </a:r>
          </a:p>
          <a:p>
            <a:r>
              <a:rPr lang="da-DK" dirty="0"/>
              <a:t>Vi ved mere når vi først er kommet i gang</a:t>
            </a:r>
          </a:p>
          <a:p>
            <a:r>
              <a:rPr lang="da-DK" dirty="0"/>
              <a:t>Vi justerer planer undervejs</a:t>
            </a:r>
          </a:p>
          <a:p>
            <a:r>
              <a:rPr lang="da-DK" dirty="0"/>
              <a:t>Det skal lykkes sammen med jer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9501722-3587-3A58-D33E-4724F733F7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891823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1119-7BEB-01ED-02E6-25FFE0F30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EA9EF-5851-CB03-BAA2-336186EB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Migrerings-processen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BDE63B-2A21-628A-3FF0-D6FC5DCDB4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lvl="0"/>
            <a:endParaRPr lang="en-DK" dirty="0"/>
          </a:p>
          <a:p>
            <a:pPr lvl="0"/>
            <a:endParaRPr lang="en-DK" dirty="0"/>
          </a:p>
          <a:p>
            <a:pPr lvl="0"/>
            <a:endParaRPr lang="en-DK" dirty="0"/>
          </a:p>
          <a:p>
            <a:r>
              <a:rPr lang="en-DK" dirty="0"/>
              <a:t>Dette er en indflyvning på:</a:t>
            </a:r>
          </a:p>
          <a:p>
            <a:pPr lvl="1"/>
            <a:r>
              <a:rPr lang="en-DK" dirty="0"/>
              <a:t>Hvordan går et system fra "kører som i dag" til "kører på platformen"?,</a:t>
            </a:r>
          </a:p>
          <a:p>
            <a:pPr lvl="1"/>
            <a:r>
              <a:rPr lang="en-DK" dirty="0"/>
              <a:t>Hvordan vælger vi hvilke systemer der skal flyttes hvornår.</a:t>
            </a:r>
          </a:p>
          <a:p>
            <a:pPr lvl="1"/>
            <a:r>
              <a:rPr lang="en-DK" u="sng" dirty="0"/>
              <a:t>Hvem gør hvad hvornår?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Inddragelse af Teknologirådets kriterier for </a:t>
            </a:r>
            <a:r>
              <a:rPr lang="en-DK" b="1" dirty="0"/>
              <a:t>udvælgelse</a:t>
            </a:r>
            <a:r>
              <a:rPr lang="en-DK" dirty="0"/>
              <a:t> og </a:t>
            </a:r>
            <a:r>
              <a:rPr lang="en-DK" b="1" dirty="0"/>
              <a:t>prioritering </a:t>
            </a:r>
            <a:r>
              <a:rPr lang="en-DK" dirty="0"/>
              <a:t>af systemer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Det er </a:t>
            </a:r>
            <a:r>
              <a:rPr lang="en-DK" b="1" dirty="0"/>
              <a:t>ikke</a:t>
            </a:r>
            <a:r>
              <a:rPr lang="en-DK" dirty="0"/>
              <a:t> en detaljeret opskrift. Den kommer senere, og den bliver skrevet ud fra de faktiske forhindringer vi støder på med de første systemer.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F32F64-9D0D-C673-63E8-D9A7D7457C44}"/>
              </a:ext>
            </a:extLst>
          </p:cNvPr>
          <p:cNvSpPr txBox="1"/>
          <p:nvPr/>
        </p:nvSpPr>
        <p:spPr>
          <a:xfrm>
            <a:off x="838064" y="1672794"/>
            <a:ext cx="10148591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pPr lvl="0"/>
            <a:r>
              <a:rPr lang="en-DK" sz="2000" dirty="0"/>
              <a:t>“Som del af overgangen til en </a:t>
            </a:r>
            <a:r>
              <a:rPr lang="en-DK" sz="2000" b="1" dirty="0"/>
              <a:t>container-first</a:t>
            </a:r>
            <a:r>
              <a:rPr lang="en-DK" sz="2000" dirty="0"/>
              <a:t>-strategi skal eksisterende systemer så vidt muligt containeriseres og migreres til den nye Kubernetes-platform </a:t>
            </a:r>
            <a:r>
              <a:rPr lang="en-DK" sz="2000" b="1" dirty="0"/>
              <a:t>inden for de næste 3 år</a:t>
            </a:r>
            <a:r>
              <a:rPr lang="en-DK" sz="2000" dirty="0"/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89766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3CA39-212F-3CD8-2D4F-41344D017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AD42E455-AF1E-342E-DEA1-B7A299D964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8543830"/>
              </p:ext>
            </p:extLst>
          </p:nvPr>
        </p:nvGraphicFramePr>
        <p:xfrm>
          <a:off x="755867" y="933921"/>
          <a:ext cx="11048205" cy="52105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F72AD595-6A60-FD15-1F89-855B34133DD8}"/>
              </a:ext>
            </a:extLst>
          </p:cNvPr>
          <p:cNvGrpSpPr/>
          <p:nvPr/>
        </p:nvGrpSpPr>
        <p:grpSpPr>
          <a:xfrm>
            <a:off x="5378399" y="2064330"/>
            <a:ext cx="1216365" cy="1654751"/>
            <a:chOff x="8451273" y="1960418"/>
            <a:chExt cx="1364672" cy="1856509"/>
          </a:xfrm>
        </p:grpSpPr>
        <p:sp>
          <p:nvSpPr>
            <p:cNvPr id="5" name="Folded Corner 4">
              <a:extLst>
                <a:ext uri="{FF2B5EF4-FFF2-40B4-BE49-F238E27FC236}">
                  <a16:creationId xmlns:a16="http://schemas.microsoft.com/office/drawing/2014/main" id="{5BF9FFDF-A73B-2FE6-B069-0BB98092C9DC}"/>
                </a:ext>
              </a:extLst>
            </p:cNvPr>
            <p:cNvSpPr/>
            <p:nvPr/>
          </p:nvSpPr>
          <p:spPr>
            <a:xfrm>
              <a:off x="8451273" y="1960418"/>
              <a:ext cx="1364672" cy="1856509"/>
            </a:xfrm>
            <a:prstGeom prst="foldedCorner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F73EA5B-9C45-0E95-E298-DBBCC2388AF5}"/>
                </a:ext>
              </a:extLst>
            </p:cNvPr>
            <p:cNvSpPr/>
            <p:nvPr/>
          </p:nvSpPr>
          <p:spPr>
            <a:xfrm>
              <a:off x="8640864" y="2086153"/>
              <a:ext cx="324953" cy="32495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F40A468-C8CB-3B56-5E47-3BE8718A215B}"/>
                </a:ext>
              </a:extLst>
            </p:cNvPr>
            <p:cNvSpPr/>
            <p:nvPr/>
          </p:nvSpPr>
          <p:spPr>
            <a:xfrm>
              <a:off x="8640864" y="2502620"/>
              <a:ext cx="324953" cy="32495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8BFD307-4C9C-4722-BE0B-7BFB12868CE2}"/>
                </a:ext>
              </a:extLst>
            </p:cNvPr>
            <p:cNvSpPr/>
            <p:nvPr/>
          </p:nvSpPr>
          <p:spPr>
            <a:xfrm>
              <a:off x="8640863" y="2919087"/>
              <a:ext cx="324953" cy="32495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D382C04-4518-5CE6-229B-FEBB03C88499}"/>
                </a:ext>
              </a:extLst>
            </p:cNvPr>
            <p:cNvSpPr/>
            <p:nvPr/>
          </p:nvSpPr>
          <p:spPr>
            <a:xfrm>
              <a:off x="8640863" y="3368007"/>
              <a:ext cx="324953" cy="32495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8B0A927-CC53-DAFB-D5E9-0D40F5B99529}"/>
                </a:ext>
              </a:extLst>
            </p:cNvPr>
            <p:cNvCxnSpPr/>
            <p:nvPr/>
          </p:nvCxnSpPr>
          <p:spPr>
            <a:xfrm>
              <a:off x="9254837" y="2088028"/>
              <a:ext cx="0" cy="1606807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312726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1671E-89FD-5810-F1A2-1585BBAE4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Selve migrerings-processen</a:t>
            </a:r>
            <a:br>
              <a:rPr lang="en-DK" dirty="0"/>
            </a:br>
            <a:r>
              <a:rPr lang="en-DK" sz="3200" i="1" dirty="0"/>
              <a:t>— Skabelon til udvalgt system</a:t>
            </a:r>
            <a:endParaRPr lang="en-DK" i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519ADE-F3C0-FA3E-8676-4C03F3F14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544320"/>
              </p:ext>
            </p:extLst>
          </p:nvPr>
        </p:nvGraphicFramePr>
        <p:xfrm>
          <a:off x="838199" y="1822172"/>
          <a:ext cx="11082005" cy="3383280"/>
        </p:xfrm>
        <a:graphic>
          <a:graphicData uri="http://schemas.openxmlformats.org/drawingml/2006/table">
            <a:tbl>
              <a:tblPr firstRow="1">
                <a:tableStyleId>{F5AB1C69-6EDB-4FF4-983F-18BD219EF322}</a:tableStyleId>
              </a:tblPr>
              <a:tblGrid>
                <a:gridCol w="625139">
                  <a:extLst>
                    <a:ext uri="{9D8B030D-6E8A-4147-A177-3AD203B41FA5}">
                      <a16:colId xmlns:a16="http://schemas.microsoft.com/office/drawing/2014/main" val="4195658795"/>
                    </a:ext>
                  </a:extLst>
                </a:gridCol>
                <a:gridCol w="3732240">
                  <a:extLst>
                    <a:ext uri="{9D8B030D-6E8A-4147-A177-3AD203B41FA5}">
                      <a16:colId xmlns:a16="http://schemas.microsoft.com/office/drawing/2014/main" val="1076639495"/>
                    </a:ext>
                  </a:extLst>
                </a:gridCol>
                <a:gridCol w="2942336">
                  <a:extLst>
                    <a:ext uri="{9D8B030D-6E8A-4147-A177-3AD203B41FA5}">
                      <a16:colId xmlns:a16="http://schemas.microsoft.com/office/drawing/2014/main" val="3541863106"/>
                    </a:ext>
                  </a:extLst>
                </a:gridCol>
                <a:gridCol w="3782290">
                  <a:extLst>
                    <a:ext uri="{9D8B030D-6E8A-4147-A177-3AD203B41FA5}">
                      <a16:colId xmlns:a16="http://schemas.microsoft.com/office/drawing/2014/main" val="34382473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#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Trin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Ansvar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Resultat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744966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Udvælg system ud fra kriterierne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Nominering + kortlægning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976986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Containerisér system-komponenter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Dockerfile per komponent - i registry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33157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</a:rPr>
                        <a:t>compose.yml</a:t>
                      </a:r>
                      <a:r>
                        <a:rPr lang="en-DK" sz="1800" dirty="0">
                          <a:effectLst/>
                        </a:rPr>
                        <a:t> til lokal udvikling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Hele stakken kører på dev laptops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058908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Manuel opsætning i Kubernetes via Rancher UI (anbefalet)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Fungerende Kubernetes manifester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25401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dirty="0">
                          <a:solidFill>
                            <a:schemeClr val="tx1"/>
                          </a:solidFill>
                          <a:effectLst/>
                        </a:rPr>
                        <a:t>*</a:t>
                      </a:r>
                      <a:endParaRPr lang="en-DK" sz="18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Cloud-readiness-oprydning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Dev-team, parallelt med 1–4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dirty="0"/>
                        <a:t>System klar til Kubernetes drift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729702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4</a:t>
                      </a: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Konvertér til Helm chart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1" dirty="0">
                          <a:effectLst/>
                        </a:rPr>
                        <a:t>Dev-team + Platform-team</a:t>
                      </a:r>
                      <a:endParaRPr lang="en-DK" sz="18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Et linted og testet chart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280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5</a:t>
                      </a: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GitOps-deployment og CI/CD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Platform-team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CI pipeline og ArgoCD opsætning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89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5374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1B34-B229-BBFA-1AE2-562074DB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trin 3 – Manuel opsætning?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65BDF1-696D-872F-4453-98DEB99666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242707" cy="4442517"/>
          </a:xfrm>
        </p:spPr>
        <p:txBody>
          <a:bodyPr>
            <a:normAutofit/>
          </a:bodyPr>
          <a:lstStyle/>
          <a:p>
            <a:r>
              <a:rPr lang="en-DK" dirty="0"/>
              <a:t>Fordi det adskiller to spørgsmål der ellers skal fejlsøges samtidig: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sz="2400" i="1" dirty="0">
                <a:solidFill>
                  <a:srgbClr val="0074D9"/>
                </a:solidFill>
              </a:rPr>
              <a:t>Kan applikationen overhovedet køre i Kubernetes?</a:t>
            </a:r>
            <a:endParaRPr lang="en-DK" sz="2400" dirty="0">
              <a:solidFill>
                <a:srgbClr val="0074D9"/>
              </a:solidFill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DK" sz="2400" i="1" dirty="0">
                <a:solidFill>
                  <a:srgbClr val="0074D9"/>
                </a:solidFill>
              </a:rPr>
              <a:t>Er mit chart korrekt?</a:t>
            </a:r>
            <a:br>
              <a:rPr lang="en-DK" i="1" dirty="0"/>
            </a:br>
            <a:endParaRPr lang="en-DK" dirty="0"/>
          </a:p>
          <a:p>
            <a:r>
              <a:rPr lang="en-DK" dirty="0"/>
              <a:t>Får man begge fejl på én gang, er de svære at adskille. Og de fungerende manifests er præcis det man templater chartet ud fra</a:t>
            </a:r>
            <a:br>
              <a:rPr lang="en-DK" dirty="0"/>
            </a:br>
            <a:endParaRPr lang="en-DK" dirty="0"/>
          </a:p>
          <a:p>
            <a:pPr lvl="1"/>
            <a:r>
              <a:rPr lang="en-DK" sz="2400" dirty="0"/>
              <a:t>⭐ Det er nemmere at gøre kørende YAML manifester konfigurerbare end at skrive et chart i blinde.</a:t>
            </a:r>
            <a:br>
              <a:rPr lang="en-DK" sz="2400" dirty="0"/>
            </a:br>
            <a:endParaRPr lang="en-DK" sz="2400" dirty="0"/>
          </a:p>
          <a:p>
            <a:pPr lvl="1"/>
            <a:r>
              <a:rPr lang="en-DK" sz="2400" dirty="0"/>
              <a:t>⭐ Rancher gør det nemt for udviklere </a:t>
            </a:r>
            <a:r>
              <a:rPr lang="en-DK" sz="2400" b="1" dirty="0"/>
              <a:t>visuelt</a:t>
            </a:r>
            <a:r>
              <a:rPr lang="en-DK" sz="2400" dirty="0"/>
              <a:t> og uden omfattende YAML forståelse at opsætte et system i Kubernetes.</a:t>
            </a:r>
          </a:p>
        </p:txBody>
      </p:sp>
    </p:spTree>
    <p:extLst>
      <p:ext uri="{BB962C8B-B14F-4D97-AF65-F5344CB8AC3E}">
        <p14:creationId xmlns:p14="http://schemas.microsoft.com/office/powerpoint/2010/main" val="17601761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BA9EE09-9052-0F7F-FC1B-9F187AFAC08D}"/>
              </a:ext>
            </a:extLst>
          </p:cNvPr>
          <p:cNvSpPr/>
          <p:nvPr/>
        </p:nvSpPr>
        <p:spPr>
          <a:xfrm>
            <a:off x="190500" y="3076575"/>
            <a:ext cx="4895850" cy="35242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1F8FA3-BCB6-40B5-BF10-F8D73465D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Cloud-readiness – Parallelt spor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B1145-0E47-A093-BE63-4BF6E13A82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sz="2000" dirty="0"/>
              <a:t>Vores systemer skal tilpasses så de er </a:t>
            </a:r>
            <a:r>
              <a:rPr lang="en-DK" sz="2000" u="sng" dirty="0"/>
              <a:t>velegnede til at køre i Kubernetes</a:t>
            </a:r>
            <a:r>
              <a:rPr lang="en-DK" sz="2000" dirty="0"/>
              <a:t>.</a:t>
            </a:r>
            <a:endParaRPr lang="en-DK" sz="2000" u="sng" dirty="0"/>
          </a:p>
          <a:p>
            <a:pPr lvl="0"/>
            <a:r>
              <a:rPr lang="en-DK" sz="2000" dirty="0"/>
              <a:t>Formentlig den del af processen, hvor der skal investeres mest tid.</a:t>
            </a:r>
            <a:br>
              <a:rPr lang="en-DK" sz="2000" u="sng" dirty="0"/>
            </a:br>
            <a:endParaRPr lang="en-DK" sz="2000" u="sng" dirty="0"/>
          </a:p>
          <a:p>
            <a:pPr marL="0" lvl="0" indent="0">
              <a:buNone/>
            </a:pPr>
            <a:r>
              <a:rPr lang="en-DK" sz="2000" dirty="0">
                <a:solidFill>
                  <a:schemeClr val="tx1"/>
                </a:solidFill>
              </a:rPr>
              <a:t>De vigtigste af de 12 cloud-readiness principper: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0EB3C8E-2E95-3B8F-1239-35653510D5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788798"/>
              </p:ext>
            </p:extLst>
          </p:nvPr>
        </p:nvGraphicFramePr>
        <p:xfrm>
          <a:off x="388601" y="3202223"/>
          <a:ext cx="11414662" cy="3290652"/>
        </p:xfrm>
        <a:graphic>
          <a:graphicData uri="http://schemas.openxmlformats.org/drawingml/2006/table">
            <a:tbl>
              <a:tblPr firstRow="1">
                <a:tableStyleId>{F5AB1C69-6EDB-4FF4-983F-18BD219EF322}</a:tableStyleId>
              </a:tblPr>
              <a:tblGrid>
                <a:gridCol w="2436331">
                  <a:extLst>
                    <a:ext uri="{9D8B030D-6E8A-4147-A177-3AD203B41FA5}">
                      <a16:colId xmlns:a16="http://schemas.microsoft.com/office/drawing/2014/main" val="1137522910"/>
                    </a:ext>
                  </a:extLst>
                </a:gridCol>
                <a:gridCol w="8978331">
                  <a:extLst>
                    <a:ext uri="{9D8B030D-6E8A-4147-A177-3AD203B41FA5}">
                      <a16:colId xmlns:a16="http://schemas.microsoft.com/office/drawing/2014/main" val="3475897794"/>
                    </a:ext>
                  </a:extLst>
                </a:gridCol>
              </a:tblGrid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Faktor</a:t>
                      </a:r>
                      <a:endParaRPr lang="en-DK" sz="18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Hvad der går galt i Kubernetes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30667674"/>
                  </a:ext>
                </a:extLst>
              </a:tr>
              <a:tr h="618284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Config (III)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Konfiguration skal komme fra </a:t>
                      </a: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</a:rPr>
                        <a:t>miljøvariabler</a:t>
                      </a:r>
                      <a:r>
                        <a:rPr lang="en-DK" sz="1800" dirty="0">
                          <a:effectLst/>
                        </a:rPr>
                        <a:t>, ikke filer bagt ind i imaget. Ellers skal der bygges ét image per miljø.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772367084"/>
                  </a:ext>
                </a:extLst>
              </a:tr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Logs (XI)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Logs skrives til </a:t>
                      </a: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stdout/stderr</a:t>
                      </a:r>
                      <a:r>
                        <a:rPr lang="en-DK" sz="1800" dirty="0">
                          <a:effectLst/>
                        </a:rPr>
                        <a:t>. Logs skrevet til disk i en container forsvinder med Pod'en.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692483740"/>
                  </a:ext>
                </a:extLst>
              </a:tr>
              <a:tr h="618284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Processes (VI)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Applikationen skal være </a:t>
                      </a: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</a:rPr>
                        <a:t>stateless</a:t>
                      </a:r>
                      <a:r>
                        <a:rPr lang="en-DK" sz="1800" dirty="0">
                          <a:effectLst/>
                        </a:rPr>
                        <a:t>: ingen state på lokal disk, ingen sessions i hukommelsen. Ellers kan den hverken skaleres eller udrulles.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30322038"/>
                  </a:ext>
                </a:extLst>
              </a:tr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Disposability (IX)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u="none" dirty="0">
                          <a:solidFill>
                            <a:srgbClr val="0074D9"/>
                          </a:solidFill>
                          <a:effectLst/>
                        </a:rPr>
                        <a:t>Hurtig opstart og pæn håndtering af shutdown</a:t>
                      </a:r>
                      <a:r>
                        <a:rPr lang="en-DK" sz="1800" dirty="0">
                          <a:effectLst/>
                        </a:rPr>
                        <a:t> signaler. Ellers taber hver udrulning requests.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491211610"/>
                  </a:ext>
                </a:extLst>
              </a:tr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Backing services (IV)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</a:rPr>
                        <a:t>Afhængigheder findes via konfiguration</a:t>
                      </a:r>
                      <a:r>
                        <a:rPr lang="en-DK" sz="1800" dirty="0">
                          <a:effectLst/>
                        </a:rPr>
                        <a:t> — ikke hardcodede hostnames.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538430229"/>
                  </a:ext>
                </a:extLst>
              </a:tr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Dev/prod parity (X)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Præcis hvad </a:t>
                      </a: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compose.yml</a:t>
                      </a:r>
                      <a:r>
                        <a:rPr lang="en-DK" sz="1800" dirty="0">
                          <a:effectLst/>
                        </a:rPr>
                        <a:t> i trin 3 giver os.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9762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024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296F2-FDAB-195E-7B59-312681CDC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Tragten: Udvælgelse før prioritering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D34E5-CD21-4A91-D453-A529D428B3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526326" cy="4442517"/>
          </a:xfrm>
        </p:spPr>
        <p:txBody>
          <a:bodyPr/>
          <a:lstStyle/>
          <a:p>
            <a:pPr lvl="0"/>
            <a:r>
              <a:rPr lang="en-DK" b="1" dirty="0"/>
              <a:t>Udvælgelse</a:t>
            </a:r>
            <a:r>
              <a:rPr lang="en-DK" dirty="0"/>
              <a:t> — </a:t>
            </a:r>
            <a:r>
              <a:rPr lang="en-DK" i="1" dirty="0"/>
              <a:t>kan vi?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rgbClr val="0074D9"/>
                </a:solidFill>
              </a:rPr>
              <a:t>Kriterier:</a:t>
            </a:r>
            <a:r>
              <a:rPr lang="en-DK" dirty="0"/>
              <a:t> Kompatibilitet, Licens (afregning pr instans?), Hardware krav, TIME modellen.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b="1" dirty="0"/>
              <a:t>Eliminate → nedlæg</a:t>
            </a:r>
            <a:r>
              <a:rPr lang="en-DK" dirty="0"/>
              <a:t>. Containerisér ikke et system der alligevel skal udgå eller estattes.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Prioritering</a:t>
            </a:r>
            <a:r>
              <a:rPr lang="en-DK" dirty="0"/>
              <a:t> — </a:t>
            </a:r>
            <a:r>
              <a:rPr lang="en-DK" i="1" dirty="0"/>
              <a:t>hvornår?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Kriterier</a:t>
            </a:r>
            <a:r>
              <a:rPr lang="en-GB" dirty="0">
                <a:solidFill>
                  <a:srgbClr val="0074D9"/>
                </a:solidFill>
              </a:rPr>
              <a:t>:</a:t>
            </a:r>
            <a:r>
              <a:rPr lang="en-GB" dirty="0"/>
              <a:t> K</a:t>
            </a:r>
            <a:r>
              <a:rPr lang="en-DK" dirty="0"/>
              <a:t>ompleksitet, </a:t>
            </a:r>
            <a:r>
              <a:rPr lang="en-GB" dirty="0"/>
              <a:t>U</a:t>
            </a:r>
            <a:r>
              <a:rPr lang="en-DK" dirty="0"/>
              <a:t>dgivelsesfrekvens, </a:t>
            </a:r>
            <a:r>
              <a:rPr lang="en-GB" dirty="0"/>
              <a:t>D</a:t>
            </a:r>
            <a:r>
              <a:rPr lang="en-DK" dirty="0"/>
              <a:t>riftsbyrde, </a:t>
            </a:r>
            <a:r>
              <a:rPr lang="en-GB" dirty="0"/>
              <a:t>S</a:t>
            </a:r>
            <a:r>
              <a:rPr lang="en-DK" dirty="0"/>
              <a:t>kalerbarhed, </a:t>
            </a:r>
            <a:r>
              <a:rPr lang="en-GB" dirty="0"/>
              <a:t>S</a:t>
            </a:r>
            <a:r>
              <a:rPr lang="en-DK" dirty="0"/>
              <a:t>årbarhed.</a:t>
            </a:r>
            <a:br>
              <a:rPr lang="en-DK" dirty="0"/>
            </a:br>
            <a:endParaRPr lang="en-DK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3F82EBD-4092-6AC3-4EC1-B5442DC958B6}"/>
              </a:ext>
            </a:extLst>
          </p:cNvPr>
          <p:cNvGrpSpPr/>
          <p:nvPr/>
        </p:nvGrpSpPr>
        <p:grpSpPr>
          <a:xfrm>
            <a:off x="7246694" y="1891449"/>
            <a:ext cx="4940007" cy="3783794"/>
            <a:chOff x="7364458" y="1607431"/>
            <a:chExt cx="4593994" cy="351876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CD80A2-093B-8DFD-39B2-96DC70F3B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6545" t="2282" r="2940" b="1648"/>
            <a:stretch>
              <a:fillRect/>
            </a:stretch>
          </p:blipFill>
          <p:spPr>
            <a:xfrm>
              <a:off x="7364458" y="1607431"/>
              <a:ext cx="4593994" cy="3518766"/>
            </a:xfrm>
            <a:prstGeom prst="rect">
              <a:avLst/>
            </a:prstGeom>
          </p:spPr>
        </p:pic>
        <p:sp>
          <p:nvSpPr>
            <p:cNvPr id="13" name="U-turn Arrow 12">
              <a:extLst>
                <a:ext uri="{FF2B5EF4-FFF2-40B4-BE49-F238E27FC236}">
                  <a16:creationId xmlns:a16="http://schemas.microsoft.com/office/drawing/2014/main" id="{5C753297-3561-6DB4-F667-647E141264F2}"/>
                </a:ext>
              </a:extLst>
            </p:cNvPr>
            <p:cNvSpPr/>
            <p:nvPr/>
          </p:nvSpPr>
          <p:spPr>
            <a:xfrm rot="5400000" flipH="1">
              <a:off x="9766703" y="3890415"/>
              <a:ext cx="1012884" cy="949036"/>
            </a:xfrm>
            <a:prstGeom prst="uturnArrow">
              <a:avLst>
                <a:gd name="adj1" fmla="val 3102"/>
                <a:gd name="adj2" fmla="val 12987"/>
                <a:gd name="adj3" fmla="val 25000"/>
                <a:gd name="adj4" fmla="val 42290"/>
                <a:gd name="adj5" fmla="val 100000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684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6302E-F7BE-7150-CB95-9DB9B3D52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Udvælgelse af systemer – Tragten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7346B31-95DD-EB8E-7DAE-25C65AF143D7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058400" cy="42707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K" dirty="0">
                <a:solidFill>
                  <a:srgbClr val="0074D9"/>
                </a:solidFill>
              </a:rPr>
              <a:t>Kompatibilitet</a:t>
            </a:r>
          </a:p>
          <a:p>
            <a:pPr lvl="1"/>
            <a:r>
              <a:rPr lang="en-DK" dirty="0"/>
              <a:t>Kan systemet overhovedet containeriseres?</a:t>
            </a:r>
          </a:p>
          <a:p>
            <a:pPr lvl="1"/>
            <a:r>
              <a:rPr lang="en-DK" dirty="0"/>
              <a:t>Er det et proprietært købesystem uden container-understøttelse?</a:t>
            </a:r>
          </a:p>
          <a:p>
            <a:pPr lvl="1"/>
            <a:r>
              <a:rPr lang="en-DK" dirty="0"/>
              <a:t>Gør licensen det umuligt — eller ugyldiggør den supporten?</a:t>
            </a:r>
          </a:p>
          <a:p>
            <a:pPr lvl="1"/>
            <a:r>
              <a:rPr lang="en-DK" dirty="0"/>
              <a:t>Er der afregning per instans, så modellen bliver urimeligt dyr i Kubernetes?</a:t>
            </a:r>
          </a:p>
          <a:p>
            <a:pPr lvl="1"/>
            <a:r>
              <a:rPr lang="en-DK" dirty="0"/>
              <a:t>Har systemet særlige krav til hardware det kører på?</a:t>
            </a:r>
            <a:br>
              <a:rPr lang="en-DK" dirty="0"/>
            </a:br>
            <a:endParaRPr lang="en-DK" dirty="0"/>
          </a:p>
          <a:p>
            <a:r>
              <a:rPr lang="en-DK" dirty="0">
                <a:solidFill>
                  <a:srgbClr val="0074D9"/>
                </a:solidFill>
              </a:rPr>
              <a:t>TIME (Gartner) modellen</a:t>
            </a:r>
          </a:p>
          <a:p>
            <a:pPr lvl="1"/>
            <a:r>
              <a:rPr lang="en-DK" dirty="0"/>
              <a:t>Placerer systemer efter: </a:t>
            </a:r>
            <a:r>
              <a:rPr lang="en-DK" b="1" dirty="0"/>
              <a:t>forretningsværdi × teknisk stand</a:t>
            </a:r>
          </a:p>
          <a:p>
            <a:pPr lvl="1"/>
            <a:r>
              <a:rPr lang="en-DK" dirty="0"/>
              <a:t>Giver os et groft overblik over hvilke systemer vi bør containerise</a:t>
            </a:r>
          </a:p>
          <a:p>
            <a:pPr lvl="1"/>
            <a:r>
              <a:rPr lang="en-DK" dirty="0"/>
              <a:t>Mål: Undgå blot at flytte teknisk gæld videre til ny platform</a:t>
            </a:r>
          </a:p>
        </p:txBody>
      </p:sp>
    </p:spTree>
    <p:extLst>
      <p:ext uri="{BB962C8B-B14F-4D97-AF65-F5344CB8AC3E}">
        <p14:creationId xmlns:p14="http://schemas.microsoft.com/office/powerpoint/2010/main" val="3375968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847F53C-E363-A3CF-32FF-E4135DADBC22}"/>
              </a:ext>
            </a:extLst>
          </p:cNvPr>
          <p:cNvSpPr/>
          <p:nvPr/>
        </p:nvSpPr>
        <p:spPr>
          <a:xfrm>
            <a:off x="778328" y="1564488"/>
            <a:ext cx="10635342" cy="50975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B7E817-9B45-D9B7-4D0A-83E58BC0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7" y="372292"/>
            <a:ext cx="10515600" cy="1325563"/>
          </a:xfrm>
        </p:spPr>
        <p:txBody>
          <a:bodyPr/>
          <a:lstStyle/>
          <a:p>
            <a:r>
              <a:rPr lang="en-DK" dirty="0"/>
              <a:t>Udvælgelse – TIME modellen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7F35D7F-96B6-B079-D2D4-7C811141AFB0}"/>
              </a:ext>
            </a:extLst>
          </p:cNvPr>
          <p:cNvGrpSpPr/>
          <p:nvPr/>
        </p:nvGrpSpPr>
        <p:grpSpPr>
          <a:xfrm>
            <a:off x="0" y="1564488"/>
            <a:ext cx="12226308" cy="4928387"/>
            <a:chOff x="778322" y="1564488"/>
            <a:chExt cx="10665283" cy="475482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4FB1D4F-220B-B242-1293-FBE7FE391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46" t="3220" r="4018" b="4870"/>
            <a:stretch>
              <a:fillRect/>
            </a:stretch>
          </p:blipFill>
          <p:spPr>
            <a:xfrm>
              <a:off x="2530928" y="1933820"/>
              <a:ext cx="7130143" cy="4016158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CE7C7-8F9A-2F31-6CDE-4B21D3B66E22}"/>
                </a:ext>
              </a:extLst>
            </p:cNvPr>
            <p:cNvSpPr txBox="1"/>
            <p:nvPr/>
          </p:nvSpPr>
          <p:spPr>
            <a:xfrm>
              <a:off x="4855027" y="1564488"/>
              <a:ext cx="24819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dirty="0"/>
                <a:t>Høj forretningsværdi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661141-4521-05C6-34F4-3F4BDAD27478}"/>
                </a:ext>
              </a:extLst>
            </p:cNvPr>
            <p:cNvSpPr txBox="1"/>
            <p:nvPr/>
          </p:nvSpPr>
          <p:spPr>
            <a:xfrm>
              <a:off x="4855026" y="5949978"/>
              <a:ext cx="24819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dirty="0"/>
                <a:t>Lav forretningsværdi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80BC4C-8656-7091-CD8B-BD9F17ACC56D}"/>
                </a:ext>
              </a:extLst>
            </p:cNvPr>
            <p:cNvSpPr txBox="1"/>
            <p:nvPr/>
          </p:nvSpPr>
          <p:spPr>
            <a:xfrm>
              <a:off x="778322" y="3694025"/>
              <a:ext cx="248194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dirty="0"/>
                <a:t>Dårlig teknisk</a:t>
              </a:r>
              <a:br>
                <a:rPr lang="en-DK" dirty="0"/>
              </a:br>
              <a:r>
                <a:rPr lang="en-DK" dirty="0"/>
                <a:t>stand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74CF5A-F2AE-89DB-077A-13FF173FAB0C}"/>
                </a:ext>
              </a:extLst>
            </p:cNvPr>
            <p:cNvSpPr txBox="1"/>
            <p:nvPr/>
          </p:nvSpPr>
          <p:spPr>
            <a:xfrm>
              <a:off x="8961662" y="3704820"/>
              <a:ext cx="248194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dirty="0"/>
                <a:t>God teknisk</a:t>
              </a:r>
              <a:br>
                <a:rPr lang="en-DK" dirty="0"/>
              </a:br>
              <a:r>
                <a:rPr lang="en-DK" dirty="0"/>
                <a:t>stand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9D51969-4663-F6A8-9862-941BCC081E90}"/>
                </a:ext>
              </a:extLst>
            </p:cNvPr>
            <p:cNvSpPr txBox="1"/>
            <p:nvPr/>
          </p:nvSpPr>
          <p:spPr>
            <a:xfrm>
              <a:off x="2960913" y="2536794"/>
              <a:ext cx="3135086" cy="130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b="1" dirty="0"/>
                <a:t>MIGRATE</a:t>
              </a:r>
              <a:br>
                <a:rPr lang="en-DK" dirty="0"/>
              </a:br>
              <a:r>
                <a:rPr lang="en-DK" sz="1600" dirty="0"/>
                <a:t>Værdifuld, men forældet eller dårligt understøttet.</a:t>
              </a:r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Oplagt at containerise </a:t>
              </a:r>
              <a:r>
                <a:rPr lang="en-DK" sz="1600" i="1" dirty="0">
                  <a:sym typeface="Wingdings" pitchFamily="2" charset="2"/>
                </a:rPr>
                <a:t>FØRST</a:t>
              </a:r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Kan kræve mere arbejde</a:t>
              </a:r>
              <a:endParaRPr lang="en-DK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68C9E23-849E-5A19-F1A3-833A18A1280B}"/>
                </a:ext>
              </a:extLst>
            </p:cNvPr>
            <p:cNvSpPr txBox="1"/>
            <p:nvPr/>
          </p:nvSpPr>
          <p:spPr>
            <a:xfrm>
              <a:off x="6310992" y="2536794"/>
              <a:ext cx="3135086" cy="130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b="1" dirty="0"/>
                <a:t>INVEST</a:t>
              </a:r>
              <a:br>
                <a:rPr lang="en-DK" dirty="0"/>
              </a:br>
              <a:r>
                <a:rPr lang="en-DK" sz="1600" dirty="0"/>
                <a:t>Værdifuld + god teknisk stand</a:t>
              </a:r>
              <a:br>
                <a:rPr lang="en-DK" sz="1600" dirty="0"/>
              </a:br>
              <a:endParaRPr lang="en-DK" sz="1600" dirty="0"/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Containerise, vurder kompleksitet</a:t>
              </a:r>
              <a:endParaRPr lang="en-DK" sz="1600" dirty="0"/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Gør klar til Kubernetes (12 factor)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AC2ADC7-5639-FE19-3F93-B3456996881E}"/>
                </a:ext>
              </a:extLst>
            </p:cNvPr>
            <p:cNvSpPr txBox="1"/>
            <p:nvPr/>
          </p:nvSpPr>
          <p:spPr>
            <a:xfrm>
              <a:off x="2960913" y="4340097"/>
              <a:ext cx="3135086" cy="130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b="1" dirty="0"/>
                <a:t>ELIMINATE</a:t>
              </a:r>
              <a:br>
                <a:rPr lang="en-DK" dirty="0"/>
              </a:br>
              <a:r>
                <a:rPr lang="en-DK" sz="1600" dirty="0"/>
                <a:t>Lav værdi + dårlig teknisk stand</a:t>
              </a:r>
              <a:br>
                <a:rPr lang="en-DK" sz="1600" dirty="0"/>
              </a:br>
              <a:endParaRPr lang="en-DK" sz="1600" dirty="0"/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Nedlæg på længere sigt</a:t>
              </a:r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Containerise IKKE</a:t>
              </a:r>
              <a:endParaRPr lang="en-DK" sz="16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7E8F4C1-8AC6-DED7-9EB1-4A5EFC2D52D9}"/>
                </a:ext>
              </a:extLst>
            </p:cNvPr>
            <p:cNvSpPr txBox="1"/>
            <p:nvPr/>
          </p:nvSpPr>
          <p:spPr>
            <a:xfrm>
              <a:off x="6310992" y="4334151"/>
              <a:ext cx="3135086" cy="130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b="1" dirty="0"/>
                <a:t>TOLERATE</a:t>
              </a:r>
              <a:br>
                <a:rPr lang="en-DK" dirty="0"/>
              </a:br>
              <a:r>
                <a:rPr lang="en-DK" sz="1600" dirty="0"/>
                <a:t>Fungerer fint, men af lav værdi</a:t>
              </a:r>
              <a:br>
                <a:rPr lang="en-DK" sz="1600" dirty="0"/>
              </a:br>
              <a:endParaRPr lang="en-DK" sz="1600" dirty="0"/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Containerise </a:t>
              </a:r>
              <a:r>
                <a:rPr lang="en-DK" sz="1600" i="1" dirty="0">
                  <a:sym typeface="Wingdings" pitchFamily="2" charset="2"/>
                </a:rPr>
                <a:t>SIDST</a:t>
              </a:r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Tag stilling til value vs. effort</a:t>
              </a:r>
              <a:endParaRPr lang="en-DK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482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B729-D107-AA45-62E2-2DC89C1E9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55F57-BC15-BA56-F18C-1EB7EDB67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Kriterier for prioritering</a:t>
            </a:r>
            <a:br>
              <a:rPr lang="en-DK" dirty="0"/>
            </a:br>
            <a:r>
              <a:rPr lang="en-DK" sz="3200" dirty="0"/>
              <a:t>— </a:t>
            </a:r>
            <a:r>
              <a:rPr lang="en-DK" sz="3200" i="1" dirty="0"/>
              <a:t>i hvilken rækkefølge?</a:t>
            </a:r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C9BC47-246F-A6F2-DCD6-5B89C6F31D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192046"/>
              </p:ext>
            </p:extLst>
          </p:nvPr>
        </p:nvGraphicFramePr>
        <p:xfrm>
          <a:off x="838200" y="2046947"/>
          <a:ext cx="10193978" cy="3238500"/>
        </p:xfrm>
        <a:graphic>
          <a:graphicData uri="http://schemas.openxmlformats.org/drawingml/2006/table">
            <a:tbl>
              <a:tblPr firstRow="1" bandCol="1">
                <a:tableStyleId>{F5AB1C69-6EDB-4FF4-983F-18BD219EF322}</a:tableStyleId>
              </a:tblPr>
              <a:tblGrid>
                <a:gridCol w="3484418">
                  <a:extLst>
                    <a:ext uri="{9D8B030D-6E8A-4147-A177-3AD203B41FA5}">
                      <a16:colId xmlns:a16="http://schemas.microsoft.com/office/drawing/2014/main" val="4193669935"/>
                    </a:ext>
                  </a:extLst>
                </a:gridCol>
                <a:gridCol w="6709560">
                  <a:extLst>
                    <a:ext uri="{9D8B030D-6E8A-4147-A177-3AD203B41FA5}">
                      <a16:colId xmlns:a16="http://schemas.microsoft.com/office/drawing/2014/main" val="22628890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Kriterium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Hvorfor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616230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Kompleksitet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den lavest hængende frugt først, for at </a:t>
                      </a:r>
                      <a:r>
                        <a:rPr lang="en-DK" sz="2000" u="sng" dirty="0">
                          <a:effectLst/>
                        </a:rPr>
                        <a:t>opbygge erfaring</a:t>
                      </a:r>
                      <a:endParaRPr lang="en-DK" sz="2000" b="0" i="0" u="sng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069928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Udgivelsesfrekvens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 systemer der oftest ændrer sig og skal deployes</a:t>
                      </a:r>
                      <a:br>
                        <a:rPr lang="en-DK" sz="2000" dirty="0">
                          <a:effectLst/>
                        </a:rPr>
                      </a:br>
                      <a:r>
                        <a:rPr lang="en-DK" sz="2000" dirty="0">
                          <a:effectLst/>
                        </a:rPr>
                        <a:t>— de får mest ud af platformen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955079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>
                          <a:effectLst/>
                        </a:rPr>
                        <a:t>Driftsbyrde</a:t>
                      </a:r>
                      <a:endParaRPr lang="en-DK" sz="20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>
                          <a:effectLst/>
                        </a:rPr>
                        <a:t>Tag det som volder os flest problemer at drifte</a:t>
                      </a:r>
                      <a:endParaRPr lang="en-DK" sz="20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231311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Skalerbarhed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>
                          <a:effectLst/>
                        </a:rPr>
                        <a:t>Tag det som ville have størst gavn af at køre i Kubernetes</a:t>
                      </a:r>
                      <a:endParaRPr lang="en-DK" sz="20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336892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Sårbarhed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det som er særligt sårbart og vigtigt for forretningen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933647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Teamets egen prioritering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Teamet skal selv prioritere ift. kompetencer, erfaring og tid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890152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29479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CDFAD-C304-90B0-ADEE-BFDC873D5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Øvelse: Udvælgelse af egne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59C69-2B87-1E47-A218-CEEBC3F9D1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066482"/>
            <a:ext cx="10515600" cy="4442517"/>
          </a:xfrm>
        </p:spPr>
        <p:txBody>
          <a:bodyPr>
            <a:normAutofit/>
          </a:bodyPr>
          <a:lstStyle/>
          <a:p>
            <a:r>
              <a:rPr lang="en-DK" sz="3200" dirty="0"/>
              <a:t>Se på jeres systemportefølje og påbegynd udvælgelsen.</a:t>
            </a:r>
            <a:br>
              <a:rPr lang="en-DK" sz="3200" dirty="0"/>
            </a:br>
            <a:endParaRPr lang="en-DK" sz="3200" dirty="0"/>
          </a:p>
          <a:p>
            <a:r>
              <a:rPr lang="en-DK" sz="3200" dirty="0"/>
              <a:t>Brug “tragten” og TIME-modellen</a:t>
            </a:r>
          </a:p>
          <a:p>
            <a:endParaRPr lang="en-DK" sz="3200" dirty="0"/>
          </a:p>
          <a:p>
            <a:r>
              <a:rPr lang="en-DK" sz="3200" dirty="0"/>
              <a:t>Hvis i bliver færdige: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sz="2800" dirty="0"/>
              <a:t>Prioritér jeres valgt systemer ud fra kriterierne</a:t>
            </a:r>
          </a:p>
        </p:txBody>
      </p:sp>
    </p:spTree>
    <p:extLst>
      <p:ext uri="{BB962C8B-B14F-4D97-AF65-F5344CB8AC3E}">
        <p14:creationId xmlns:p14="http://schemas.microsoft.com/office/powerpoint/2010/main" val="22787059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2A2CBA-A2ED-DEB2-2D81-31FBB83D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AC0D4F-8AB9-41CF-B0C6-33265EBDAB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30269-CC61-16B7-9C93-06A5395F91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7373176" cy="2884543"/>
          </a:xfrm>
        </p:spPr>
        <p:txBody>
          <a:bodyPr/>
          <a:lstStyle/>
          <a:p>
            <a:r>
              <a:rPr lang="en-DK" dirty="0"/>
              <a:t>Arbejd på egne systemer</a:t>
            </a:r>
          </a:p>
          <a:p>
            <a:r>
              <a:rPr lang="en-DK" sz="3200" dirty="0">
                <a:solidFill>
                  <a:srgbClr val="C54D02"/>
                </a:solidFill>
              </a:rPr>
              <a:t>Udvælg et simpelt system og følg migrerings-processen</a:t>
            </a:r>
          </a:p>
        </p:txBody>
      </p:sp>
    </p:spTree>
    <p:extLst>
      <p:ext uri="{BB962C8B-B14F-4D97-AF65-F5344CB8AC3E}">
        <p14:creationId xmlns:p14="http://schemas.microsoft.com/office/powerpoint/2010/main" val="30642116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A9E7C-9F0E-1170-9CC6-EBB672A37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Opgaven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0BB22-B0A0-0964-B07A-28731BD914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Skriv et chart der pakker jeres system og eksponerer de rigtige knapper/knobs</a:t>
            </a:r>
          </a:p>
          <a:p>
            <a:pPr lvl="1"/>
            <a:r>
              <a:rPr lang="en-DK" dirty="0"/>
              <a:t>Start med at containerize og skrive kubernetes manifester hvis de mangler</a:t>
            </a:r>
          </a:p>
          <a:p>
            <a:pPr lvl="1"/>
            <a:r>
              <a:rPr lang="en-DK" dirty="0"/>
              <a:t>Lav det så simpelt som muligt først (måske bare 1 komponent)</a:t>
            </a:r>
          </a:p>
          <a:p>
            <a:pPr lvl="0"/>
            <a:r>
              <a:rPr lang="en-DK" dirty="0"/>
              <a:t>Chartet skal validere sine inputs (hvad er required?)</a:t>
            </a:r>
          </a:p>
          <a:p>
            <a:pPr lvl="0"/>
            <a:r>
              <a:rPr lang="en-DK" dirty="0"/>
              <a:t>Kør samme chart med forskellige values (dev vs. prod)</a:t>
            </a:r>
          </a:p>
          <a:p>
            <a:pPr lvl="1"/>
            <a:r>
              <a:rPr lang="da-DK" dirty="0"/>
              <a:t>Lav et </a:t>
            </a:r>
            <a:r>
              <a:rPr lang="da-DK" dirty="0" err="1"/>
              <a:t>rollback</a:t>
            </a:r>
            <a:r>
              <a:rPr lang="da-DK" dirty="0"/>
              <a:t> </a:t>
            </a:r>
            <a:r>
              <a:rPr lang="en-DK" dirty="0"/>
              <a:t>når en upgrade går galt</a:t>
            </a:r>
          </a:p>
          <a:p>
            <a:pPr lvl="0"/>
            <a:r>
              <a:rPr lang="en-DK" dirty="0"/>
              <a:t>Publicér det som et OCI-artefakt</a:t>
            </a:r>
          </a:p>
          <a:p>
            <a:endParaRPr lang="en-DK" dirty="0"/>
          </a:p>
          <a:p>
            <a:r>
              <a:rPr lang="en-DK" dirty="0"/>
              <a:t>Brug </a:t>
            </a:r>
            <a:r>
              <a:rPr lang="en-DK" dirty="0">
                <a:solidFill>
                  <a:srgbClr val="0074D9"/>
                </a:solidFill>
              </a:rPr>
              <a:t>BEST-PRACTICES.md</a:t>
            </a:r>
            <a:r>
              <a:rPr lang="en-DK" dirty="0"/>
              <a:t> som huskeliste.</a:t>
            </a:r>
          </a:p>
        </p:txBody>
      </p:sp>
    </p:spTree>
    <p:extLst>
      <p:ext uri="{BB962C8B-B14F-4D97-AF65-F5344CB8AC3E}">
        <p14:creationId xmlns:p14="http://schemas.microsoft.com/office/powerpoint/2010/main" val="29845464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F093C-479F-67F5-0799-542B8CC10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Start from example chart!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015690-D671-DDBB-82AF-8146ED4261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>
                <a:hlinkClick r:id="rId2"/>
              </a:rPr>
              <a:t>edu-greetings-chart</a:t>
            </a:r>
            <a:r>
              <a:rPr lang="en-DK" dirty="0"/>
              <a:t> has a working example of every pattern:</a:t>
            </a:r>
          </a:p>
          <a:p>
            <a:pPr lvl="1"/>
            <a:r>
              <a:rPr lang="en-DK" dirty="0"/>
              <a:t>env from ConfigMap</a:t>
            </a:r>
          </a:p>
          <a:p>
            <a:pPr lvl="1"/>
            <a:r>
              <a:rPr lang="en-DK" dirty="0"/>
              <a:t>existingSecret</a:t>
            </a:r>
          </a:p>
          <a:p>
            <a:pPr lvl="1"/>
            <a:r>
              <a:rPr lang="en-DK" dirty="0"/>
              <a:t>And: PVC, Ingress, probes, migration hook, subchart, schema, test</a:t>
            </a:r>
          </a:p>
          <a:p>
            <a:endParaRPr lang="en-DK" b="1" dirty="0"/>
          </a:p>
          <a:p>
            <a:pPr marL="457200" indent="-457200">
              <a:buFont typeface="+mj-lt"/>
              <a:buAutoNum type="arabicPeriod"/>
            </a:pPr>
            <a:r>
              <a:rPr lang="en-DK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Run:</a:t>
            </a: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cp -r edu-greetings-chart my-chart</a:t>
            </a:r>
          </a:p>
          <a:p>
            <a:pPr marL="457200" indent="-457200">
              <a:buFont typeface="+mj-lt"/>
              <a:buAutoNum type="arabicPeriod"/>
            </a:pPr>
            <a:r>
              <a:rPr lang="en-DK" b="1" dirty="0"/>
              <a:t>Then: </a:t>
            </a:r>
            <a:r>
              <a:rPr lang="en-DK" dirty="0"/>
              <a:t>Delete what doesn't apply to your system</a:t>
            </a:r>
          </a:p>
          <a:p>
            <a:pPr marL="457200" indent="-457200">
              <a:buFont typeface="+mj-lt"/>
              <a:buAutoNum type="arabicPeriod"/>
            </a:pPr>
            <a:r>
              <a:rPr lang="en-DK" b="1" dirty="0"/>
              <a:t>Rule of thumb:</a:t>
            </a:r>
            <a:r>
              <a:rPr lang="en-DK" dirty="0"/>
              <a:t> Delete anything you can't explain.</a:t>
            </a:r>
          </a:p>
          <a:p>
            <a:pPr marL="0" indent="0">
              <a:buNone/>
            </a:pPr>
            <a:endParaRPr lang="en-DK" b="1" dirty="0"/>
          </a:p>
          <a:p>
            <a:pPr marL="0" indent="0">
              <a:buNone/>
            </a:pPr>
            <a:r>
              <a:rPr lang="en-DK" b="1" dirty="0"/>
              <a:t>Faster than </a:t>
            </a:r>
            <a:r>
              <a:rPr lang="en-DK" sz="2000" b="1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helm create</a:t>
            </a:r>
            <a:endParaRPr lang="en-DK" b="1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DK" sz="2000" dirty="0"/>
              <a:t>(Creates a HPA, HTTPRoute and ServiceAccount, that we didn’t ask for.)</a:t>
            </a:r>
          </a:p>
        </p:txBody>
      </p:sp>
    </p:spTree>
    <p:extLst>
      <p:ext uri="{BB962C8B-B14F-4D97-AF65-F5344CB8AC3E}">
        <p14:creationId xmlns:p14="http://schemas.microsoft.com/office/powerpoint/2010/main" val="47886763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7622ECF-92B6-E813-484C-211ACE8888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25CBD-5A64-7FED-4127-16716973EC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Afslutning</a:t>
            </a:r>
          </a:p>
          <a:p>
            <a:r>
              <a:rPr lang="en-DK" sz="3600" dirty="0">
                <a:solidFill>
                  <a:srgbClr val="C54D02"/>
                </a:solidFill>
              </a:rPr>
              <a:t>og lektier! 📚😬</a:t>
            </a:r>
          </a:p>
        </p:txBody>
      </p:sp>
    </p:spTree>
    <p:extLst>
      <p:ext uri="{BB962C8B-B14F-4D97-AF65-F5344CB8AC3E}">
        <p14:creationId xmlns:p14="http://schemas.microsoft.com/office/powerpoint/2010/main" val="83211080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CF094-A7AB-EB41-AD19-03425F6E6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i skal inden Workshop #4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8EED0B-9E28-7D4E-AE7C-6E9323B5D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K" u="sng" dirty="0"/>
              <a:t>1. Udvalgt og prioriteret jeres systemer og lavet en rå tidsplan for containerisation</a:t>
            </a:r>
          </a:p>
          <a:p>
            <a:pPr lvl="1"/>
            <a:r>
              <a:rPr lang="en-DK" dirty="0"/>
              <a:t>Vi skal nok booke jer til et møde inden – til sparring.</a:t>
            </a:r>
          </a:p>
          <a:p>
            <a:pPr lvl="1"/>
            <a:r>
              <a:rPr lang="en-DK" dirty="0"/>
              <a:t>Få fat på platforms teamet: </a:t>
            </a:r>
            <a:r>
              <a:rPr lang="en-DK" dirty="0">
                <a:hlinkClick r:id="rId3"/>
              </a:rPr>
              <a:t>platform@kb.dk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u="sng" dirty="0"/>
              <a:t>2. Fulgt process-skabelonen for ét system (find en lavthængende frugt)</a:t>
            </a:r>
          </a:p>
          <a:p>
            <a:pPr lvl="1"/>
            <a:r>
              <a:rPr lang="en-DK" dirty="0"/>
              <a:t>Containerization af alle komponenter.</a:t>
            </a:r>
          </a:p>
          <a:p>
            <a:pPr lvl="1"/>
            <a:r>
              <a:rPr lang="en-DK" dirty="0"/>
              <a:t>Udkast til Kubernetes manifester og gerne også samlet Helm chart.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dirty="0"/>
              <a:t>Forventet deadline: Ultimo Oktober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dirty="0">
                <a:solidFill>
                  <a:srgbClr val="0074D9"/>
                </a:solidFill>
              </a:rPr>
              <a:t>OBS! Recap workshop #3.5</a:t>
            </a:r>
          </a:p>
          <a:p>
            <a:r>
              <a:rPr lang="en-DK" sz="2200" dirty="0"/>
              <a:t>Kort recap af første 3 workshops</a:t>
            </a:r>
          </a:p>
          <a:p>
            <a:r>
              <a:rPr lang="en-DK" sz="2200" dirty="0"/>
              <a:t>Mulighed for at arbejde videre på øvelser.</a:t>
            </a:r>
          </a:p>
          <a:p>
            <a:r>
              <a:rPr lang="en-DK" sz="2200" dirty="0"/>
              <a:t>Allokeret tid til ovenstående ”lektier”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757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5D13CE-F1AC-762F-64D8-6339C76119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9750" y="2703050"/>
            <a:ext cx="1778000" cy="946150"/>
          </a:xfrm>
        </p:spPr>
        <p:txBody>
          <a:bodyPr>
            <a:normAutofit/>
          </a:bodyPr>
          <a:lstStyle/>
          <a:p>
            <a:r>
              <a:rPr lang="en-DK" dirty="0"/>
              <a:t>FIN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BD19E-EDEC-FCF3-623C-1C78769E90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Tak for denne gang</a:t>
            </a:r>
          </a:p>
        </p:txBody>
      </p:sp>
    </p:spTree>
    <p:extLst>
      <p:ext uri="{BB962C8B-B14F-4D97-AF65-F5344CB8AC3E}">
        <p14:creationId xmlns:p14="http://schemas.microsoft.com/office/powerpoint/2010/main" val="169876710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52269</TotalTime>
  <Words>5046</Words>
  <Application>Microsoft Macintosh PowerPoint</Application>
  <PresentationFormat>Widescreen</PresentationFormat>
  <Paragraphs>707</Paragraphs>
  <Slides>76</Slides>
  <Notes>41</Notes>
  <HiddenSlides>6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76</vt:i4>
      </vt:variant>
    </vt:vector>
  </HeadingPairs>
  <TitlesOfParts>
    <vt:vector size="87" baseType="lpstr">
      <vt:lpstr>-apple-system</vt:lpstr>
      <vt:lpstr>Arial</vt:lpstr>
      <vt:lpstr>Calibri</vt:lpstr>
      <vt:lpstr>Calibri Light</vt:lpstr>
      <vt:lpstr>Consolas</vt:lpstr>
      <vt:lpstr>Courier New</vt:lpstr>
      <vt:lpstr>Mona Sans VF</vt:lpstr>
      <vt:lpstr>Times New Roman</vt:lpstr>
      <vt:lpstr>Wingdings</vt:lpstr>
      <vt:lpstr>Indhold</vt:lpstr>
      <vt:lpstr>Pause og overgange</vt:lpstr>
      <vt:lpstr>Helm-chart Workshop </vt:lpstr>
      <vt:lpstr>PowerPoint Presentation</vt:lpstr>
      <vt:lpstr>PowerPoint Presentation</vt:lpstr>
      <vt:lpstr>Workshops</vt:lpstr>
      <vt:lpstr>Hvorfor gør vi det her?</vt:lpstr>
      <vt:lpstr>Jeres tanker siden sidst</vt:lpstr>
      <vt:lpstr>Container = Legoklods</vt:lpstr>
      <vt:lpstr>PowerPoint Presentation</vt:lpstr>
      <vt:lpstr>Kubernetes Cluster</vt:lpstr>
      <vt:lpstr>PowerPoint Presentation</vt:lpstr>
      <vt:lpstr>Fra kubectl til kørende Pod</vt:lpstr>
      <vt:lpstr>Hvorfor nu Helm?</vt:lpstr>
      <vt:lpstr>Det Helm lover at give os</vt:lpstr>
      <vt:lpstr>PowerPoint Presentation</vt:lpstr>
      <vt:lpstr>Demo Content</vt:lpstr>
      <vt:lpstr>PowerPoint Presentation</vt:lpstr>
      <vt:lpstr>Hvad er Helm?</vt:lpstr>
      <vt:lpstr>Chart = Lego Byggesæt</vt:lpstr>
      <vt:lpstr>Helm chart – Structure</vt:lpstr>
      <vt:lpstr>Helm chart – Basics</vt:lpstr>
      <vt:lpstr>Chart anatomi</vt:lpstr>
      <vt:lpstr>Chart.yaml</vt:lpstr>
      <vt:lpstr>values.yaml</vt:lpstr>
      <vt:lpstr>Values kilder &amp; prioritet</vt:lpstr>
      <vt:lpstr>Chart ≠ Release </vt:lpstr>
      <vt:lpstr>Release revisioner</vt:lpstr>
      <vt:lpstr>Hvor bor et release?</vt:lpstr>
      <vt:lpstr>Hvor helms arbejde slutter</vt:lpstr>
      <vt:lpstr>Helm: Bottom-line</vt:lpstr>
      <vt:lpstr>Helm er ikke</vt:lpstr>
      <vt:lpstr>Helm CLI – kommandoer du får brug for</vt:lpstr>
      <vt:lpstr>PowerPoint Presentation</vt:lpstr>
      <vt:lpstr>Øvelsen</vt:lpstr>
      <vt:lpstr>PowerPoint Presentation</vt:lpstr>
      <vt:lpstr>Go templates på 60 sekunder</vt:lpstr>
      <vt:lpstr>How templating works</vt:lpstr>
      <vt:lpstr>Indbyggede template values</vt:lpstr>
      <vt:lpstr>Debugging a chart</vt:lpstr>
      <vt:lpstr>Make the Chart fail early</vt:lpstr>
      <vt:lpstr>Chart - Best practices</vt:lpstr>
      <vt:lpstr>PowerPoint Presentation</vt:lpstr>
      <vt:lpstr>Let’s template a helm chart!</vt:lpstr>
      <vt:lpstr>Assignment</vt:lpstr>
      <vt:lpstr>Assignment details</vt:lpstr>
      <vt:lpstr>Exercise recap</vt:lpstr>
      <vt:lpstr>PowerPoint Presentation</vt:lpstr>
      <vt:lpstr>Chart repository</vt:lpstr>
      <vt:lpstr>DT-DIT helm charts</vt:lpstr>
      <vt:lpstr>Dependencies &amp; subcharts</vt:lpstr>
      <vt:lpstr>Fra initContainer til helm hook</vt:lpstr>
      <vt:lpstr>Packaging &amp; Publishing</vt:lpstr>
      <vt:lpstr>From Package to Publish</vt:lpstr>
      <vt:lpstr>Hvem skal køre Helm Upgrade ?</vt:lpstr>
      <vt:lpstr>Values &amp; Secrets</vt:lpstr>
      <vt:lpstr>Exercise: Publish your chart</vt:lpstr>
      <vt:lpstr>PowerPoint Presentation</vt:lpstr>
      <vt:lpstr>PowerPoint Presentation</vt:lpstr>
      <vt:lpstr>Proces for planlægning af containerisering</vt:lpstr>
      <vt:lpstr>Tidsplan</vt:lpstr>
      <vt:lpstr>Svar på spørgsmål</vt:lpstr>
      <vt:lpstr>Migrerings-processen</vt:lpstr>
      <vt:lpstr>PowerPoint Presentation</vt:lpstr>
      <vt:lpstr>Selve migrerings-processen — Skabelon til udvalgt system</vt:lpstr>
      <vt:lpstr>Hvorfor trin 3 – Manuel opsætning?</vt:lpstr>
      <vt:lpstr>Cloud-readiness – Parallelt spor</vt:lpstr>
      <vt:lpstr>Tragten: Udvælgelse før prioritering</vt:lpstr>
      <vt:lpstr>Udvælgelse af systemer – Tragten</vt:lpstr>
      <vt:lpstr>Udvælgelse – TIME modellen</vt:lpstr>
      <vt:lpstr>Kriterier for prioritering — i hvilken rækkefølge?</vt:lpstr>
      <vt:lpstr>Øvelse: Udvælgelse af egne systemer</vt:lpstr>
      <vt:lpstr>PowerPoint Presentation</vt:lpstr>
      <vt:lpstr>Opgaven</vt:lpstr>
      <vt:lpstr>Start from example chart!</vt:lpstr>
      <vt:lpstr>PowerPoint Presentation</vt:lpstr>
      <vt:lpstr>Hvad i skal inden Workshop #4</vt:lpstr>
      <vt:lpstr>PowerPoint Presentation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428</cp:revision>
  <cp:lastPrinted>2026-08-27T11:16:34Z</cp:lastPrinted>
  <dcterms:created xsi:type="dcterms:W3CDTF">2021-06-21T11:45:03Z</dcterms:created>
  <dcterms:modified xsi:type="dcterms:W3CDTF">2026-08-31T14:57:47Z</dcterms:modified>
</cp:coreProperties>
</file>