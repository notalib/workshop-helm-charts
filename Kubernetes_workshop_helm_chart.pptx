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73"/>
  </p:notesMasterIdLst>
  <p:sldIdLst>
    <p:sldId id="280" r:id="rId3"/>
    <p:sldId id="438" r:id="rId4"/>
    <p:sldId id="439" r:id="rId5"/>
    <p:sldId id="492" r:id="rId6"/>
    <p:sldId id="513" r:id="rId7"/>
    <p:sldId id="540" r:id="rId8"/>
    <p:sldId id="398" r:id="rId9"/>
    <p:sldId id="418" r:id="rId10"/>
    <p:sldId id="361" r:id="rId11"/>
    <p:sldId id="443" r:id="rId12"/>
    <p:sldId id="514" r:id="rId13"/>
    <p:sldId id="489" r:id="rId14"/>
    <p:sldId id="498" r:id="rId15"/>
    <p:sldId id="488" r:id="rId16"/>
    <p:sldId id="499" r:id="rId17"/>
    <p:sldId id="512" r:id="rId18"/>
    <p:sldId id="500" r:id="rId19"/>
    <p:sldId id="501" r:id="rId20"/>
    <p:sldId id="394" r:id="rId21"/>
    <p:sldId id="387" r:id="rId22"/>
    <p:sldId id="516" r:id="rId23"/>
    <p:sldId id="502" r:id="rId24"/>
    <p:sldId id="503" r:id="rId25"/>
    <p:sldId id="511" r:id="rId26"/>
    <p:sldId id="508" r:id="rId27"/>
    <p:sldId id="504" r:id="rId28"/>
    <p:sldId id="506" r:id="rId29"/>
    <p:sldId id="505" r:id="rId30"/>
    <p:sldId id="507" r:id="rId31"/>
    <p:sldId id="509" r:id="rId32"/>
    <p:sldId id="517" r:id="rId33"/>
    <p:sldId id="493" r:id="rId34"/>
    <p:sldId id="524" r:id="rId35"/>
    <p:sldId id="494" r:id="rId36"/>
    <p:sldId id="388" r:id="rId37"/>
    <p:sldId id="518" r:id="rId38"/>
    <p:sldId id="519" r:id="rId39"/>
    <p:sldId id="520" r:id="rId40"/>
    <p:sldId id="521" r:id="rId41"/>
    <p:sldId id="522" r:id="rId42"/>
    <p:sldId id="523" r:id="rId43"/>
    <p:sldId id="389" r:id="rId44"/>
    <p:sldId id="391" r:id="rId45"/>
    <p:sldId id="392" r:id="rId46"/>
    <p:sldId id="490" r:id="rId47"/>
    <p:sldId id="495" r:id="rId48"/>
    <p:sldId id="385" r:id="rId49"/>
    <p:sldId id="390" r:id="rId50"/>
    <p:sldId id="525" r:id="rId51"/>
    <p:sldId id="526" r:id="rId52"/>
    <p:sldId id="527" r:id="rId53"/>
    <p:sldId id="528" r:id="rId54"/>
    <p:sldId id="529" r:id="rId55"/>
    <p:sldId id="530" r:id="rId56"/>
    <p:sldId id="496" r:id="rId57"/>
    <p:sldId id="543" r:id="rId58"/>
    <p:sldId id="533" r:id="rId59"/>
    <p:sldId id="536" r:id="rId60"/>
    <p:sldId id="538" r:id="rId61"/>
    <p:sldId id="541" r:id="rId62"/>
    <p:sldId id="537" r:id="rId63"/>
    <p:sldId id="542" r:id="rId64"/>
    <p:sldId id="539" r:id="rId65"/>
    <p:sldId id="534" r:id="rId66"/>
    <p:sldId id="497" r:id="rId67"/>
    <p:sldId id="532" r:id="rId68"/>
    <p:sldId id="535" r:id="rId69"/>
    <p:sldId id="531" r:id="rId70"/>
    <p:sldId id="545" r:id="rId71"/>
    <p:sldId id="544" r:id="rId7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4D9"/>
    <a:srgbClr val="C54D02"/>
    <a:srgbClr val="0E7068"/>
    <a:srgbClr val="B8580A"/>
    <a:srgbClr val="005DE0"/>
    <a:srgbClr val="002E70"/>
    <a:srgbClr val="F0FBFF"/>
    <a:srgbClr val="CAF0FE"/>
    <a:srgbClr val="FFFDEE"/>
    <a:srgbClr val="EEFB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44" autoAdjust="0"/>
    <p:restoredTop sz="83170"/>
  </p:normalViewPr>
  <p:slideViewPr>
    <p:cSldViewPr snapToGrid="0">
      <p:cViewPr varScale="1">
        <p:scale>
          <a:sx n="108" d="100"/>
          <a:sy n="108" d="100"/>
        </p:scale>
        <p:origin x="200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17/08/2026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449159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43978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49927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514271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387E5-455D-B866-5FF5-14094FF8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947102-1DB8-5A07-5FB5-58267CEE1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40C785-6CE2-DF13-6443-028844AC44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E4C6B-5EC9-4853-9EBF-E6E19FCEF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835711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688755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two version numbers and why they move independently — version is the chart, appVersion is the app inside. Fixing a typo in a template bumps version only.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801877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262796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182851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Ask: </a:t>
            </a:r>
            <a:r>
              <a:rPr lang="en-DK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"Hvis vi installerer chartet én gang til, har vi så fået et nyt chart eller et nyt release?”</a:t>
            </a: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Answer: a new release.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ask what must differ for the two installations to coexist. The release name must flow into resource names; hardcoded names collide when releases share a namespace. Different namespaces hide that collision but do not fix the chart.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929881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 — NATIVE PPT: revision timeline — see deck-notes/release-revisions.md.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five large revision nodes; red only for the failed revision.</a:t>
            </a:r>
            <a:endParaRPr lang="en-DK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868828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>
                <a:effectLst/>
              </a:rPr>
              <a:t>Use neutral Secret cards inside a clearly labelled </a:t>
            </a:r>
            <a:r>
              <a:rPr lang="en-DK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namespace: prod</a:t>
            </a:r>
            <a:r>
              <a:rPr lang="en-DK" dirty="0">
                <a:effectLst/>
              </a:rPr>
              <a:t> boundary. The point is that Helm has no server and no laptop-local release history.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957710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11267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21C9-6BA4-1DD5-AABC-08C55841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64060-26E7-3B1E-F25E-29A147D28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ACE53D-5D6E-CCC3-32E6-5AD6D10D8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Notes: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They don't need to memorise it — README.md has the reference.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Point at helm show values &lt;chart&gt; as the single most useful command when meeting a chart you didn't write.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an installed release, ”helm get values greetings --revision 3 -n prod” retrieves the values used by that historical revision.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CCF98-7575-D695-E1CC-6DC51A48D9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48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4: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--dry-run now takes client or server. Bare --dry-run still means client. Hammer the loop: you don't need a cluster to iterate on a template.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7425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3007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75251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Don’t delete pre-upgrade/install jobs after success!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create demo</a:t>
            </a: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install demo demo --namespace default</a:t>
            </a:r>
            <a:b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helm test demo</a:t>
            </a:r>
            <a:b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DK" dirty="0"/>
            </a:b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335451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Charts are </a:t>
            </a:r>
            <a:r>
              <a:rPr lang="en-DK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OCI artifacts</a:t>
            </a:r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they live in a container registry next to workshop #1's images. Same registry, same auth, same mental model. A chart version must mean exactly one thing forever, so registries reject re-pushing an existing version. Bump version every time.</a:t>
            </a:r>
          </a:p>
          <a:p>
            <a:br>
              <a:rPr lang="en-DK" dirty="0"/>
            </a:b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661990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842967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34418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august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17.08.2026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+.vscode-resource.vscode-cdn.net/Users/B044554/code/kb/workshop-helm-chart/1-simplest-chart/README.md" TargetMode="External"/><Relationship Id="rId2" Type="http://schemas.openxmlformats.org/officeDocument/2006/relationships/hyperlink" Target="https://github.com/notalib/workshop-helm-charts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helm.sh/docs" TargetMode="External"/><Relationship Id="rId2" Type="http://schemas.openxmlformats.org/officeDocument/2006/relationships/hyperlink" Target="https://file+.vscode-resource.vscode-cdn.net/Users/B044554/code/kb/workshop-helm-chart/2-gateway-chart/README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Notalib/workshop-helm-chart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helm-chart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kb-dk.atlassian.net/wiki/x/B4BAUQ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devops-demo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+.vscode-resource.vscode-cdn.net/Users/B044554/code/kb/workshop-helm-chart/deck-notes/migration-pipeline.md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+.vscode-resource.vscode-cdn.net/Users/B044554/code/kb/workshop-helm-chart/edu-greetings-chart/README.md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/>
              <a:t>Helm-</a:t>
            </a:r>
            <a:r>
              <a:rPr lang="da-DK" dirty="0" err="1"/>
              <a:t>chart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#3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august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1557" y="83605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7261" y="822087"/>
            <a:ext cx="9308806" cy="5415083"/>
          </a:xfrm>
        </p:spPr>
        <p:txBody>
          <a:bodyPr>
            <a:normAutofit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Hvor er vi? </a:t>
            </a:r>
            <a:r>
              <a:rPr lang="en-DK" sz="3600" dirty="0">
                <a:solidFill>
                  <a:srgbClr val="C54D02"/>
                </a:solidFill>
              </a:rPr>
              <a:t>[Recap + Plan]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CLI/Live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Helm-chart basics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Chart Templating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da-DK" sz="3600" dirty="0"/>
              <a:t>Charts i drift &amp; </a:t>
            </a:r>
            <a:r>
              <a:rPr lang="da-DK" sz="3600" dirty="0" err="1"/>
              <a:t>GitOps</a:t>
            </a:r>
            <a:r>
              <a:rPr lang="da-DK" sz="3600" dirty="0"/>
              <a:t>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Processen herfra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Arbejd på egne systemer </a:t>
            </a:r>
            <a:r>
              <a:rPr lang="en-DK" sz="3600" dirty="0">
                <a:solidFill>
                  <a:srgbClr val="C54D02"/>
                </a:solidFill>
              </a:rPr>
              <a:t>[100% Exercise]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>
                <a:solidFill>
                  <a:schemeClr val="tx1"/>
                </a:solidFill>
              </a:rPr>
              <a:t>Afslutning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>
            <a:normAutofit/>
          </a:bodyPr>
          <a:lstStyle/>
          <a:p>
            <a:r>
              <a:rPr lang="da-DK" dirty="0"/>
              <a:t>Hvor er vi?</a:t>
            </a:r>
          </a:p>
          <a:p>
            <a:r>
              <a:rPr lang="da-DK" sz="3600" dirty="0" err="1">
                <a:solidFill>
                  <a:srgbClr val="C54D02"/>
                </a:solidFill>
              </a:rPr>
              <a:t>Recap</a:t>
            </a:r>
            <a:r>
              <a:rPr lang="da-DK" sz="3600" dirty="0">
                <a:solidFill>
                  <a:srgbClr val="C54D02"/>
                </a:solidFill>
              </a:rPr>
              <a:t> af tidligere workshops og den overordnede plan</a:t>
            </a:r>
            <a:endParaRPr lang="da-DK" dirty="0">
              <a:solidFill>
                <a:srgbClr val="C54D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9E3A0-B150-708C-E36D-CEC6BAB13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00221-BFE8-A6BB-3486-43C8BA3A0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Containerisation</a:t>
            </a:r>
            <a:r>
              <a:rPr lang="en-DK" dirty="0"/>
              <a:t> — byg </a:t>
            </a:r>
            <a:r>
              <a:rPr lang="en-DK" i="1" dirty="0"/>
              <a:t>én</a:t>
            </a:r>
            <a:r>
              <a:rPr lang="en-DK" dirty="0"/>
              <a:t> container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Kubernetes</a:t>
            </a:r>
            <a:r>
              <a:rPr lang="en-DK" dirty="0"/>
              <a:t> — kør, skalér og eksponér containere i et cluster</a:t>
            </a:r>
            <a:br>
              <a:rPr lang="en-DK" dirty="0"/>
            </a:br>
            <a:endParaRPr lang="en-DK" dirty="0"/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Helm</a:t>
            </a:r>
            <a:r>
              <a:rPr lang="en-DK" dirty="0"/>
              <a:t> — pak hele systemet som </a:t>
            </a:r>
            <a:r>
              <a:rPr lang="en-DK" i="1" dirty="0"/>
              <a:t>ét</a:t>
            </a:r>
            <a:r>
              <a:rPr lang="en-DK" dirty="0"/>
              <a:t> versioneret release</a:t>
            </a:r>
            <a:br>
              <a:rPr lang="en-DK" dirty="0"/>
            </a:br>
            <a:r>
              <a:rPr lang="en-DK" sz="2000" dirty="0">
                <a:solidFill>
                  <a:srgbClr val="C54D02"/>
                </a:solidFill>
              </a:rPr>
              <a:t>+ Processen herfra og skabelon for system-migrering</a:t>
            </a:r>
            <a:br>
              <a:rPr lang="en-DK" sz="2000" dirty="0">
                <a:solidFill>
                  <a:srgbClr val="C54D02"/>
                </a:solidFill>
              </a:rPr>
            </a:br>
            <a:endParaRPr lang="en-DK" dirty="0">
              <a:solidFill>
                <a:srgbClr val="C54D02"/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DK" b="1" dirty="0"/>
              <a:t>Platformen</a:t>
            </a:r>
            <a:r>
              <a:rPr lang="en-DK" dirty="0"/>
              <a:t> — intro til den nye platform og alle dens værktøjer</a:t>
            </a:r>
          </a:p>
          <a:p>
            <a:endParaRPr lang="en-DK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F6ED695-3A7A-53BA-4047-7752C076E3EC}"/>
              </a:ext>
            </a:extLst>
          </p:cNvPr>
          <p:cNvSpPr/>
          <p:nvPr/>
        </p:nvSpPr>
        <p:spPr>
          <a:xfrm>
            <a:off x="147811" y="3298746"/>
            <a:ext cx="587875" cy="30800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rgbClr val="C54D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9227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DB768-5B31-234A-1FE8-C9785E198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gør vi det her?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EF15D-B440-C5ED-3807-F2C01F47C01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b="1" dirty="0"/>
              <a:t>Vi har vedtaget en Container-first-strategi</a:t>
            </a:r>
          </a:p>
          <a:p>
            <a:pPr lvl="1"/>
            <a:r>
              <a:rPr lang="en-DK" sz="2400" dirty="0"/>
              <a:t>Eksisterende systemer skal så vidt muligt containeriseres og migreres til den nye platform </a:t>
            </a:r>
            <a:r>
              <a:rPr lang="en-DK" sz="2400" b="1" dirty="0"/>
              <a:t>inden for 3 år</a:t>
            </a:r>
            <a:endParaRPr lang="en-DK" sz="2400" dirty="0"/>
          </a:p>
          <a:p>
            <a:pPr lvl="0"/>
            <a:endParaRPr lang="en-DK" dirty="0"/>
          </a:p>
          <a:p>
            <a:pPr lvl="0"/>
            <a:r>
              <a:rPr lang="en-DK" dirty="0"/>
              <a:t>Teknologirådet har vedtaget kriterier for </a:t>
            </a:r>
            <a:r>
              <a:rPr lang="en-DK" b="1" dirty="0"/>
              <a:t>udvælgelse</a:t>
            </a:r>
            <a:r>
              <a:rPr lang="en-DK" dirty="0"/>
              <a:t> og </a:t>
            </a:r>
            <a:r>
              <a:rPr lang="en-DK" b="1" dirty="0"/>
              <a:t>prioritering </a:t>
            </a:r>
            <a:r>
              <a:rPr lang="en-DK" dirty="0"/>
              <a:t>af systemer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Det i lærer i dag er Udvikler-teamets del af den proces</a:t>
            </a:r>
          </a:p>
          <a:p>
            <a:pPr lvl="0"/>
            <a:endParaRPr lang="en-DK" dirty="0"/>
          </a:p>
          <a:p>
            <a:r>
              <a:rPr lang="en-DK" dirty="0"/>
              <a:t>Senere i dag ser vi på planen for at migrere vores systemer og</a:t>
            </a:r>
            <a:br>
              <a:rPr lang="en-DK" dirty="0"/>
            </a:br>
            <a:r>
              <a:rPr lang="en-DK" dirty="0"/>
              <a:t>et udkast til processen</a:t>
            </a:r>
          </a:p>
          <a:p>
            <a:pPr lvl="0"/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81504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A174B-DD18-0D02-F942-952C46686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Jeres tanker siden sidst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8F34D5-B496-DA54-5746-3102F9AF2E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har fungeret godt eller skidt på de første 2 workshops?</a:t>
            </a:r>
          </a:p>
          <a:p>
            <a:endParaRPr lang="en-DK" dirty="0"/>
          </a:p>
          <a:p>
            <a:r>
              <a:rPr lang="en-DK" dirty="0"/>
              <a:t>Har i kunne bruge det til noget endnu? Hvad har i containerised?</a:t>
            </a:r>
          </a:p>
          <a:p>
            <a:endParaRPr lang="en-DK" dirty="0"/>
          </a:p>
          <a:p>
            <a:r>
              <a:rPr lang="en-DK" dirty="0"/>
              <a:t>Har i tænkt over noget ift. jeres systemer?</a:t>
            </a:r>
          </a:p>
          <a:p>
            <a:endParaRPr lang="en-DK" dirty="0"/>
          </a:p>
          <a:p>
            <a:r>
              <a:rPr lang="en-DK" dirty="0"/>
              <a:t>Var noget letere eller mere vanskeligt end i troede? Noget viden i manglede?</a:t>
            </a:r>
          </a:p>
        </p:txBody>
      </p:sp>
    </p:spTree>
    <p:extLst>
      <p:ext uri="{BB962C8B-B14F-4D97-AF65-F5344CB8AC3E}">
        <p14:creationId xmlns:p14="http://schemas.microsoft.com/office/powerpoint/2010/main" val="1659138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 fontScale="92500" lnSpcReduction="10000"/>
          </a:bodyPr>
          <a:lstStyle/>
          <a:p>
            <a:r>
              <a:rPr lang="en-DK" sz="2600" dirty="0"/>
              <a:t>Hvis vi kan bygge hvert komponent</a:t>
            </a:r>
            <a:br>
              <a:rPr lang="en-DK" sz="2600" dirty="0"/>
            </a:br>
            <a:r>
              <a:rPr lang="en-DK" sz="2600" dirty="0"/>
              <a:t>i vores system som selvstændige</a:t>
            </a:r>
            <a:br>
              <a:rPr lang="en-DK" sz="2600" dirty="0"/>
            </a:br>
            <a:r>
              <a:rPr lang="en-DK" sz="2600" dirty="0"/>
              <a:t>isolerede komponenter…</a:t>
            </a:r>
            <a:br>
              <a:rPr lang="en-DK" dirty="0"/>
            </a:br>
            <a:br>
              <a:rPr lang="en-DK" dirty="0"/>
            </a:b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køre systemet </a:t>
            </a:r>
            <a:r>
              <a:rPr lang="en-DK" sz="2400" u="sng" dirty="0"/>
              <a:t>hvor som helst</a:t>
            </a:r>
            <a:r>
              <a:rPr lang="en-DK" sz="2400" dirty="0"/>
              <a:t>.</a:t>
            </a:r>
          </a:p>
          <a:p>
            <a:endParaRPr lang="en-DK" sz="2800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hurtigt </a:t>
            </a:r>
            <a:r>
              <a:rPr lang="en-DK" sz="2400" u="sng" dirty="0"/>
              <a:t>skalere efter behov</a:t>
            </a:r>
            <a:r>
              <a:rPr lang="en-DK" sz="2400" dirty="0"/>
              <a:t>, ved at sætte flere af de samme legoklodser på pladen.</a:t>
            </a:r>
          </a:p>
          <a:p>
            <a:endParaRPr lang="en-DK" sz="2800" dirty="0"/>
          </a:p>
          <a:p>
            <a:pPr lvl="1">
              <a:buFont typeface="Wingdings" pitchFamily="2" charset="2"/>
              <a:buChar char="Ø"/>
            </a:pPr>
            <a:r>
              <a:rPr lang="en-DK" sz="2400" dirty="0"/>
              <a:t>Kan vi </a:t>
            </a:r>
            <a:r>
              <a:rPr lang="en-DK" sz="2400" u="sng" dirty="0"/>
              <a:t>opbygge komplekse systemer</a:t>
            </a:r>
            <a:r>
              <a:rPr lang="en-DK" sz="2400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396" y="1286868"/>
            <a:ext cx="6301487" cy="2625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7625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338711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6095999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2096792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B8EF-E755-4930-F384-32F4D453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3C880-6D74-D482-8741-F49B8E3B4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425"/>
          </a:xfrm>
        </p:spPr>
        <p:txBody>
          <a:bodyPr>
            <a:normAutofit fontScale="90000"/>
          </a:bodyPr>
          <a:lstStyle/>
          <a:p>
            <a:pPr algn="ctr"/>
            <a:r>
              <a:rPr lang="en-DK" dirty="0"/>
              <a:t>Fra kubectl til kørende Pod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D3F72C-5B7A-00E3-D9C3-E1F218AC9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" t="16500" r="1687" b="5097"/>
          <a:stretch>
            <a:fillRect/>
          </a:stretch>
        </p:blipFill>
        <p:spPr>
          <a:xfrm>
            <a:off x="25875" y="1121664"/>
            <a:ext cx="12140249" cy="550227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5F8A054-E48F-21CF-A9DD-9C3B79B02535}"/>
              </a:ext>
            </a:extLst>
          </p:cNvPr>
          <p:cNvSpPr/>
          <p:nvPr/>
        </p:nvSpPr>
        <p:spPr>
          <a:xfrm>
            <a:off x="4158114" y="2261937"/>
            <a:ext cx="1780673" cy="286832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5A025-31B3-D04A-EEE7-F2125A6490B8}"/>
              </a:ext>
            </a:extLst>
          </p:cNvPr>
          <p:cNvSpPr txBox="1"/>
          <p:nvPr/>
        </p:nvSpPr>
        <p:spPr>
          <a:xfrm rot="20804853">
            <a:off x="1885317" y="4963025"/>
            <a:ext cx="22426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800" dirty="0">
                <a:solidFill>
                  <a:srgbClr val="FF0000"/>
                </a:solidFill>
              </a:rPr>
              <a:t>Vores fokus -&gt;</a:t>
            </a:r>
          </a:p>
        </p:txBody>
      </p:sp>
    </p:spTree>
    <p:extLst>
      <p:ext uri="{BB962C8B-B14F-4D97-AF65-F5344CB8AC3E}">
        <p14:creationId xmlns:p14="http://schemas.microsoft.com/office/powerpoint/2010/main" val="199583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9DF90-E4E3-04A9-423A-8612CD2A5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nu Helm?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FC19C-0C2F-8BB7-FCFF-A4BC24C827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endParaRPr lang="en-GB" sz="2000" dirty="0"/>
          </a:p>
          <a:p>
            <a:endParaRPr lang="en-GB" sz="20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 err="1"/>
              <a:t>Rå</a:t>
            </a:r>
            <a:r>
              <a:rPr lang="en-GB" dirty="0"/>
              <a:t> Kubernetes YAML manifester er:</a:t>
            </a:r>
          </a:p>
          <a:p>
            <a:pPr lvl="1"/>
            <a:r>
              <a:rPr lang="en-GB" sz="2400" dirty="0" err="1"/>
              <a:t>Repetative</a:t>
            </a:r>
            <a:endParaRPr lang="en-GB" sz="2400" dirty="0"/>
          </a:p>
          <a:p>
            <a:pPr lvl="1"/>
            <a:r>
              <a:rPr lang="en-GB" sz="2400" dirty="0" err="1"/>
              <a:t>Svære</a:t>
            </a:r>
            <a:r>
              <a:rPr lang="en-GB" sz="2400" dirty="0"/>
              <a:t> at </a:t>
            </a:r>
            <a:r>
              <a:rPr lang="en-GB" sz="2400" dirty="0" err="1"/>
              <a:t>genbruge</a:t>
            </a:r>
            <a:endParaRPr lang="en-GB" sz="2400" dirty="0"/>
          </a:p>
          <a:p>
            <a:pPr lvl="1"/>
            <a:r>
              <a:rPr lang="en-GB" sz="2400" dirty="0" err="1"/>
              <a:t>Vanskelige</a:t>
            </a:r>
            <a:r>
              <a:rPr lang="en-GB" sz="2400" dirty="0"/>
              <a:t> at </a:t>
            </a:r>
            <a:r>
              <a:rPr lang="en-GB" sz="2400" dirty="0" err="1"/>
              <a:t>omkonfigurere</a:t>
            </a:r>
            <a:r>
              <a:rPr lang="en-GB" sz="2400" dirty="0"/>
              <a:t> </a:t>
            </a:r>
            <a:r>
              <a:rPr lang="en-GB" sz="2400" dirty="0" err="1"/>
              <a:t>til</a:t>
            </a:r>
            <a:r>
              <a:rPr lang="en-GB" sz="2400" dirty="0"/>
              <a:t> </a:t>
            </a:r>
            <a:r>
              <a:rPr lang="en-GB" sz="2400" dirty="0" err="1"/>
              <a:t>hvert</a:t>
            </a:r>
            <a:r>
              <a:rPr lang="en-GB" sz="2400" dirty="0"/>
              <a:t> </a:t>
            </a:r>
            <a:r>
              <a:rPr lang="en-GB" sz="2400" dirty="0" err="1"/>
              <a:t>miljø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u="sng" dirty="0"/>
              <a:t>Det er her </a:t>
            </a:r>
            <a:r>
              <a:rPr lang="en-GB" b="1" u="sng" dirty="0"/>
              <a:t>Helm</a:t>
            </a:r>
            <a:r>
              <a:rPr lang="en-GB" u="sng" dirty="0"/>
              <a:t> </a:t>
            </a:r>
            <a:r>
              <a:rPr lang="en-GB" u="sng" dirty="0" err="1"/>
              <a:t>kommer</a:t>
            </a:r>
            <a:r>
              <a:rPr lang="en-GB" u="sng" dirty="0"/>
              <a:t> </a:t>
            </a:r>
            <a:r>
              <a:rPr lang="en-GB" u="sng" dirty="0" err="1"/>
              <a:t>til</a:t>
            </a:r>
            <a:r>
              <a:rPr lang="en-GB" u="sng" dirty="0"/>
              <a:t> </a:t>
            </a:r>
            <a:r>
              <a:rPr lang="en-GB" u="sng" dirty="0" err="1"/>
              <a:t>vores</a:t>
            </a:r>
            <a:r>
              <a:rPr lang="en-GB" u="sng" dirty="0"/>
              <a:t> </a:t>
            </a:r>
            <a:r>
              <a:rPr lang="en-GB" u="sng" dirty="0" err="1"/>
              <a:t>undsætning</a:t>
            </a:r>
            <a:r>
              <a:rPr lang="en-GB" u="sng" dirty="0"/>
              <a:t>!</a:t>
            </a:r>
            <a:endParaRPr lang="en-GB" sz="2000" u="sng" dirty="0"/>
          </a:p>
          <a:p>
            <a:pPr lvl="1">
              <a:buFont typeface="Wingdings" pitchFamily="2" charset="2"/>
              <a:buChar char="Ø"/>
            </a:pPr>
            <a:endParaRPr lang="en-GB" sz="1800" b="1" dirty="0"/>
          </a:p>
          <a:p>
            <a:endParaRPr lang="en-DK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925B99-D537-5ED1-D4E9-677A69C98E66}"/>
              </a:ext>
            </a:extLst>
          </p:cNvPr>
          <p:cNvSpPr txBox="1"/>
          <p:nvPr/>
        </p:nvSpPr>
        <p:spPr>
          <a:xfrm>
            <a:off x="838063" y="1585407"/>
            <a:ext cx="9837853" cy="91940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DK" sz="2400" dirty="0"/>
              <a:t>Spørgsmål fra sidste workshop:</a:t>
            </a:r>
          </a:p>
          <a:p>
            <a:r>
              <a:rPr lang="en-DK" sz="2400" b="1" i="1" dirty="0"/>
              <a:t>“Skal jeg virkelig copy-paste al den YAML for hver app og til hvert miljø?”</a:t>
            </a:r>
            <a:endParaRPr lang="en-GB" sz="3200" b="1" dirty="0"/>
          </a:p>
        </p:txBody>
      </p:sp>
    </p:spTree>
    <p:extLst>
      <p:ext uri="{BB962C8B-B14F-4D97-AF65-F5344CB8AC3E}">
        <p14:creationId xmlns:p14="http://schemas.microsoft.com/office/powerpoint/2010/main" val="1985422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19EC4-18FC-E2BD-09B9-DF018FC3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Det Helm lover at give 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34B10-091B-067E-D5E9-A53FA6E119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847187" cy="4442517"/>
          </a:xfrm>
        </p:spPr>
        <p:txBody>
          <a:bodyPr/>
          <a:lstStyle/>
          <a:p>
            <a:pPr lvl="0"/>
            <a:r>
              <a:rPr lang="en-DK" b="1" dirty="0"/>
              <a:t>Packaging</a:t>
            </a:r>
            <a:br>
              <a:rPr lang="en-DK" b="1" dirty="0"/>
            </a:br>
            <a:r>
              <a:rPr lang="en-DK" dirty="0"/>
              <a:t>Hele systemet som ét samlet artefakt med semantisk versionsnummer.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Configuration</a:t>
            </a:r>
            <a:br>
              <a:rPr lang="en-DK" b="1" dirty="0"/>
            </a:br>
            <a:r>
              <a:rPr lang="en-DK" dirty="0"/>
              <a:t>Knapper (aka. </a:t>
            </a:r>
            <a:r>
              <a:rPr lang="en-GB" dirty="0"/>
              <a:t>k</a:t>
            </a:r>
            <a:r>
              <a:rPr lang="en-DK" dirty="0"/>
              <a:t>nobs) i stedet for at skulle redigering rå YAML.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Releases</a:t>
            </a:r>
            <a:br>
              <a:rPr lang="en-DK" b="1" dirty="0"/>
            </a:br>
            <a:r>
              <a:rPr lang="en-DK" dirty="0"/>
              <a:t>Nummererede revisioner, med rollback funktion.</a:t>
            </a:r>
            <a:br>
              <a:rPr lang="en-DK" dirty="0"/>
            </a:br>
            <a:endParaRPr lang="en-DK" dirty="0"/>
          </a:p>
          <a:p>
            <a:pPr lvl="0"/>
            <a:r>
              <a:rPr lang="en-DK" b="1" dirty="0"/>
              <a:t>Distribution</a:t>
            </a:r>
            <a:br>
              <a:rPr lang="en-DK" b="1" dirty="0"/>
            </a:br>
            <a:r>
              <a:rPr lang="en-DK" dirty="0"/>
              <a:t>Charts pushes til et fælles registry (app-store), ved siden af vores container images.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74439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17E6F-603F-B191-18D4-9C76887D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DA3E4D65-EB7A-D35E-28FA-2FEA620029C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8808E94-A188-1521-3493-A072290277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a-DK" dirty="0"/>
              <a:t>CLI/Live Demo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6299005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A069-99C0-61C5-1AB8-8BA5E561D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Demo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039D91-0490-2C3D-0E21-089FFAC4DE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Ét system, én kommando</a:t>
            </a:r>
          </a:p>
          <a:p>
            <a:pPr lvl="0"/>
            <a:r>
              <a:rPr lang="en-DK" dirty="0"/>
              <a:t>Clusteret ser </a:t>
            </a:r>
            <a:r>
              <a:rPr lang="en-DK" b="1" dirty="0"/>
              <a:t>almindelige manifests</a:t>
            </a:r>
            <a:r>
              <a:rPr lang="en-DK" dirty="0"/>
              <a:t> — Helm forsvinder</a:t>
            </a:r>
          </a:p>
          <a:p>
            <a:pPr lvl="0"/>
            <a:r>
              <a:rPr lang="en-DK" dirty="0"/>
              <a:t>Samme chart som dev </a:t>
            </a:r>
            <a:r>
              <a:rPr lang="en-DK" b="1" dirty="0"/>
              <a:t>og</a:t>
            </a:r>
            <a:r>
              <a:rPr lang="en-DK" dirty="0"/>
              <a:t> prod, side om side</a:t>
            </a:r>
          </a:p>
          <a:p>
            <a:pPr lvl="0"/>
            <a:r>
              <a:rPr lang="en-DK" b="1" dirty="0"/>
              <a:t>Revisioner</a:t>
            </a:r>
            <a:r>
              <a:rPr lang="en-DK" dirty="0"/>
              <a:t>: upgrade, historik, rollback</a:t>
            </a:r>
          </a:p>
          <a:p>
            <a:pPr lvl="0"/>
            <a:r>
              <a:rPr lang="en-DK" dirty="0"/>
              <a:t>Vi ødelægger det med vilje — og det retter sig selv via </a:t>
            </a:r>
            <a:r>
              <a:rPr lang="en-DK" b="1" dirty="0"/>
              <a:t>self-healing</a:t>
            </a:r>
            <a:endParaRPr lang="en-DK" dirty="0"/>
          </a:p>
          <a:p>
            <a:endParaRPr lang="en-DK" dirty="0"/>
          </a:p>
          <a:p>
            <a:r>
              <a:rPr lang="en-DK" dirty="0"/>
              <a:t>Observationer?</a:t>
            </a:r>
          </a:p>
        </p:txBody>
      </p:sp>
    </p:spTree>
    <p:extLst>
      <p:ext uri="{BB962C8B-B14F-4D97-AF65-F5344CB8AC3E}">
        <p14:creationId xmlns:p14="http://schemas.microsoft.com/office/powerpoint/2010/main" val="2606911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55D22-325E-4083-E79F-0A694578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E52E8A9-DE2E-6273-DCCC-345CE54E3E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99C3CAD-B123-8BF9-8AE3-ED7E1D2571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a-DK" dirty="0"/>
              <a:t>Helm basics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907201840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56B03-B713-6A3A-ABC3-B482C358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Helm?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D69098-E7FB-72F7-4B78-AD6BED8ABE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b="1" dirty="0"/>
              <a:t>En package manager for Kubernetes</a:t>
            </a:r>
            <a:r>
              <a:rPr lang="en-DK" dirty="0"/>
              <a:t> — apt/npm, men for cluster-workloads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Termer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Chart 		= pakken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Repository 	= registry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Release 		= installation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Revision 	= version af installationen</a:t>
            </a:r>
          </a:p>
          <a:p>
            <a:pPr lvl="0"/>
            <a:endParaRPr lang="en-DK" dirty="0"/>
          </a:p>
          <a:p>
            <a:pPr lvl="0"/>
            <a:r>
              <a:rPr lang="en-DK" dirty="0"/>
              <a:t>Et CLI værktøj + noget metadata i clusteret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b="1" dirty="0"/>
              <a:t>Ingen server eller controller.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578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EF0BA6-D142-11B7-4D1D-AF61A3ECD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15342" r="1550" b="12192"/>
          <a:stretch>
            <a:fillRect/>
          </a:stretch>
        </p:blipFill>
        <p:spPr>
          <a:xfrm>
            <a:off x="4940135" y="3305812"/>
            <a:ext cx="7053943" cy="29483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1DD70F-0023-735C-EFDB-BA16DE2B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= Byggesæt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2CA3A2-7848-3D06-BEDE-D44FBC52B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9"/>
            <a:ext cx="5408290" cy="4282600"/>
          </a:xfrm>
        </p:spPr>
        <p:txBody>
          <a:bodyPr/>
          <a:lstStyle/>
          <a:p>
            <a:r>
              <a:rPr lang="en-DK" dirty="0"/>
              <a:t>Vi brygger videre på lego-analogien…</a:t>
            </a:r>
            <a:br>
              <a:rPr lang="en-DK" dirty="0"/>
            </a:br>
            <a:endParaRPr lang="en-DK" dirty="0"/>
          </a:p>
          <a:p>
            <a:r>
              <a:rPr lang="en-DK" dirty="0"/>
              <a:t>Løse brikker (containers &amp; manifester)</a:t>
            </a:r>
            <a:br>
              <a:rPr lang="en-DK" dirty="0"/>
            </a:br>
            <a:r>
              <a:rPr lang="en-DK" dirty="0"/>
              <a:t>→ packaged as a boxed set with parts list and instruction booklet.</a:t>
            </a:r>
            <a:br>
              <a:rPr lang="en-DK" dirty="0"/>
            </a:br>
            <a:endParaRPr lang="en-DK" dirty="0"/>
          </a:p>
          <a:p>
            <a:r>
              <a:rPr lang="en-DK" dirty="0"/>
              <a:t>Same bricks. Now shippable, and someone else can build it.</a:t>
            </a:r>
          </a:p>
        </p:txBody>
      </p:sp>
    </p:spTree>
    <p:extLst>
      <p:ext uri="{BB962C8B-B14F-4D97-AF65-F5344CB8AC3E}">
        <p14:creationId xmlns:p14="http://schemas.microsoft.com/office/powerpoint/2010/main" val="3019539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B0BA4-B745-C0FA-8A10-63A987273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23D8-FF87-6AE2-D9DB-AEF7AF97E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chart –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671CC4-4B65-2247-BCD1-03C0310820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40724" cy="444251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 err="1">
                <a:latin typeface="Consolas" panose="020B0609020204030204" pitchFamily="49" charset="0"/>
                <a:cs typeface="Consolas" panose="020B0609020204030204" pitchFamily="49" charset="0"/>
              </a:rPr>
              <a:t>Chart.yaml</a:t>
            </a:r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Metadata about the application.</a:t>
            </a:r>
          </a:p>
          <a:p>
            <a:pPr lvl="1"/>
            <a:r>
              <a:rPr lang="en-GB" dirty="0"/>
              <a:t>v</a:t>
            </a:r>
            <a:r>
              <a:rPr lang="en-DK" dirty="0"/>
              <a:t>ersion: Semver of the helm chart, can change independently of the app.</a:t>
            </a:r>
          </a:p>
          <a:p>
            <a:pPr lvl="1"/>
            <a:r>
              <a:rPr lang="en-DK" dirty="0"/>
              <a:t>appVersion: Semver of the contained app which will be installed.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Values used to template in k8s resources.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Should have sane defaults for installation.</a:t>
            </a:r>
          </a:p>
          <a:p>
            <a:pPr lvl="1"/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Can have a full schema for validation before install.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GB" b="1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emplates/*</a:t>
            </a:r>
          </a:p>
          <a:p>
            <a:pPr lvl="1"/>
            <a:r>
              <a:rPr lang="en-GB" dirty="0"/>
              <a:t>A directory of Kubernetes (k8s) resource templates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(Deployments, Secrets, Services, etc.)</a:t>
            </a:r>
            <a:endParaRPr lang="en-GB" dirty="0"/>
          </a:p>
          <a:p>
            <a:pPr lvl="1"/>
            <a:r>
              <a:rPr lang="en-GB" dirty="0"/>
              <a:t>Combined with values, they will generate valid Kubernetes manifest files.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7170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53373-B0D2-3DF2-1781-285D501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Helm chart – Basics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FC3F5-1B53-5760-2ABF-5E313010EDF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DK" u="sng" dirty="0"/>
              <a:t>Required files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Chart.yml 	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Metadata about chart/app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alues.yml 	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 variables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emplates/*.yml 	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Templated kubernetes manifests: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Deployments, ConfigMaps, Services, Ingress, etc.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DK" u="sng" dirty="0"/>
              <a:t>Optional files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templates/_helpers.tpl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Helper scripts available in all templates</a:t>
            </a:r>
            <a:endParaRPr lang="en-DK" dirty="0"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templates/NOTES.txt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		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Notes printed on install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alues.schema.json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JSON schema for template variables</a:t>
            </a:r>
            <a:endParaRPr lang="en-DK" dirty="0">
              <a:cs typeface="Consolas" panose="020B0609020204030204" pitchFamily="49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.helmignore			</a:t>
            </a:r>
            <a:r>
              <a:rPr lang="en-DK" dirty="0">
                <a:cs typeface="Consolas" panose="020B0609020204030204" pitchFamily="49" charset="0"/>
                <a:sym typeface="Wingdings" pitchFamily="2" charset="2"/>
              </a:rPr>
              <a:t> Ignore for chart package</a:t>
            </a:r>
            <a:endParaRPr lang="en-DK" dirty="0">
              <a:cs typeface="Consolas" panose="020B0609020204030204" pitchFamily="49" charset="0"/>
            </a:endParaRPr>
          </a:p>
        </p:txBody>
      </p:sp>
      <p:pic>
        <p:nvPicPr>
          <p:cNvPr id="6" name="Picture 5" descr="helm Vector Icons free download in SVG, PNG Format">
            <a:extLst>
              <a:ext uri="{FF2B5EF4-FFF2-40B4-BE49-F238E27FC236}">
                <a16:creationId xmlns:a16="http://schemas.microsoft.com/office/drawing/2014/main" id="{9F7EB4B4-9327-3909-801C-8FE01E3026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5155" y="724795"/>
            <a:ext cx="1868611" cy="1868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67728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394ED-A01F-ED6D-40BD-0425309A0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anatomi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7ACAF-C21D-1ED0-AE96-A710D731BF8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436913"/>
            <a:ext cx="10515600" cy="505596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my-chart/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Chart.yaml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............. metadata. name, version,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appVersion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, dependencies</a:t>
            </a:r>
          </a:p>
          <a:p>
            <a:pPr marL="0" indent="0">
              <a:buNone/>
            </a:pPr>
            <a:r>
              <a:rPr lang="en-GB" sz="1400" b="1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│                           ⇒ the label on the box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............ DEFAULTS, and the chart's public API</a:t>
            </a:r>
          </a:p>
          <a:p>
            <a:pPr marL="0" indent="0">
              <a:buNone/>
            </a:pPr>
            <a:r>
              <a:rPr lang="en-GB" sz="1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│                         </a:t>
            </a:r>
            <a:r>
              <a:rPr lang="en-GB" sz="1400" b="1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⇒ the knobs on the front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├──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values.schema.json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..... optional: validates values before install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│                           </a:t>
            </a:r>
            <a:r>
              <a:rPr lang="en-GB" sz="1400" b="1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⇒ make the knobs only turn to legal positions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├── templates/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.... the manifests you already write, with holes in them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service.yaml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ingress.yaml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_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helpers.tpl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....... template helpers (Leading _ = not a manifest)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│   ├──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NOTES.txt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.......... printed after install. ALSO a template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│   └── tests/ ............. only run by `helm test`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├── charts/ ................ sub-charts (dependencies) live here</a:t>
            </a:r>
          </a:p>
          <a:p>
            <a:pPr mar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└── .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helmignore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............ like .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dockerignore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, for `helm package`</a:t>
            </a:r>
            <a:endParaRPr lang="en-DK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104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E5EAB-C3D3-9E02-2924-672D4FEE5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254" y="365125"/>
            <a:ext cx="10515600" cy="1325563"/>
          </a:xfrm>
        </p:spPr>
        <p:txBody>
          <a:bodyPr/>
          <a:lstStyle/>
          <a:p>
            <a:r>
              <a:rPr lang="en-DK" dirty="0"/>
              <a:t>Chart.yaml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6BFC6-D3AF-B418-1DC5-A370EF9E23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254" y="1690688"/>
            <a:ext cx="3662616" cy="4442517"/>
          </a:xfrm>
        </p:spPr>
        <p:txBody>
          <a:bodyPr/>
          <a:lstStyle/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apiVersion: v2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ame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version (of chart)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appVersion (of app)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ependencies</a:t>
            </a:r>
          </a:p>
          <a:p>
            <a:pPr lvl="1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Sub-charts we also install for our app</a:t>
            </a:r>
          </a:p>
          <a:p>
            <a:pPr lvl="1"/>
            <a:endParaRPr lang="en-DK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Optional:</a:t>
            </a:r>
            <a:b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keywords, home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E435B8-DF75-47C2-1814-AF5287B19D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26"/>
          <a:stretch>
            <a:fillRect/>
          </a:stretch>
        </p:blipFill>
        <p:spPr>
          <a:xfrm>
            <a:off x="4556083" y="1690689"/>
            <a:ext cx="7378700" cy="3581956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41097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80A40-C339-15FC-2BF6-EF91E8A9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values.yaml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99AF-F3C1-5619-4F46-4D77148CED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4111483" cy="4442517"/>
          </a:xfrm>
        </p:spPr>
        <p:txBody>
          <a:bodyPr>
            <a:normAutofit/>
          </a:bodyPr>
          <a:lstStyle/>
          <a:p>
            <a:r>
              <a:rPr lang="en-DK" dirty="0"/>
              <a:t>Chart’ets eksterne “kontrakt”.</a:t>
            </a:r>
          </a:p>
          <a:p>
            <a:r>
              <a:rPr lang="en-DK" dirty="0"/>
              <a:t>Hver indstilling udgør en del af kontrakten</a:t>
            </a:r>
          </a:p>
          <a:p>
            <a:pPr lvl="0"/>
            <a:r>
              <a:rPr lang="en-DK" dirty="0"/>
              <a:t>Mulighed for default values</a:t>
            </a:r>
            <a:br>
              <a:rPr lang="en-DK" dirty="0"/>
            </a:b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nem opsætning.</a:t>
            </a:r>
            <a:br>
              <a:rPr lang="en-DK" dirty="0"/>
            </a:b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sæt kun de values du vil ændre ved installation.</a:t>
            </a:r>
            <a:br>
              <a:rPr lang="en-DK" dirty="0"/>
            </a:br>
            <a:endParaRPr lang="en-DK" dirty="0"/>
          </a:p>
          <a:p>
            <a:pPr lvl="0"/>
            <a:r>
              <a:rPr lang="en-DK" dirty="0"/>
              <a:t>At omdøbe en value </a:t>
            </a:r>
            <a:r>
              <a:rPr lang="en-DK" dirty="0">
                <a:sym typeface="Wingdings" pitchFamily="2" charset="2"/>
              </a:rPr>
              <a:t>er en</a:t>
            </a:r>
            <a:br>
              <a:rPr lang="en-DK" dirty="0">
                <a:sym typeface="Wingdings" pitchFamily="2" charset="2"/>
              </a:rPr>
            </a:br>
            <a:r>
              <a:rPr lang="en-DK" b="1" dirty="0"/>
              <a:t>breaking change</a:t>
            </a:r>
            <a:br>
              <a:rPr lang="en-DK" b="1" dirty="0"/>
            </a:br>
            <a:r>
              <a:rPr lang="en-DK" b="1" dirty="0">
                <a:sym typeface="Wingdings" pitchFamily="2" charset="2"/>
              </a:rPr>
              <a:t> </a:t>
            </a:r>
            <a:r>
              <a:rPr lang="en-DK" dirty="0"/>
              <a:t>derfor er chart versioneret</a:t>
            </a:r>
            <a:endParaRPr lang="en-DK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ADE15-C750-AEB7-5C40-0EB63E8FC9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2727" b="1309"/>
          <a:stretch>
            <a:fillRect/>
          </a:stretch>
        </p:blipFill>
        <p:spPr>
          <a:xfrm>
            <a:off x="5442858" y="825902"/>
            <a:ext cx="6404186" cy="4921755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31471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48D2C-2CA8-8E0E-00D5-C2386CB9C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 kilder &amp; prioritet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F53DD-3C38-1BA3-0F35-AE503F4EA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dirty="0"/>
              <a:t>Values overskrives i prioriteret rækkefølge (fra mindst til højest)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Chart defaults i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values.yaml</a:t>
            </a: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En fil med values givet ved install</a:t>
            </a:r>
            <a:br>
              <a:rPr lang="en-DK" dirty="0"/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helm install ...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--file prod-values.yml</a:t>
            </a: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000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Enkelt value sat via flag ved install</a:t>
            </a:r>
            <a:br>
              <a:rPr lang="en-DK" dirty="0"/>
            </a:b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helm install ...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--set replicas=3</a:t>
            </a:r>
            <a:endParaRPr lang="en-DK" sz="2800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37A3E7-789A-09AC-E088-CA743F8FD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843" b="14065"/>
          <a:stretch>
            <a:fillRect/>
          </a:stretch>
        </p:blipFill>
        <p:spPr>
          <a:xfrm>
            <a:off x="7651436" y="2260578"/>
            <a:ext cx="4520540" cy="108333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5EEB0D-9A4B-17B1-8866-DC89DC15A6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672" y="5476869"/>
            <a:ext cx="3670680" cy="330963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13" name="Down Arrow 12">
            <a:extLst>
              <a:ext uri="{FF2B5EF4-FFF2-40B4-BE49-F238E27FC236}">
                <a16:creationId xmlns:a16="http://schemas.microsoft.com/office/drawing/2014/main" id="{23747E05-094B-93C9-D3A1-A7547E571418}"/>
              </a:ext>
            </a:extLst>
          </p:cNvPr>
          <p:cNvSpPr/>
          <p:nvPr/>
        </p:nvSpPr>
        <p:spPr>
          <a:xfrm>
            <a:off x="8668988" y="3351292"/>
            <a:ext cx="285007" cy="634356"/>
          </a:xfrm>
          <a:prstGeom prst="downArrow">
            <a:avLst/>
          </a:prstGeom>
          <a:solidFill>
            <a:srgbClr val="C54D0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21CA3F74-AF5F-EAB1-6798-86DD956690B6}"/>
              </a:ext>
            </a:extLst>
          </p:cNvPr>
          <p:cNvSpPr/>
          <p:nvPr/>
        </p:nvSpPr>
        <p:spPr>
          <a:xfrm>
            <a:off x="8668987" y="4823852"/>
            <a:ext cx="285007" cy="634356"/>
          </a:xfrm>
          <a:prstGeom prst="downArrow">
            <a:avLst/>
          </a:prstGeom>
          <a:solidFill>
            <a:srgbClr val="C54D0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87CD3BD-D5FC-BBCE-433E-8C5CA29DB3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436" y="3972599"/>
            <a:ext cx="2527300" cy="88900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8620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365C9B-CB18-CDFC-630C-105C5E3539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04" t="4033" r="1393" b="4864"/>
          <a:stretch>
            <a:fillRect/>
          </a:stretch>
        </p:blipFill>
        <p:spPr>
          <a:xfrm>
            <a:off x="4904508" y="2351314"/>
            <a:ext cx="7184573" cy="37818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50F6D8-328E-3A1D-107C-B6BE26F03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Chart ≠ Release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4A48C-B93E-F2A1-1E6A-59CA9965D5B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477068" cy="4442517"/>
          </a:xfrm>
        </p:spPr>
        <p:txBody>
          <a:bodyPr/>
          <a:lstStyle/>
          <a:p>
            <a:r>
              <a:rPr lang="en-DK" dirty="0"/>
              <a:t>A single chart can be installed as </a:t>
            </a:r>
            <a:r>
              <a:rPr lang="en-DK" u="sng" dirty="0"/>
              <a:t>many</a:t>
            </a:r>
            <a:r>
              <a:rPr lang="en-DK" dirty="0"/>
              <a:t> releases.</a:t>
            </a:r>
          </a:p>
          <a:p>
            <a:r>
              <a:rPr lang="en-DK" dirty="0"/>
              <a:t>One chart can be:</a:t>
            </a:r>
          </a:p>
          <a:p>
            <a:pPr lvl="1"/>
            <a:r>
              <a:rPr lang="en-DK" dirty="0"/>
              <a:t>Installed in several clusters (dev + stage + prod).</a:t>
            </a:r>
          </a:p>
          <a:p>
            <a:pPr lvl="1"/>
            <a:r>
              <a:rPr lang="en-DK" dirty="0">
                <a:sym typeface="Wingdings" pitchFamily="2" charset="2"/>
              </a:rPr>
              <a:t>Installed in </a:t>
            </a:r>
            <a:r>
              <a:rPr lang="en-DK" dirty="0"/>
              <a:t>several namespaces of the same cluster.</a:t>
            </a:r>
          </a:p>
          <a:p>
            <a:r>
              <a:rPr lang="en-DK" dirty="0"/>
              <a:t>Usefulness:</a:t>
            </a:r>
          </a:p>
          <a:p>
            <a:pPr lvl="1"/>
            <a:r>
              <a:rPr lang="en-DK" dirty="0"/>
              <a:t>Promoted delivery across environments.</a:t>
            </a:r>
          </a:p>
          <a:p>
            <a:pPr lvl="1"/>
            <a:r>
              <a:rPr lang="en-DK" dirty="0"/>
              <a:t>Separate installs within one for AB testing.</a:t>
            </a:r>
          </a:p>
          <a:p>
            <a:pPr lvl="1"/>
            <a:r>
              <a:rPr lang="en-DK" dirty="0"/>
              <a:t>Integration tests on version candidates</a:t>
            </a:r>
          </a:p>
          <a:p>
            <a:r>
              <a:rPr lang="en-DK" dirty="0"/>
              <a:t>Each release exists</a:t>
            </a:r>
            <a:br>
              <a:rPr lang="en-DK" dirty="0"/>
            </a:br>
            <a:r>
              <a:rPr lang="en-DK" dirty="0"/>
              <a:t>independently of the other.</a:t>
            </a:r>
            <a:br>
              <a:rPr lang="en-DK" dirty="0"/>
            </a:br>
            <a:r>
              <a:rPr lang="en-DK" dirty="0">
                <a:solidFill>
                  <a:srgbClr val="C54D02"/>
                </a:solidFill>
              </a:rPr>
              <a:t>(separate namespaces)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211728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EACF-E4C5-FCD1-3169-1C4E17BAE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Release revisioner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E8057-D07F-CE20-07CC-B18A38BC2D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571933"/>
            <a:ext cx="10515600" cy="4442517"/>
          </a:xfrm>
        </p:spPr>
        <p:txBody>
          <a:bodyPr>
            <a:normAutofit/>
          </a:bodyPr>
          <a:lstStyle/>
          <a:p>
            <a:r>
              <a:rPr lang="en-DK" dirty="0"/>
              <a:t>Revision timeline er </a:t>
            </a:r>
            <a:r>
              <a:rPr lang="en-DK" u="sng" dirty="0"/>
              <a:t>altid sekventiel.</a:t>
            </a:r>
          </a:p>
          <a:p>
            <a:r>
              <a:rPr lang="en-DK" dirty="0"/>
              <a:t>Rollback går ikke tilbage i historikken — den tilføjer en ny revision.</a:t>
            </a:r>
          </a:p>
          <a:p>
            <a:r>
              <a:rPr lang="en-DK" dirty="0"/>
              <a:t>Release historik: 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history greetings -n stage</a:t>
            </a:r>
            <a:b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rev 1       rev 2       rev 3       rev 4       rev 5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install     upgrade     upgrade     upgrade     rollback → 3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v1.0.0      v1.0.1      v1.1.0      v1.2.0      v1.1.0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✅          ✅          ✅          ❌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FAILED 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✅</a:t>
            </a:r>
          </a:p>
        </p:txBody>
      </p:sp>
      <p:sp>
        <p:nvSpPr>
          <p:cNvPr id="14" name="Curved Down Arrow 13">
            <a:extLst>
              <a:ext uri="{FF2B5EF4-FFF2-40B4-BE49-F238E27FC236}">
                <a16:creationId xmlns:a16="http://schemas.microsoft.com/office/drawing/2014/main" id="{C762C8D9-2E1C-7788-F975-199A47F63EB7}"/>
              </a:ext>
            </a:extLst>
          </p:cNvPr>
          <p:cNvSpPr/>
          <p:nvPr/>
        </p:nvSpPr>
        <p:spPr>
          <a:xfrm rot="10800000">
            <a:off x="4975754" y="5511742"/>
            <a:ext cx="4144489" cy="651552"/>
          </a:xfrm>
          <a:prstGeom prst="curvedDownArrow">
            <a:avLst/>
          </a:prstGeom>
          <a:solidFill>
            <a:srgbClr val="0074D9"/>
          </a:solidFill>
          <a:ln w="19050">
            <a:solidFill>
              <a:schemeClr val="tx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2030122 w 4144489"/>
                      <a:gd name="csY0" fmla="*/ 632 h 673966"/>
                      <a:gd name="csX1" fmla="*/ 168492 w 4144489"/>
                      <a:gd name="csY1" fmla="*/ 673966 h 673966"/>
                      <a:gd name="csX2" fmla="*/ 0 w 4144489"/>
                      <a:gd name="csY2" fmla="*/ 673966 h 673966"/>
                      <a:gd name="csX3" fmla="*/ 1945876 w 4144489"/>
                      <a:gd name="csY3" fmla="*/ 0 h 673966"/>
                      <a:gd name="csX4" fmla="*/ 2114367 w 4144489"/>
                      <a:gd name="csY4" fmla="*/ 0 h 673966"/>
                      <a:gd name="csX5" fmla="*/ 3998453 w 4144489"/>
                      <a:gd name="csY5" fmla="*/ 505474 h 673966"/>
                      <a:gd name="csX6" fmla="*/ 4082699 w 4144489"/>
                      <a:gd name="csY6" fmla="*/ 505475 h 673966"/>
                      <a:gd name="csX7" fmla="*/ 3975998 w 4144489"/>
                      <a:gd name="csY7" fmla="*/ 673966 h 673966"/>
                      <a:gd name="csX8" fmla="*/ 3745716 w 4144489"/>
                      <a:gd name="csY8" fmla="*/ 505475 h 673966"/>
                      <a:gd name="csX9" fmla="*/ 3829962 w 4144489"/>
                      <a:gd name="csY9" fmla="*/ 505475 h 673966"/>
                      <a:gd name="csX10" fmla="*/ 1945876 w 4144489"/>
                      <a:gd name="csY10" fmla="*/ 1 h 6739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4144489" h="673966" stroke="0" extrusionOk="0">
                        <a:moveTo>
                          <a:pt x="3975998" y="673966"/>
                        </a:moveTo>
                        <a:cubicBezTo>
                          <a:pt x="3846607" y="611663"/>
                          <a:pt x="3860508" y="555830"/>
                          <a:pt x="3745716" y="505475"/>
                        </a:cubicBezTo>
                        <a:cubicBezTo>
                          <a:pt x="3774887" y="498014"/>
                          <a:pt x="3807737" y="508123"/>
                          <a:pt x="3829962" y="505475"/>
                        </a:cubicBezTo>
                        <a:cubicBezTo>
                          <a:pt x="3570594" y="415399"/>
                          <a:pt x="2731884" y="-55427"/>
                          <a:pt x="1945876" y="1"/>
                        </a:cubicBezTo>
                        <a:cubicBezTo>
                          <a:pt x="2028693" y="-18383"/>
                          <a:pt x="2055768" y="12157"/>
                          <a:pt x="2114367" y="0"/>
                        </a:cubicBezTo>
                        <a:cubicBezTo>
                          <a:pt x="2981549" y="-13202"/>
                          <a:pt x="3790541" y="185258"/>
                          <a:pt x="3998453" y="505474"/>
                        </a:cubicBezTo>
                        <a:cubicBezTo>
                          <a:pt x="4024249" y="499796"/>
                          <a:pt x="4050399" y="509291"/>
                          <a:pt x="4082699" y="505475"/>
                        </a:cubicBezTo>
                        <a:cubicBezTo>
                          <a:pt x="4044776" y="592086"/>
                          <a:pt x="4004390" y="593651"/>
                          <a:pt x="3975998" y="673966"/>
                        </a:cubicBezTo>
                        <a:close/>
                      </a:path>
                      <a:path w="4144489" h="673966" fill="darkenLess" stroke="0" extrusionOk="0">
                        <a:moveTo>
                          <a:pt x="2030122" y="632"/>
                        </a:moveTo>
                        <a:cubicBezTo>
                          <a:pt x="974662" y="15425"/>
                          <a:pt x="171250" y="305531"/>
                          <a:pt x="168492" y="673966"/>
                        </a:cubicBezTo>
                        <a:cubicBezTo>
                          <a:pt x="89262" y="685124"/>
                          <a:pt x="60195" y="669939"/>
                          <a:pt x="0" y="673966"/>
                        </a:cubicBezTo>
                        <a:cubicBezTo>
                          <a:pt x="114065" y="517364"/>
                          <a:pt x="586572" y="91773"/>
                          <a:pt x="1376973" y="29447"/>
                        </a:cubicBezTo>
                        <a:cubicBezTo>
                          <a:pt x="1598093" y="-38612"/>
                          <a:pt x="1800182" y="-1192"/>
                          <a:pt x="2030122" y="632"/>
                        </a:cubicBezTo>
                        <a:close/>
                      </a:path>
                      <a:path w="4144489" h="673966" fill="none" extrusionOk="0">
                        <a:moveTo>
                          <a:pt x="2030122" y="632"/>
                        </a:moveTo>
                        <a:cubicBezTo>
                          <a:pt x="971664" y="70882"/>
                          <a:pt x="151661" y="260090"/>
                          <a:pt x="168492" y="673966"/>
                        </a:cubicBezTo>
                        <a:cubicBezTo>
                          <a:pt x="117597" y="682262"/>
                          <a:pt x="57505" y="662736"/>
                          <a:pt x="0" y="673966"/>
                        </a:cubicBezTo>
                        <a:cubicBezTo>
                          <a:pt x="14825" y="315492"/>
                          <a:pt x="1003157" y="-78899"/>
                          <a:pt x="1945876" y="0"/>
                        </a:cubicBezTo>
                        <a:cubicBezTo>
                          <a:pt x="2012910" y="-7079"/>
                          <a:pt x="2080473" y="19300"/>
                          <a:pt x="2114367" y="0"/>
                        </a:cubicBezTo>
                        <a:cubicBezTo>
                          <a:pt x="2991562" y="37873"/>
                          <a:pt x="3789085" y="211480"/>
                          <a:pt x="3998453" y="505474"/>
                        </a:cubicBezTo>
                        <a:cubicBezTo>
                          <a:pt x="4039648" y="500693"/>
                          <a:pt x="4062914" y="512198"/>
                          <a:pt x="4082699" y="505475"/>
                        </a:cubicBezTo>
                        <a:cubicBezTo>
                          <a:pt x="4057277" y="558588"/>
                          <a:pt x="3985966" y="621976"/>
                          <a:pt x="3975998" y="673966"/>
                        </a:cubicBezTo>
                        <a:cubicBezTo>
                          <a:pt x="3884470" y="643345"/>
                          <a:pt x="3838343" y="538782"/>
                          <a:pt x="3745716" y="505475"/>
                        </a:cubicBezTo>
                        <a:cubicBezTo>
                          <a:pt x="3770020" y="500968"/>
                          <a:pt x="3793360" y="508815"/>
                          <a:pt x="3829962" y="505475"/>
                        </a:cubicBezTo>
                        <a:cubicBezTo>
                          <a:pt x="3553729" y="110731"/>
                          <a:pt x="2632757" y="93153"/>
                          <a:pt x="1945876" y="1"/>
                        </a:cubicBezTo>
                      </a:path>
                      <a:path w="4144489" h="673966" fill="none" stroke="0" extrusionOk="0">
                        <a:moveTo>
                          <a:pt x="2030122" y="632"/>
                        </a:moveTo>
                        <a:cubicBezTo>
                          <a:pt x="978476" y="8866"/>
                          <a:pt x="148923" y="311704"/>
                          <a:pt x="168492" y="673966"/>
                        </a:cubicBezTo>
                        <a:cubicBezTo>
                          <a:pt x="99645" y="681608"/>
                          <a:pt x="41340" y="655180"/>
                          <a:pt x="0" y="673966"/>
                        </a:cubicBezTo>
                        <a:cubicBezTo>
                          <a:pt x="42859" y="293038"/>
                          <a:pt x="983445" y="18235"/>
                          <a:pt x="1945876" y="0"/>
                        </a:cubicBezTo>
                        <a:cubicBezTo>
                          <a:pt x="1983346" y="-9196"/>
                          <a:pt x="2057353" y="14225"/>
                          <a:pt x="2114367" y="0"/>
                        </a:cubicBezTo>
                        <a:cubicBezTo>
                          <a:pt x="2956665" y="71469"/>
                          <a:pt x="3668993" y="213645"/>
                          <a:pt x="3998453" y="505474"/>
                        </a:cubicBezTo>
                        <a:cubicBezTo>
                          <a:pt x="4029833" y="499732"/>
                          <a:pt x="4047245" y="505482"/>
                          <a:pt x="4082699" y="505475"/>
                        </a:cubicBezTo>
                        <a:cubicBezTo>
                          <a:pt x="4059182" y="571712"/>
                          <a:pt x="4018848" y="583891"/>
                          <a:pt x="3975998" y="673966"/>
                        </a:cubicBezTo>
                        <a:cubicBezTo>
                          <a:pt x="3900707" y="619061"/>
                          <a:pt x="3865910" y="569438"/>
                          <a:pt x="3745716" y="505475"/>
                        </a:cubicBezTo>
                        <a:cubicBezTo>
                          <a:pt x="3783270" y="502094"/>
                          <a:pt x="3800211" y="508240"/>
                          <a:pt x="3829962" y="505475"/>
                        </a:cubicBezTo>
                        <a:cubicBezTo>
                          <a:pt x="3719355" y="277976"/>
                          <a:pt x="2636213" y="43226"/>
                          <a:pt x="1945876" y="1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chemeClr val="tx1"/>
              </a:solidFill>
            </a:endParaRPr>
          </a:p>
        </p:txBody>
      </p:sp>
      <p:sp>
        <p:nvSpPr>
          <p:cNvPr id="15" name="Striped Right Arrow 14">
            <a:extLst>
              <a:ext uri="{FF2B5EF4-FFF2-40B4-BE49-F238E27FC236}">
                <a16:creationId xmlns:a16="http://schemas.microsoft.com/office/drawing/2014/main" id="{D6F549A0-9991-4C9C-B5A0-B01D55DCA17E}"/>
              </a:ext>
            </a:extLst>
          </p:cNvPr>
          <p:cNvSpPr/>
          <p:nvPr/>
        </p:nvSpPr>
        <p:spPr>
          <a:xfrm>
            <a:off x="683820" y="3390405"/>
            <a:ext cx="10419676" cy="301844"/>
          </a:xfrm>
          <a:prstGeom prst="stripedRightArrow">
            <a:avLst/>
          </a:prstGeom>
          <a:solidFill>
            <a:srgbClr val="B8580A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6959097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097CF-0ADD-1270-2001-E3881A6E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 bor et release?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748392-0CB6-97E6-F1A1-3EF3119808B5}"/>
              </a:ext>
            </a:extLst>
          </p:cNvPr>
          <p:cNvGrpSpPr/>
          <p:nvPr/>
        </p:nvGrpSpPr>
        <p:grpSpPr>
          <a:xfrm>
            <a:off x="6787311" y="1017176"/>
            <a:ext cx="5168766" cy="5116029"/>
            <a:chOff x="3426593" y="1372371"/>
            <a:chExt cx="5168766" cy="511602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522A52E-B61E-7E86-5CDD-AE63FB194B82}"/>
                </a:ext>
              </a:extLst>
            </p:cNvPr>
            <p:cNvSpPr/>
            <p:nvPr/>
          </p:nvSpPr>
          <p:spPr>
            <a:xfrm>
              <a:off x="3426593" y="1372371"/>
              <a:ext cx="5168766" cy="5116029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br>
                <a:rPr lang="da-DK" sz="2000" dirty="0">
                  <a:solidFill>
                    <a:schemeClr val="tx1"/>
                  </a:solidFill>
                </a:rPr>
              </a:br>
              <a:r>
                <a:rPr lang="da-DK" sz="2000" b="1" dirty="0">
                  <a:solidFill>
                    <a:schemeClr val="tx1"/>
                  </a:solidFill>
                </a:rPr>
                <a:t>Helm release:</a:t>
              </a:r>
              <a:r>
                <a:rPr lang="da-DK" sz="2000" dirty="0">
                  <a:solidFill>
                    <a:schemeClr val="tx1"/>
                  </a:solidFill>
                </a:rPr>
                <a:t> </a:t>
              </a:r>
              <a:r>
                <a:rPr lang="da-DK" sz="2000" dirty="0" err="1">
                  <a:solidFill>
                    <a:schemeClr val="tx1"/>
                  </a:solidFill>
                </a:rPr>
                <a:t>greetings</a:t>
              </a:r>
              <a:endParaRPr lang="en-DK" sz="20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9E3369A-5477-E133-5AEA-4B2CAB4432E1}"/>
                </a:ext>
              </a:extLst>
            </p:cNvPr>
            <p:cNvSpPr/>
            <p:nvPr/>
          </p:nvSpPr>
          <p:spPr>
            <a:xfrm>
              <a:off x="3825917" y="246559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sh.helm.release.v1.greetings.v1</a:t>
              </a:r>
              <a:br>
                <a:rPr lang="en-GB" dirty="0"/>
              </a:br>
              <a:r>
                <a:rPr lang="en-GB" dirty="0"/>
                <a:t>revision 1</a:t>
              </a:r>
              <a:endParaRPr lang="en-DK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2CCEB28-C7A9-F073-ED5E-2D10F740101F}"/>
                </a:ext>
              </a:extLst>
            </p:cNvPr>
            <p:cNvSpPr/>
            <p:nvPr/>
          </p:nvSpPr>
          <p:spPr>
            <a:xfrm>
              <a:off x="3825917" y="367240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sh.helm.release.v1.greetings.v2</a:t>
              </a:r>
              <a:br>
                <a:rPr lang="en-GB" dirty="0"/>
              </a:br>
              <a:r>
                <a:rPr lang="en-GB" dirty="0"/>
                <a:t>revision 2</a:t>
              </a:r>
              <a:endParaRPr lang="en-DK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B97920-3128-078F-8664-3F09F5C50734}"/>
                </a:ext>
              </a:extLst>
            </p:cNvPr>
            <p:cNvSpPr/>
            <p:nvPr/>
          </p:nvSpPr>
          <p:spPr>
            <a:xfrm>
              <a:off x="3825917" y="4879212"/>
              <a:ext cx="4370119" cy="10213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DK" dirty="0"/>
                <a:t>Secret</a:t>
              </a:r>
              <a:br>
                <a:rPr lang="en-DK" dirty="0"/>
              </a:br>
              <a:r>
                <a:rPr lang="en-GB" dirty="0"/>
                <a:t>sh.helm.release.v1.greetings.v3</a:t>
              </a:r>
              <a:br>
                <a:rPr lang="en-GB" dirty="0"/>
              </a:br>
              <a:r>
                <a:rPr lang="en-GB" dirty="0"/>
                <a:t>revision 3</a:t>
              </a:r>
              <a:endParaRPr lang="en-DK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8C82853-BEE0-1DB4-59C6-34AFCCDAA5ED}"/>
                </a:ext>
              </a:extLst>
            </p:cNvPr>
            <p:cNvSpPr txBox="1"/>
            <p:nvPr/>
          </p:nvSpPr>
          <p:spPr>
            <a:xfrm>
              <a:off x="4809588" y="1372371"/>
              <a:ext cx="26243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b="1" dirty="0"/>
                <a:t>n</a:t>
              </a:r>
              <a:r>
                <a:rPr lang="en-DK" sz="2000" b="1" dirty="0"/>
                <a:t>amespace:</a:t>
              </a:r>
              <a:r>
                <a:rPr lang="en-DK" sz="2000" dirty="0"/>
                <a:t> stage</a:t>
              </a: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7820AA2-0E08-EADB-37BE-C430AE0D74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690688"/>
            <a:ext cx="10515600" cy="4442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Find release historikken:</a:t>
            </a:r>
          </a:p>
          <a:p>
            <a:pPr marL="0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secret -l owner=helm</a:t>
            </a:r>
            <a:endParaRPr lang="en-DK" dirty="0"/>
          </a:p>
          <a:p>
            <a:endParaRPr lang="en-DK" dirty="0"/>
          </a:p>
          <a:p>
            <a:pPr marL="0" indent="0">
              <a:buNone/>
            </a:pPr>
            <a:r>
              <a:rPr lang="en-DK" dirty="0"/>
              <a:t>Vigtigt:</a:t>
            </a:r>
          </a:p>
          <a:p>
            <a:r>
              <a:rPr lang="en-DK" dirty="0"/>
              <a:t>Historik bor i clusteret</a:t>
            </a:r>
          </a:p>
          <a:p>
            <a:pPr lvl="0"/>
            <a:r>
              <a:rPr lang="en-DK" dirty="0"/>
              <a:t>Slet namespace → historikken forsvinder</a:t>
            </a:r>
          </a:p>
          <a:p>
            <a:pPr marL="0" indent="0">
              <a:buNone/>
            </a:pP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378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F2ACED-803C-0B02-FB7E-C0497DA41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Hvor helms arbejde slutter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B088D89-E96C-950A-8741-ECBB1667BA51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894621" cy="4449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K" dirty="0"/>
              <a:t>Helm templater/renderer manifester og afleverer dem til Kubernetes.</a:t>
            </a:r>
          </a:p>
          <a:p>
            <a:r>
              <a:rPr lang="en-DK" dirty="0"/>
              <a:t>Stadig Kubernetes der holder det kørende - helm følger ikke med i hvad der sker.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6472AE-A3A1-D226-5669-4FBC118EED03}"/>
              </a:ext>
            </a:extLst>
          </p:cNvPr>
          <p:cNvGrpSpPr/>
          <p:nvPr/>
        </p:nvGrpSpPr>
        <p:grpSpPr>
          <a:xfrm>
            <a:off x="2304735" y="2836748"/>
            <a:ext cx="7772400" cy="3825309"/>
            <a:chOff x="2304735" y="2836748"/>
            <a:chExt cx="7772400" cy="382530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58C08D1-211B-E164-D533-74B0DB815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184" b="5839"/>
            <a:stretch>
              <a:fillRect/>
            </a:stretch>
          </p:blipFill>
          <p:spPr>
            <a:xfrm>
              <a:off x="2304735" y="3298413"/>
              <a:ext cx="7772400" cy="3363644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47E3A6-C6FC-F55B-470D-8FC9D76E83AD}"/>
                </a:ext>
              </a:extLst>
            </p:cNvPr>
            <p:cNvSpPr txBox="1"/>
            <p:nvPr/>
          </p:nvSpPr>
          <p:spPr>
            <a:xfrm>
              <a:off x="4821382" y="2836748"/>
              <a:ext cx="41919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K" sz="2400" b="1" dirty="0"/>
                <a:t>Helm                        Kubernetes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60167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195D6-4312-A608-E3E2-36FCA088B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Helm: Bottom-line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8BAB28-D87F-5BE5-7C89-A11EF5FEA8C8}"/>
              </a:ext>
            </a:extLst>
          </p:cNvPr>
          <p:cNvSpPr txBox="1"/>
          <p:nvPr/>
        </p:nvSpPr>
        <p:spPr>
          <a:xfrm>
            <a:off x="838132" y="2045045"/>
            <a:ext cx="5669546" cy="510778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Helm = Template Engine &amp; Release Ledger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8C142-2FA9-48A4-17FD-0DAFA7263DF3}"/>
              </a:ext>
            </a:extLst>
          </p:cNvPr>
          <p:cNvSpPr txBox="1"/>
          <p:nvPr/>
        </p:nvSpPr>
        <p:spPr>
          <a:xfrm>
            <a:off x="838131" y="2729341"/>
            <a:ext cx="7961485" cy="510778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Helm renders and submits - Kubernetes keeps things running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C1E76D-D3C0-165D-AD07-C29B16D13DD1}"/>
              </a:ext>
            </a:extLst>
          </p:cNvPr>
          <p:cNvSpPr txBox="1"/>
          <p:nvPr/>
        </p:nvSpPr>
        <p:spPr>
          <a:xfrm>
            <a:off x="838132" y="3969047"/>
            <a:ext cx="5257868" cy="919401"/>
          </a:xfrm>
          <a:prstGeom prst="round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180000" rtlCol="0">
            <a:spAutoFit/>
          </a:bodyPr>
          <a:lstStyle/>
          <a:p>
            <a:r>
              <a:rPr lang="en-GB" sz="2400" dirty="0"/>
              <a:t>if I delete a Pod from a Helm release, what recreates it?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55F22-88AF-3728-C831-3E4EBA994AE7}"/>
              </a:ext>
            </a:extLst>
          </p:cNvPr>
          <p:cNvSpPr txBox="1"/>
          <p:nvPr/>
        </p:nvSpPr>
        <p:spPr>
          <a:xfrm>
            <a:off x="838131" y="3515096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Question: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EDC160-4F98-0387-27BC-03AAECAEC9C9}"/>
              </a:ext>
            </a:extLst>
          </p:cNvPr>
          <p:cNvSpPr txBox="1"/>
          <p:nvPr/>
        </p:nvSpPr>
        <p:spPr>
          <a:xfrm>
            <a:off x="838130" y="1562977"/>
            <a:ext cx="38763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Remember:</a:t>
            </a:r>
          </a:p>
        </p:txBody>
      </p:sp>
    </p:spTree>
    <p:extLst>
      <p:ext uri="{BB962C8B-B14F-4D97-AF65-F5344CB8AC3E}">
        <p14:creationId xmlns:p14="http://schemas.microsoft.com/office/powerpoint/2010/main" val="748307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6A64-3240-3F82-79D5-5A979B8F7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er </a:t>
            </a:r>
            <a:r>
              <a:rPr lang="en-DK" u="sng" dirty="0"/>
              <a:t>ikke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BC3D1-9662-83B2-C589-B92105BF8D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716559" cy="4442517"/>
          </a:xfrm>
        </p:spPr>
        <p:txBody>
          <a:bodyPr/>
          <a:lstStyle/>
          <a:p>
            <a:pPr marL="0" lvl="0" indent="0">
              <a:buNone/>
            </a:pPr>
            <a:r>
              <a:rPr lang="en-DK" sz="2800" dirty="0"/>
              <a:t>❌ Ikke et CD-værktøj — noget andet skal beslutte </a:t>
            </a:r>
            <a:r>
              <a:rPr lang="en-DK" sz="2800" i="1" dirty="0"/>
              <a:t>hvornår</a:t>
            </a:r>
            <a:r>
              <a:rPr lang="en-DK" sz="2800" dirty="0"/>
              <a:t> det installeres</a:t>
            </a:r>
            <a:br>
              <a:rPr lang="en-DK" sz="2800" i="1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en secrets manager — credentials hører </a:t>
            </a:r>
            <a:r>
              <a:rPr lang="en-DK" sz="2800" b="1" dirty="0"/>
              <a:t>ikke</a:t>
            </a:r>
            <a:r>
              <a:rPr lang="en-DK" sz="2800" dirty="0"/>
              <a:t> til i en values-fil</a:t>
            </a:r>
            <a:br>
              <a:rPr lang="en-DK" sz="2800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Ikke reconciliation — stadig Kubernetes der holder skidtet kørende</a:t>
            </a:r>
            <a:br>
              <a:rPr lang="en-DK" sz="2800" dirty="0"/>
            </a:br>
            <a:endParaRPr lang="en-DK" sz="2800" dirty="0"/>
          </a:p>
          <a:p>
            <a:pPr marL="0" lvl="0" indent="0">
              <a:buNone/>
            </a:pPr>
            <a:r>
              <a:rPr lang="en-DK" sz="2800" dirty="0"/>
              <a:t>❌ kommer ikke med nogen garanti for at din app virker, når installeret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55394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A8065-A0DC-86EC-4B77-94863F33A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5922-1ECE-88D2-7C23-94FD6E8FF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Helm CLI – kommandoer du får brug for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E53D0-AE27-5F16-8728-E15F4E2759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906564" cy="4442517"/>
          </a:xfrm>
        </p:spPr>
        <p:txBody>
          <a:bodyPr>
            <a:normAutofit fontScale="85000" lnSpcReduction="20000"/>
          </a:bodyPr>
          <a:lstStyle/>
          <a:p>
            <a:r>
              <a:rPr lang="en-DK" dirty="0">
                <a:solidFill>
                  <a:schemeClr val="tx1"/>
                </a:solidFill>
              </a:rPr>
              <a:t>Templating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lint / template ./path-to-chart</a:t>
            </a: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# Validate chart locally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Chart management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package / push 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show values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# what knobs does it have?</a:t>
            </a:r>
          </a:p>
          <a:p>
            <a:pPr lvl="1"/>
            <a:endParaRPr lang="en-DK" dirty="0"/>
          </a:p>
          <a:p>
            <a:r>
              <a:rPr lang="en-DK" dirty="0"/>
              <a:t>Install chart</a:t>
            </a:r>
          </a:p>
          <a:p>
            <a:pPr lvl="1"/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install / upgrade / uninstall &lt;release-name&gt; &lt;repo&gt;/&lt;chart-name&gt; \</a:t>
            </a:r>
            <a:b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	 --file my-values.yml --set a.value=b [–n &lt;namespace&gt;]</a:t>
            </a:r>
            <a:b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chemeClr val="tx1"/>
              </a:solidFill>
            </a:endParaRP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get </a:t>
            </a:r>
            <a:r>
              <a:rPr lang="en-GB" dirty="0" err="1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values|manifest|notes|hooks</a:t>
            </a:r>
            <a:r>
              <a:rPr lang="en-GB" dirty="0"/>
              <a:t> # fetch something form an existing release</a:t>
            </a:r>
            <a:br>
              <a:rPr lang="en-DK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Releases and rollback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list</a:t>
            </a:r>
            <a:r>
              <a:rPr lang="en-GB" dirty="0"/>
              <a:t>  # </a:t>
            </a:r>
            <a:r>
              <a:rPr lang="en-GB" dirty="0" err="1">
                <a:solidFill>
                  <a:schemeClr val="tx1"/>
                </a:solidFill>
              </a:rPr>
              <a:t>Hvilke</a:t>
            </a:r>
            <a:r>
              <a:rPr lang="en-GB" dirty="0">
                <a:solidFill>
                  <a:schemeClr val="tx1"/>
                </a:solidFill>
              </a:rPr>
              <a:t> charts er </a:t>
            </a:r>
            <a:r>
              <a:rPr lang="en-GB" dirty="0" err="1">
                <a:solidFill>
                  <a:schemeClr val="tx1"/>
                </a:solidFill>
              </a:rPr>
              <a:t>installeret</a:t>
            </a:r>
            <a:r>
              <a:rPr lang="en-GB" dirty="0">
                <a:solidFill>
                  <a:schemeClr val="tx1"/>
                </a:solidFill>
              </a:rPr>
              <a:t>?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history &lt;release-name&gt; -n &lt;namespace&gt;</a:t>
            </a:r>
            <a:r>
              <a:rPr lang="en-DK" dirty="0">
                <a:solidFill>
                  <a:schemeClr val="tx1"/>
                </a:solidFill>
              </a:rPr>
              <a:t> # Hvilke revisioner har et release?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rollback &lt;release-name&gt; &lt;id&gt;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4177A-3DA3-A845-1351-6B60AC8ED640}"/>
              </a:ext>
            </a:extLst>
          </p:cNvPr>
          <p:cNvSpPr txBox="1"/>
          <p:nvPr/>
        </p:nvSpPr>
        <p:spPr>
          <a:xfrm>
            <a:off x="6291414" y="5928893"/>
            <a:ext cx="5224722" cy="40862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GB" dirty="0"/>
              <a:t>⚠️   Helm </a:t>
            </a:r>
            <a:r>
              <a:rPr lang="en-GB" dirty="0" err="1"/>
              <a:t>benytter</a:t>
            </a:r>
            <a:r>
              <a:rPr lang="en-GB" dirty="0"/>
              <a:t> din </a:t>
            </a:r>
            <a:r>
              <a:rPr lang="en-GB" dirty="0" err="1"/>
              <a:t>aktive</a:t>
            </a:r>
            <a:r>
              <a:rPr lang="en-GB" dirty="0"/>
              <a:t> </a:t>
            </a:r>
            <a:r>
              <a:rPr lang="en-GB" b="1" dirty="0" err="1"/>
              <a:t>kubectl</a:t>
            </a:r>
            <a:r>
              <a:rPr lang="en-GB" dirty="0"/>
              <a:t> context!</a:t>
            </a:r>
          </a:p>
        </p:txBody>
      </p:sp>
    </p:spTree>
    <p:extLst>
      <p:ext uri="{BB962C8B-B14F-4D97-AF65-F5344CB8AC3E}">
        <p14:creationId xmlns:p14="http://schemas.microsoft.com/office/powerpoint/2010/main" val="1595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53C9F-01D2-D9C6-A0E0-4763E964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61144680-22E6-482F-E739-491EE62342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3b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A037F52-A0CC-4243-3816-CD80136B92E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8125" y="2703049"/>
            <a:ext cx="6499526" cy="2884543"/>
          </a:xfrm>
        </p:spPr>
        <p:txBody>
          <a:bodyPr/>
          <a:lstStyle/>
          <a:p>
            <a:r>
              <a:rPr lang="da-DK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en-DK" sz="4000" b="1" dirty="0">
                <a:solidFill>
                  <a:srgbClr val="0074D9"/>
                </a:solidFill>
              </a:rPr>
              <a:t>1-simplest-chart</a:t>
            </a:r>
            <a:endParaRPr lang="da-DK" dirty="0">
              <a:solidFill>
                <a:srgbClr val="0074D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481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FF71B-CFE2-5A6D-D503-9A508277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Øvelsen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7D9631-0DD7-153E-5BF4-650F239912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git clone </a:t>
            </a:r>
            <a:r>
              <a:rPr lang="en-DK" dirty="0">
                <a:hlinkClick r:id="rId2"/>
              </a:rPr>
              <a:t>https://github.com/notalib/workshop-helm-charts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 </a:t>
            </a:r>
            <a:r>
              <a:rPr lang="en-DK" dirty="0">
                <a:hlinkClick r:id="rId3"/>
              </a:rPr>
              <a:t>1-simplest-chart/README.md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Én Deployment, én ConfigMap, tre values — </a:t>
            </a:r>
            <a:r>
              <a:rPr lang="en-DK" b="1" dirty="0"/>
              <a:t>ingen templating endnu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Mål: 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install → upgrade → history → rollback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3906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F83C-7FE4-C3A6-04CF-80473887C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F43008A7-9083-349B-315F-469083839E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7F96A89-187B-01C8-22C3-932E933C27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354119" cy="2884543"/>
          </a:xfrm>
        </p:spPr>
        <p:txBody>
          <a:bodyPr/>
          <a:lstStyle/>
          <a:p>
            <a:r>
              <a:rPr lang="da-DK" dirty="0"/>
              <a:t>Chart </a:t>
            </a:r>
            <a:r>
              <a:rPr lang="da-DK" dirty="0" err="1"/>
              <a:t>Templating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911904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DE8D8BA-F1E6-529F-8906-D3C83C39375D}"/>
              </a:ext>
            </a:extLst>
          </p:cNvPr>
          <p:cNvSpPr txBox="1"/>
          <p:nvPr/>
        </p:nvSpPr>
        <p:spPr>
          <a:xfrm>
            <a:off x="838063" y="3694998"/>
            <a:ext cx="1120351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u="sng" dirty="0"/>
              <a:t>Et par andre mønstre du hurtigt støder på: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	image: harbor.kb.dk/my-app:</a:t>
            </a:r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 .Values.image.tag | default .Chart.AppVersion }}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pPr lvl="2"/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{{- with .Values.podAnnotations }}</a:t>
            </a:r>
          </a:p>
          <a:p>
            <a:pPr lvl="2"/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annotations:</a:t>
            </a:r>
          </a:p>
          <a:p>
            <a:pPr lvl="2"/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{{- toYaml . | nindent 4 }}</a:t>
            </a:r>
          </a:p>
          <a:p>
            <a:pPr lvl="2"/>
            <a:r>
              <a:rPr lang="en-DK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{{- end }}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9393AB-DBBE-F033-9C55-FDF40BB72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Go templates på 60 sekunder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53A32-BA9B-8878-ACFC-565D744BE3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0" indent="0">
              <a:buNone/>
            </a:pP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DBFA6-0040-0CEA-EBDD-29C540AC1E89}"/>
              </a:ext>
            </a:extLst>
          </p:cNvPr>
          <p:cNvSpPr txBox="1"/>
          <p:nvPr/>
        </p:nvSpPr>
        <p:spPr>
          <a:xfrm>
            <a:off x="838063" y="1412727"/>
            <a:ext cx="5814530" cy="40862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dirty="0"/>
              <a:t>Helm bygger på Go-standardbibliotekets template engine</a:t>
            </a:r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B021722-BF8E-73FB-8A9F-2B5B8DFA71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810270"/>
              </p:ext>
            </p:extLst>
          </p:nvPr>
        </p:nvGraphicFramePr>
        <p:xfrm>
          <a:off x="838063" y="2016494"/>
          <a:ext cx="9745672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025875">
                  <a:extLst>
                    <a:ext uri="{9D8B030D-6E8A-4147-A177-3AD203B41FA5}">
                      <a16:colId xmlns:a16="http://schemas.microsoft.com/office/drawing/2014/main" val="815139981"/>
                    </a:ext>
                  </a:extLst>
                </a:gridCol>
                <a:gridCol w="3719797">
                  <a:extLst>
                    <a:ext uri="{9D8B030D-6E8A-4147-A177-3AD203B41FA5}">
                      <a16:colId xmlns:a16="http://schemas.microsoft.com/office/drawing/2014/main" val="15900468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.Values.replicaCount }}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indsæt en værdi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773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.Values.name | quote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pipe gennem en funktion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83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{{- if ... }} ... {{- end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flow control / betingelser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8212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{{ include "chart.fullname" . }} 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DK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genbrug et named template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352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83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4E2E-6EFC-B10B-D487-8842FC66E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A8D1-F017-43F8-63B3-0AF2D9166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How templating works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AB8E01-5CCF-C3E6-61C3-28ADCA65CD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You start by writing </a:t>
            </a:r>
            <a:r>
              <a:rPr lang="en-GB" b="1" dirty="0"/>
              <a:t>normal Kubernetes YAML manifests.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You replace hardcoded values with </a:t>
            </a:r>
            <a:r>
              <a:rPr lang="en-GB" b="1" dirty="0"/>
              <a:t>variable references.</a:t>
            </a:r>
            <a:br>
              <a:rPr lang="en-GB" b="1" dirty="0"/>
            </a:br>
            <a:br>
              <a:rPr lang="en-GB" b="1" dirty="0"/>
            </a:br>
            <a:r>
              <a:rPr lang="en-GB" b="1" dirty="0"/>
              <a:t>Before</a:t>
            </a:r>
            <a:br>
              <a:rPr lang="en-GB" b="1" dirty="0"/>
            </a:b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harbor.kb.dk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/frontend:1.2.3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b="1" dirty="0"/>
              <a:t>After</a:t>
            </a:r>
            <a:br>
              <a:rPr lang="en-GB" b="1" dirty="0"/>
            </a:br>
            <a:r>
              <a:rPr lang="en-GB" sz="20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{{ .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Values.image.repo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}}:{{ .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Values.image.tag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}}</a:t>
            </a:r>
            <a:br>
              <a:rPr lang="en-GB" b="1" dirty="0">
                <a:solidFill>
                  <a:srgbClr val="005DE0"/>
                </a:solidFill>
                <a:highlight>
                  <a:srgbClr val="C0C0C0"/>
                </a:highlight>
              </a:rPr>
            </a:br>
            <a:endParaRPr lang="en-GB" b="1" dirty="0">
              <a:solidFill>
                <a:srgbClr val="005DE0"/>
              </a:solidFill>
              <a:highlight>
                <a:srgbClr val="C0C0C0"/>
              </a:highlight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Define defaults for those variables in </a:t>
            </a:r>
            <a:r>
              <a:rPr lang="en-GB" b="1" dirty="0" err="1"/>
              <a:t>values.yaml</a:t>
            </a:r>
            <a:br>
              <a:rPr lang="en-GB" dirty="0"/>
            </a:br>
            <a:br>
              <a:rPr lang="en-GB" dirty="0"/>
            </a:b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repo: "</a:t>
            </a:r>
            <a:r>
              <a:rPr lang="en-GB" sz="22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harbor.kb.dk</a:t>
            </a: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22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examsystem</a:t>
            </a: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/exam-backend"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tag: "1.2.3”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10E095-A063-6C52-E6A8-BD9E914C1CD0}"/>
              </a:ext>
            </a:extLst>
          </p:cNvPr>
          <p:cNvSpPr txBox="1"/>
          <p:nvPr/>
        </p:nvSpPr>
        <p:spPr>
          <a:xfrm>
            <a:off x="4215742" y="5690531"/>
            <a:ext cx="7695210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Value references use a “dot notation” into the nested YAML structure</a:t>
            </a:r>
          </a:p>
        </p:txBody>
      </p:sp>
    </p:spTree>
    <p:extLst>
      <p:ext uri="{BB962C8B-B14F-4D97-AF65-F5344CB8AC3E}">
        <p14:creationId xmlns:p14="http://schemas.microsoft.com/office/powerpoint/2010/main" val="1249560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F85D0-852B-78FD-E790-126955C9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Indbyggede template values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54613-C1F0-9A9D-3B82-5E035847AC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395009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.Values  [.fooBar fra values.yaml]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.Release [.Name, .Namespace, .Revision, .Service]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.Chart   [.Name, .Version, .AppVersion]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.Capabilities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.Template</a:t>
            </a:r>
          </a:p>
          <a:p>
            <a:endParaRPr lang="en-DK" dirty="0"/>
          </a:p>
          <a:p>
            <a:pPr marL="0" indent="0">
              <a:buNone/>
            </a:pPr>
            <a:r>
              <a:rPr lang="en-DK" b="1" dirty="0"/>
              <a:t>Eksempler: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.Values.backend.replicaCount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.Release.Name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.Chart.AppVersion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2B1805-D999-0040-829D-F4C85AE10798}"/>
              </a:ext>
            </a:extLst>
          </p:cNvPr>
          <p:cNvSpPr txBox="1"/>
          <p:nvPr/>
        </p:nvSpPr>
        <p:spPr>
          <a:xfrm>
            <a:off x="2956955" y="5779966"/>
            <a:ext cx="8906561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GB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Release.Name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cs typeface="Consolas" panose="020B0609020204030204" pitchFamily="49" charset="0"/>
              </a:rPr>
              <a:t>s</a:t>
            </a:r>
            <a:r>
              <a:rPr lang="en-GB" sz="2000" dirty="0" err="1"/>
              <a:t>ørger</a:t>
            </a:r>
            <a:r>
              <a:rPr lang="en-GB" sz="2000" dirty="0"/>
              <a:t> for at 2 releases </a:t>
            </a:r>
            <a:r>
              <a:rPr lang="en-GB" sz="2000" dirty="0" err="1"/>
              <a:t>af</a:t>
            </a:r>
            <a:r>
              <a:rPr lang="en-GB" sz="2000" dirty="0"/>
              <a:t> </a:t>
            </a:r>
            <a:r>
              <a:rPr lang="en-GB" sz="2000" dirty="0" err="1"/>
              <a:t>samme</a:t>
            </a:r>
            <a:r>
              <a:rPr lang="en-GB" sz="2000" dirty="0"/>
              <a:t> chart </a:t>
            </a:r>
            <a:r>
              <a:rPr lang="en-GB" sz="2000" dirty="0" err="1"/>
              <a:t>kan</a:t>
            </a:r>
            <a:r>
              <a:rPr lang="en-GB" sz="2000" dirty="0"/>
              <a:t> </a:t>
            </a:r>
            <a:r>
              <a:rPr lang="en-GB" sz="2000" dirty="0" err="1"/>
              <a:t>eksistere</a:t>
            </a:r>
            <a:r>
              <a:rPr lang="en-GB" sz="2000" dirty="0"/>
              <a:t> </a:t>
            </a:r>
            <a:r>
              <a:rPr lang="en-GB" sz="2000" dirty="0" err="1"/>
              <a:t>samtidigt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306839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131E-CE6E-8E81-7205-7B46B619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a chart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AE149-1321-5166-5263-37BBA129FB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lint ./chart-path</a:t>
            </a:r>
          </a:p>
          <a:p>
            <a:pPr lvl="1"/>
            <a:r>
              <a:rPr lang="en-GB" dirty="0"/>
              <a:t>S</a:t>
            </a:r>
            <a:r>
              <a:rPr lang="en-DK" dirty="0"/>
              <a:t>tatic validation</a:t>
            </a:r>
          </a:p>
          <a:p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template ./chart-path --debug</a:t>
            </a:r>
          </a:p>
          <a:p>
            <a:pPr lvl="1"/>
            <a:r>
              <a:rPr lang="en-GB" dirty="0"/>
              <a:t>R</a:t>
            </a:r>
            <a:r>
              <a:rPr lang="en-DK" dirty="0"/>
              <a:t>ender manifests + see errors in context</a:t>
            </a:r>
          </a:p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install x ./chart-path --dry-run=client|server</a:t>
            </a:r>
          </a:p>
          <a:p>
            <a:pPr lvl="1"/>
            <a:r>
              <a:rPr lang="en-DK" dirty="0"/>
              <a:t>Render manifests without applying them</a:t>
            </a:r>
          </a:p>
          <a:p>
            <a:r>
              <a:rPr lang="en-GB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</a:t>
            </a:r>
            <a:r>
              <a:rPr lang="en-DK" sz="2200" dirty="0">
                <a:solidFill>
                  <a:schemeClr val="tx1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elm get manifest &lt;release&gt;</a:t>
            </a:r>
          </a:p>
          <a:p>
            <a:pPr lvl="1"/>
            <a:r>
              <a:rPr lang="en-DK" dirty="0"/>
              <a:t>See what </a:t>
            </a:r>
            <a:r>
              <a:rPr lang="en-GB" dirty="0" err="1"/>
              <a:t>th</a:t>
            </a:r>
            <a:r>
              <a:rPr lang="en-DK" dirty="0"/>
              <a:t>e cluster actually got from a helm install</a:t>
            </a:r>
          </a:p>
        </p:txBody>
      </p:sp>
    </p:spTree>
    <p:extLst>
      <p:ext uri="{BB962C8B-B14F-4D97-AF65-F5344CB8AC3E}">
        <p14:creationId xmlns:p14="http://schemas.microsoft.com/office/powerpoint/2010/main" val="29672781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23F98-EB14-7DA4-0851-5BDC5C2B1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Make the Chart fail early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B1150-6D17-4F4F-E30B-0A122FAC9CB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977816" cy="4442517"/>
          </a:xfrm>
        </p:spPr>
        <p:txBody>
          <a:bodyPr/>
          <a:lstStyle/>
          <a:p>
            <a:r>
              <a:rPr lang="en-DK" dirty="0"/>
              <a:t>Required value in a manifest template:</a:t>
            </a:r>
            <a:br>
              <a:rPr lang="en-DK" dirty="0"/>
            </a:br>
            <a: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{{ required "secretName is mandatory" .Values.secretName }}</a:t>
            </a:r>
            <a:endParaRPr lang="en-DK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/>
          </a:p>
          <a:p>
            <a:r>
              <a:rPr lang="en-DK" dirty="0"/>
              <a:t>JSON schema which values </a:t>
            </a:r>
            <a:r>
              <a:rPr lang="en-DK" b="1" dirty="0"/>
              <a:t>must  </a:t>
            </a:r>
            <a:r>
              <a:rPr lang="en-DK" dirty="0"/>
              <a:t>adhere to (values.schema.json)</a:t>
            </a:r>
            <a:br>
              <a:rPr lang="en-DK" dirty="0"/>
            </a:br>
            <a: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"replicaCount": { "type": "integer", "minimum": 1, "maximum": 10 }</a:t>
            </a:r>
            <a:br>
              <a:rPr lang="en-DK" sz="2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2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Cheap way to “tighten the contract”</a:t>
            </a:r>
            <a:br>
              <a:rPr lang="en-DK" dirty="0"/>
            </a:b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Prevent app installs with faulty configuration.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945435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95B3E-F559-E40D-39E7-CFFDD9E3F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Chart - 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A6369F-FF78-9FE6-9365-B0D58733F3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Template det der varierer per miljø</a:t>
            </a:r>
          </a:p>
          <a:p>
            <a:r>
              <a:rPr lang="en-DK" dirty="0"/>
              <a:t>Ikke alt bør være konfigurerbart (KISS)</a:t>
            </a:r>
          </a:p>
          <a:p>
            <a:r>
              <a:rPr lang="en-DK" dirty="0"/>
              <a:t>Template aldrig namespace feltet - Brug i stedet </a:t>
            </a:r>
            <a:r>
              <a:rPr lang="en-DK" dirty="0">
                <a:solidFill>
                  <a:srgbClr val="0074D9"/>
                </a:solidFill>
              </a:rPr>
              <a:t>--namespace</a:t>
            </a:r>
            <a:r>
              <a:rPr lang="en-DK" dirty="0"/>
              <a:t> ved install</a:t>
            </a:r>
          </a:p>
          <a:p>
            <a:r>
              <a:rPr lang="en-DK" dirty="0"/>
              <a:t>Brug Chart hooks </a:t>
            </a:r>
            <a:r>
              <a:rPr lang="en-DK" dirty="0">
                <a:solidFill>
                  <a:srgbClr val="0074D9"/>
                </a:solidFill>
              </a:rPr>
              <a:t>post-install, pre-upgrade</a:t>
            </a:r>
            <a:r>
              <a:rPr lang="en-DK" dirty="0"/>
              <a:t> til at køre éngangs migrations på install tidspunktet.</a:t>
            </a:r>
          </a:p>
          <a:p>
            <a:r>
              <a:rPr lang="en-DK" dirty="0"/>
              <a:t>Brug named ports i stedet for samme tal gentaget fem steder.</a:t>
            </a:r>
          </a:p>
          <a:p>
            <a:pPr lvl="0"/>
            <a:r>
              <a:rPr lang="en-DK" dirty="0"/>
              <a:t>Kør </a:t>
            </a:r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helm lint</a:t>
            </a:r>
            <a:r>
              <a:rPr lang="en-DK" dirty="0"/>
              <a:t> i CI pipeline</a:t>
            </a:r>
          </a:p>
          <a:p>
            <a:pPr marL="0" lvl="0" indent="0">
              <a:buNone/>
            </a:pPr>
            <a:endParaRPr lang="en-DK" dirty="0"/>
          </a:p>
          <a:p>
            <a:pPr marL="0" lvl="0" indent="0">
              <a:buNone/>
            </a:pPr>
            <a:r>
              <a:rPr lang="en-DK" dirty="0"/>
              <a:t>→ alt dette og mere er samlet i </a:t>
            </a:r>
            <a:r>
              <a:rPr lang="en-DK" dirty="0">
                <a:solidFill>
                  <a:srgbClr val="0074D9"/>
                </a:solidFill>
              </a:rPr>
              <a:t>BEST-PRACTICES.md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619086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88A44DA-92A1-680E-8455-414F448B52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4b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FF451-77EF-098D-C2D4-854839AF153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722505" cy="2884543"/>
          </a:xfrm>
        </p:spPr>
        <p:txBody>
          <a:bodyPr/>
          <a:lstStyle/>
          <a:p>
            <a:r>
              <a:rPr lang="en-DK" dirty="0"/>
              <a:t>Templating Exercise</a:t>
            </a:r>
            <a:br>
              <a:rPr lang="en-DK" dirty="0"/>
            </a:br>
            <a:r>
              <a:rPr lang="en-DK" sz="4000" dirty="0">
                <a:solidFill>
                  <a:srgbClr val="0074D9"/>
                </a:solidFill>
              </a:rPr>
              <a:t>2-gateway-chart</a:t>
            </a:r>
            <a:endParaRPr lang="en-DK" dirty="0">
              <a:solidFill>
                <a:srgbClr val="0074D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44260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C29DB-DC8D-7B3A-4C9E-474E703F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Let’s create a helm chart!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5952-9754-D37B-A8ED-85326CF67C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802187"/>
          </a:xfrm>
        </p:spPr>
        <p:txBody>
          <a:bodyPr>
            <a:normAutofit/>
          </a:bodyPr>
          <a:lstStyle/>
          <a:p>
            <a:r>
              <a:rPr lang="en-DK" dirty="0"/>
              <a:t>Øvelse:</a:t>
            </a:r>
          </a:p>
          <a:p>
            <a:pPr lvl="1"/>
            <a:r>
              <a:rPr lang="en-DK" dirty="0"/>
              <a:t>Følg </a:t>
            </a:r>
            <a:r>
              <a:rPr lang="en-DK" dirty="0">
                <a:hlinkClick r:id="rId2"/>
              </a:rPr>
              <a:t>2-gateway-chart/README.md</a:t>
            </a:r>
            <a:r>
              <a:rPr lang="en-DK" dirty="0"/>
              <a:t>, TASK 1–6</a:t>
            </a:r>
          </a:p>
          <a:p>
            <a:pPr lvl="1"/>
            <a:r>
              <a:rPr lang="en-DK" dirty="0"/>
              <a:t>Template de ni TODOs → dev/prod values → ødelæg det → rul tilbage</a:t>
            </a:r>
          </a:p>
          <a:p>
            <a:pPr lvl="1"/>
            <a:r>
              <a:rPr lang="en-DK" dirty="0">
                <a:solidFill>
                  <a:srgbClr val="0074D9"/>
                </a:solidFill>
              </a:rPr>
              <a:t>helm lint </a:t>
            </a:r>
            <a:r>
              <a:rPr lang="en-DK" dirty="0"/>
              <a:t>+ </a:t>
            </a:r>
            <a:r>
              <a:rPr lang="en-DK" dirty="0">
                <a:solidFill>
                  <a:srgbClr val="0074D9"/>
                </a:solidFill>
              </a:rPr>
              <a:t>helm template </a:t>
            </a:r>
            <a:r>
              <a:rPr lang="en-DK" dirty="0"/>
              <a:t>er hele feedback-loopet</a:t>
            </a:r>
          </a:p>
          <a:p>
            <a:pPr lvl="1"/>
            <a:r>
              <a:rPr lang="en-DK" dirty="0"/>
              <a:t>Stuck? → Se solutions branch</a:t>
            </a:r>
          </a:p>
          <a:p>
            <a:endParaRPr lang="en-DK" dirty="0"/>
          </a:p>
          <a:p>
            <a:r>
              <a:rPr lang="en-DK" dirty="0"/>
              <a:t>Resources</a:t>
            </a:r>
          </a:p>
          <a:p>
            <a:pPr lvl="1"/>
            <a:r>
              <a:rPr lang="en-GB" dirty="0">
                <a:hlinkClick r:id="rId3"/>
              </a:rPr>
              <a:t>https://helm.sh/docs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https://github.com/Notalib/workshop-helm-chart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2097053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1015D-C4BE-6158-A6ED-E29BC4EE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Assignment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37C84-46B7-3071-1514-6B8B152090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Workshop repo:</a:t>
            </a:r>
          </a:p>
          <a:p>
            <a:pPr lvl="1"/>
            <a:r>
              <a:rPr lang="en-GB" dirty="0">
                <a:hlinkClick r:id="rId3"/>
              </a:rPr>
              <a:t>https://github.com/Notalib/workshop-helm-chart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https://kb-dk.atlassian.net/wiki/x/B4BAUQ</a:t>
            </a:r>
            <a:br>
              <a:rPr lang="en-GB" dirty="0"/>
            </a:br>
            <a:endParaRPr lang="en-GB" dirty="0"/>
          </a:p>
          <a:p>
            <a:r>
              <a:rPr lang="en-GB" dirty="0"/>
              <a:t>Tasks:</a:t>
            </a:r>
          </a:p>
          <a:p>
            <a:pPr lvl="1"/>
            <a:r>
              <a:rPr lang="en-GB" dirty="0"/>
              <a:t>Implement the TODOs so the chart deploys a working gateway.</a:t>
            </a:r>
            <a:br>
              <a:rPr lang="en-GB" dirty="0"/>
            </a:br>
            <a:endParaRPr lang="en-GB" dirty="0"/>
          </a:p>
          <a:p>
            <a:r>
              <a:rPr lang="en-GB" dirty="0"/>
              <a:t>Must support: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api.enabled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toggles /</a:t>
            </a:r>
            <a:r>
              <a:rPr lang="en-GB" dirty="0" err="1"/>
              <a:t>api</a:t>
            </a:r>
            <a:r>
              <a:rPr lang="en-GB" dirty="0"/>
              <a:t> route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backend.port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controls where nginx proxies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backend.text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changes the /</a:t>
            </a:r>
            <a:r>
              <a:rPr lang="en-GB" dirty="0" err="1"/>
              <a:t>api</a:t>
            </a:r>
            <a:r>
              <a:rPr lang="en-GB" dirty="0"/>
              <a:t> response</a:t>
            </a:r>
          </a:p>
          <a:p>
            <a:pPr lvl="1"/>
            <a:r>
              <a:rPr lang="en-GB" dirty="0" err="1">
                <a:solidFill>
                  <a:srgbClr val="0074D9"/>
                </a:solidFill>
              </a:rPr>
              <a:t>replicaCount</a:t>
            </a:r>
            <a:r>
              <a:rPr lang="en-GB" dirty="0">
                <a:solidFill>
                  <a:srgbClr val="0074D9"/>
                </a:solidFill>
              </a:rPr>
              <a:t> </a:t>
            </a:r>
            <a:r>
              <a:rPr lang="en-GB" dirty="0"/>
              <a:t>affects number of pods</a:t>
            </a:r>
          </a:p>
          <a:p>
            <a:pPr lvl="1"/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3070674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6500-3CA6-9267-0FCC-356760BFB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Assignment details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8A090-A5CB-EB7C-C64C-2BA80114EB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0928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Working your way to a chart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lint ./gateway-chart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passes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template ./gateway-chart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renders valid YAML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upgrade --install &lt;release-name&gt; ./gateway-chart (-n &lt;namespace&gt;)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Should work after install:</a:t>
            </a:r>
          </a:p>
          <a:p>
            <a:pPr lvl="1"/>
            <a:r>
              <a:rPr lang="en-GB" b="1" dirty="0"/>
              <a:t>/</a:t>
            </a:r>
            <a:r>
              <a:rPr lang="en-GB" dirty="0"/>
              <a:t> returns gateway text</a:t>
            </a:r>
          </a:p>
          <a:p>
            <a:pPr lvl="1"/>
            <a:r>
              <a:rPr lang="en-GB" b="1" dirty="0"/>
              <a:t>/</a:t>
            </a:r>
            <a:r>
              <a:rPr lang="en-GB" b="1" dirty="0" err="1"/>
              <a:t>api</a:t>
            </a:r>
            <a:r>
              <a:rPr lang="en-GB" dirty="0"/>
              <a:t> returns backend text</a:t>
            </a:r>
          </a:p>
          <a:p>
            <a:pPr marL="0" indent="0">
              <a:buNone/>
            </a:pPr>
            <a:br>
              <a:rPr lang="en-GB" b="1" dirty="0"/>
            </a:br>
            <a:r>
              <a:rPr lang="en-GB" dirty="0"/>
              <a:t>Suggested flow</a:t>
            </a:r>
          </a:p>
          <a:p>
            <a:r>
              <a:rPr lang="en-GB" dirty="0"/>
              <a:t>Start with Deployment (pods running)</a:t>
            </a:r>
          </a:p>
          <a:p>
            <a:r>
              <a:rPr lang="en-GB" dirty="0"/>
              <a:t>Add </a:t>
            </a:r>
            <a:r>
              <a:rPr lang="en-GB" dirty="0" err="1"/>
              <a:t>ConfigMap</a:t>
            </a:r>
            <a:r>
              <a:rPr lang="en-GB" dirty="0"/>
              <a:t> mount (nginx starts)</a:t>
            </a:r>
          </a:p>
          <a:p>
            <a:r>
              <a:rPr lang="en-GB" dirty="0"/>
              <a:t>Add Service</a:t>
            </a:r>
          </a:p>
          <a:p>
            <a:r>
              <a:rPr lang="en-GB" dirty="0"/>
              <a:t>Add Ingress</a:t>
            </a:r>
          </a:p>
          <a:p>
            <a:r>
              <a:rPr lang="en-GB" dirty="0"/>
              <a:t>Then try to break &amp; fix the the gateway</a:t>
            </a:r>
          </a:p>
          <a:p>
            <a:endParaRPr lang="en-GB" dirty="0"/>
          </a:p>
          <a:p>
            <a:r>
              <a:rPr lang="en-GB" dirty="0"/>
              <a:t>Reference example:</a:t>
            </a:r>
          </a:p>
          <a:p>
            <a:pPr lvl="1"/>
            <a:r>
              <a:rPr lang="en-GB" dirty="0">
                <a:hlinkClick r:id="rId3"/>
              </a:rPr>
              <a:t>https://github.com/Notalib/devops-demo</a:t>
            </a:r>
            <a:r>
              <a:rPr lang="en-GB" dirty="0"/>
              <a:t> 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0092714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3DF2A-0E93-8330-C033-0788DF6E5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3579D-37D7-9CD6-1B46-37CDA1AF7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DBABFB-C3E7-2354-4FB5-7E05DCCC7F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37401456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BE604-F236-F50E-7BDE-12BBAFF7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3C007C-15B4-F72C-1B13-EF8D91E42A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5.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1FFB1B-B3A7-F18E-A890-FF44D00EAC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Helm Charts i drift</a:t>
            </a:r>
            <a:br>
              <a:rPr lang="en-DK" dirty="0"/>
            </a:br>
            <a:r>
              <a:rPr lang="en-DK" dirty="0"/>
              <a:t>+ GitOps</a:t>
            </a:r>
          </a:p>
        </p:txBody>
      </p:sp>
    </p:spTree>
    <p:extLst>
      <p:ext uri="{BB962C8B-B14F-4D97-AF65-F5344CB8AC3E}">
        <p14:creationId xmlns:p14="http://schemas.microsoft.com/office/powerpoint/2010/main" val="1982496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0E0B8-9894-D5A6-4EF5-0DAE774C3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Chart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CBBF2-4BF8-9C65-B00E-C78AD78407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5481645" cy="4442517"/>
          </a:xfrm>
        </p:spPr>
        <p:txBody>
          <a:bodyPr/>
          <a:lstStyle/>
          <a:p>
            <a:r>
              <a:rPr lang="en-DK" dirty="0"/>
              <a:t>Chart reposity = App catalogue.</a:t>
            </a:r>
          </a:p>
          <a:p>
            <a:endParaRPr lang="en-DK" dirty="0"/>
          </a:p>
          <a:p>
            <a:r>
              <a:rPr lang="en-DK" dirty="0"/>
              <a:t>Chart is “built”, versioned and packaged to a zip file.</a:t>
            </a:r>
          </a:p>
          <a:p>
            <a:pPr lvl="1"/>
            <a:r>
              <a:rPr lang="en-DK" dirty="0"/>
              <a:t>Zip file is uploaded to repo and indexed by name and version.</a:t>
            </a:r>
          </a:p>
          <a:p>
            <a:endParaRPr lang="en-DK" dirty="0"/>
          </a:p>
          <a:p>
            <a:r>
              <a:rPr lang="en-DK" dirty="0"/>
              <a:t>Commands: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elm repo list</a:t>
            </a:r>
          </a:p>
          <a:p>
            <a:pPr lvl="1"/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helm repo add notalib http://nota-ci.dbb.dk</a:t>
            </a:r>
          </a:p>
          <a:p>
            <a:pPr lvl="1"/>
            <a:r>
              <a:rPr lang="en-GB" dirty="0">
                <a:solidFill>
                  <a:schemeClr val="tx1"/>
                </a:solidFill>
                <a:highlight>
                  <a:srgbClr val="D6ECCB"/>
                </a:highlight>
              </a:rPr>
              <a:t>h</a:t>
            </a:r>
            <a:r>
              <a:rPr lang="en-DK" dirty="0">
                <a:solidFill>
                  <a:schemeClr val="tx1"/>
                </a:solidFill>
                <a:highlight>
                  <a:srgbClr val="D6ECCB"/>
                </a:highlight>
              </a:rPr>
              <a:t>elm search repo notalib</a:t>
            </a:r>
            <a:r>
              <a:rPr lang="en-DK" dirty="0">
                <a:solidFill>
                  <a:schemeClr val="tx1"/>
                </a:solidFill>
              </a:rPr>
              <a:t> </a:t>
            </a:r>
            <a:r>
              <a:rPr lang="en-DK" dirty="0">
                <a:solidFill>
                  <a:schemeClr val="bg2">
                    <a:lumMod val="25000"/>
                  </a:schemeClr>
                </a:solidFill>
              </a:rPr>
              <a:t>(--versions)</a:t>
            </a:r>
          </a:p>
        </p:txBody>
      </p:sp>
      <p:pic>
        <p:nvPicPr>
          <p:cNvPr id="4" name="Picture 2" descr="Intro to Helm Charts for Complete Beginners">
            <a:extLst>
              <a:ext uri="{FF2B5EF4-FFF2-40B4-BE49-F238E27FC236}">
                <a16:creationId xmlns:a16="http://schemas.microsoft.com/office/drawing/2014/main" id="{35F0F4FE-2DB8-E77F-40D8-69DFCB700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058" y="1945034"/>
            <a:ext cx="5626942" cy="336774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9921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900C-8D1C-5997-D433-E29A99605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DT-DIT helm charts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9E383-E8F2-1433-4164-37A0E867E9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Apps can be installed from Chart repo via Rancher</a:t>
            </a:r>
          </a:p>
          <a:p>
            <a:pPr lvl="1"/>
            <a:r>
              <a:rPr lang="en-DK" dirty="0"/>
              <a:t>Nota Rancher example</a:t>
            </a:r>
          </a:p>
          <a:p>
            <a:endParaRPr lang="en-DK" dirty="0"/>
          </a:p>
          <a:p>
            <a:r>
              <a:rPr lang="en-DK" dirty="0"/>
              <a:t>Let’s look at more complex examples</a:t>
            </a:r>
          </a:p>
          <a:p>
            <a:pPr lvl="1"/>
            <a:r>
              <a:rPr lang="en-DK" dirty="0"/>
              <a:t>BookCoverService</a:t>
            </a:r>
          </a:p>
          <a:p>
            <a:pPr lvl="1"/>
            <a:r>
              <a:rPr lang="en-DK" dirty="0"/>
              <a:t>ExamSystem</a:t>
            </a:r>
            <a:br>
              <a:rPr lang="en-DK" dirty="0"/>
            </a:br>
            <a:endParaRPr lang="en-DK" dirty="0"/>
          </a:p>
          <a:p>
            <a:r>
              <a:rPr lang="en-DK" dirty="0"/>
              <a:t>Common issues:</a:t>
            </a:r>
          </a:p>
          <a:p>
            <a:pPr lvl="1"/>
            <a:r>
              <a:rPr lang="en-DK" dirty="0"/>
              <a:t>A new value broke my chart!</a:t>
            </a:r>
          </a:p>
          <a:p>
            <a:pPr lvl="1"/>
            <a:r>
              <a:rPr lang="en-DK" dirty="0"/>
              <a:t>Why didn’t </a:t>
            </a:r>
            <a:r>
              <a:rPr lang="en-DK" dirty="0">
                <a:highlight>
                  <a:srgbClr val="D6ECCB"/>
                </a:highlight>
              </a:rPr>
              <a:t>helm upgrade</a:t>
            </a:r>
            <a:r>
              <a:rPr lang="en-DK" dirty="0"/>
              <a:t> restart my app!?</a:t>
            </a:r>
          </a:p>
        </p:txBody>
      </p:sp>
    </p:spTree>
    <p:extLst>
      <p:ext uri="{BB962C8B-B14F-4D97-AF65-F5344CB8AC3E}">
        <p14:creationId xmlns:p14="http://schemas.microsoft.com/office/powerpoint/2010/main" val="39641541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6AEC8-9A38-A940-7FE4-E1A4A8756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Dependencies &amp; subcharts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86522-87C2-3092-2038-E7E2CA977A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51508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F213-B56A-EB20-A218-D40B2B735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Fra initContainer til helm hook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F0F85-15AB-7372-7861-5A00AE5225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2895356"/>
            <a:ext cx="10515600" cy="323784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DK" sz="2600" dirty="0"/>
              <a:t>Når du brug for at køre noget én gang, før chartet installeres </a:t>
            </a:r>
            <a:r>
              <a:rPr lang="en-DK" sz="2600" dirty="0">
                <a:sym typeface="Wingdings" pitchFamily="2" charset="2"/>
              </a:rPr>
              <a:t></a:t>
            </a:r>
            <a:r>
              <a:rPr lang="en-DK" sz="2600" dirty="0"/>
              <a:t> Helm hooks!</a:t>
            </a:r>
          </a:p>
          <a:p>
            <a:pPr>
              <a:buFontTx/>
              <a:buChar char="-"/>
            </a:pPr>
            <a:r>
              <a:rPr lang="en-DK" sz="2200" dirty="0"/>
              <a:t>Database Migrations</a:t>
            </a:r>
          </a:p>
          <a:p>
            <a:pPr>
              <a:buFontTx/>
              <a:buChar char="-"/>
            </a:pPr>
            <a:r>
              <a:rPr lang="en-DK" sz="2200" dirty="0"/>
              <a:t>Capability checks</a:t>
            </a:r>
          </a:p>
          <a:p>
            <a:pPr>
              <a:buFontTx/>
              <a:buChar char="-"/>
            </a:pPr>
            <a:r>
              <a:rPr lang="en-DK" sz="2200" dirty="0"/>
              <a:t>Storage setup</a:t>
            </a:r>
            <a:br>
              <a:rPr lang="en-DK" sz="2200" dirty="0"/>
            </a:br>
            <a:endParaRPr lang="en-DK" dirty="0">
              <a:solidFill>
                <a:srgbClr val="0074D9"/>
              </a:solidFill>
            </a:endParaRPr>
          </a:p>
          <a:p>
            <a:pPr marL="0" indent="0">
              <a:buNone/>
            </a:pPr>
            <a:r>
              <a:rPr lang="en-DK" sz="2600" dirty="0"/>
              <a:t>Hooks:</a:t>
            </a:r>
          </a:p>
          <a:p>
            <a:pPr marL="0" indent="0">
              <a:buNone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pre-install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ost-install pre-upgrade pre-rollback test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4D7C86-DC25-9747-1891-2E58ACC2BA3F}"/>
              </a:ext>
            </a:extLst>
          </p:cNvPr>
          <p:cNvSpPr txBox="1"/>
          <p:nvPr/>
        </p:nvSpPr>
        <p:spPr>
          <a:xfrm>
            <a:off x="838064" y="1569793"/>
            <a:ext cx="10407867" cy="91940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DK" sz="2400" dirty="0"/>
              <a:t>Hvis du har en DB migration i en </a:t>
            </a:r>
            <a:r>
              <a:rPr lang="en-DK" sz="2400" b="1" dirty="0"/>
              <a:t>initContainer</a:t>
            </a:r>
            <a:r>
              <a:rPr lang="en-DK" sz="2400" dirty="0"/>
              <a:t> på din </a:t>
            </a:r>
            <a:r>
              <a:rPr lang="en-DK" sz="2400" b="1" dirty="0"/>
              <a:t>Deployment</a:t>
            </a:r>
            <a:r>
              <a:rPr lang="en-DK" sz="2400" dirty="0"/>
              <a:t> hvad sker der så når du installerer chartet med </a:t>
            </a:r>
            <a:r>
              <a:rPr lang="en-DK" sz="2400" dirty="0">
                <a:solidFill>
                  <a:schemeClr val="bg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--set backend.replicaCount = 5</a:t>
            </a:r>
            <a:r>
              <a:rPr lang="en-DK" sz="2400" dirty="0"/>
              <a:t> ?</a:t>
            </a:r>
            <a:endParaRPr lang="en-DK" sz="2400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332B2-FE97-29C9-A53C-5E7B11BA0389}"/>
              </a:ext>
            </a:extLst>
          </p:cNvPr>
          <p:cNvSpPr txBox="1"/>
          <p:nvPr/>
        </p:nvSpPr>
        <p:spPr>
          <a:xfrm>
            <a:off x="7220197" y="6123543"/>
            <a:ext cx="6103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dirty="0">
                <a:solidFill>
                  <a:srgbClr val="0074D9"/>
                </a:solidFill>
              </a:rPr>
              <a:t>https://helm.sh/docs/topics/charts_hooks/</a:t>
            </a:r>
          </a:p>
        </p:txBody>
      </p:sp>
    </p:spTree>
    <p:extLst>
      <p:ext uri="{BB962C8B-B14F-4D97-AF65-F5344CB8AC3E}">
        <p14:creationId xmlns:p14="http://schemas.microsoft.com/office/powerpoint/2010/main" val="348210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D49F1-FC83-B94C-FA58-B2ED4F255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Packaging &amp; Publishing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33044-FAF7-7F9B-83B1-82539CBB50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Classic repo vs. OCI</a:t>
            </a:r>
          </a:p>
          <a:p>
            <a:endParaRPr lang="en-DK" dirty="0"/>
          </a:p>
          <a:p>
            <a:r>
              <a:rPr lang="en-DK" dirty="0"/>
              <a:t>Package and push</a:t>
            </a:r>
          </a:p>
          <a:p>
            <a:pPr lvl="1"/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 edu-greetings-chart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package ./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-&gt; greetings-1.0.0.tgz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push greetings-1.0.0.tgz oci://&lt;registry&gt;/&lt;project&gt;</a:t>
            </a:r>
          </a:p>
          <a:p>
            <a:pPr lvl="1"/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Deploy pushed chart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install &lt;release-name&gt; oci://&lt;registry&gt;/&lt;project&gt;/greetings \</a:t>
            </a:r>
            <a:b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--version 1.0.0</a:t>
            </a:r>
          </a:p>
          <a:p>
            <a:pPr lvl="1"/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helm upgrade &lt;release-name&gt; oci://&lt;registry&gt;/&lt;project&gt;/greetings \</a:t>
            </a:r>
            <a:b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--version 1.2.3</a:t>
            </a:r>
          </a:p>
          <a:p>
            <a:pPr lvl="1"/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2294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96A40-FA33-43E2-551D-924B80F8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Values &amp; Secrets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A46BE3-4FB9-28A9-B4CB-02AA821978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42465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EAEB7-2B59-B53B-0ADF-FEB26AC5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Hvem skal køre Helm Upgrade 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DFB2FD-DEC9-8AF7-8259-90B80F0D54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382890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F22CB-ADDE-9FE1-8E45-8BFF4317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Publish your chart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C73BD-81AF-8674-5610-A7B1D9F760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Pak og publicér dit chart</a:t>
            </a:r>
          </a:p>
          <a:p>
            <a:endParaRPr lang="en-DK" b="1" dirty="0"/>
          </a:p>
          <a:p>
            <a:r>
              <a:rPr lang="en-DK" dirty="0"/>
              <a:t>2-gateway-chart TASK</a:t>
            </a:r>
          </a:p>
          <a:p>
            <a:r>
              <a:rPr lang="en-DK" dirty="0"/>
              <a:t>helm lint → helm package → helm push</a:t>
            </a:r>
            <a:br>
              <a:rPr lang="en-DK" dirty="0"/>
            </a:br>
            <a:r>
              <a:rPr lang="en-DK" dirty="0"/>
              <a:t>→ helm install oci://… → helm show values</a:t>
            </a:r>
          </a:p>
          <a:p>
            <a:endParaRPr lang="en-DK" b="1" dirty="0"/>
          </a:p>
          <a:p>
            <a:r>
              <a:rPr lang="en-DK" b="1" dirty="0"/>
              <a:t>Notes:</a:t>
            </a:r>
            <a:r>
              <a:rPr lang="en-DK" dirty="0"/>
              <a:t> Registry host and login on screen. If the registry isn't ready, the README's local-.tgz + helm repo index path teaches the same thing with no credentials — say which one you're doing before they start. </a:t>
            </a:r>
            <a:r>
              <a:rPr lang="en-DK" b="1" dirty="0"/>
              <a:t>This is the compression valve:</a:t>
            </a:r>
            <a:r>
              <a:rPr lang="en-DK" dirty="0"/>
              <a:t> if you're behind, demo it in 5 minutes instead and protect the open lab.</a:t>
            </a:r>
          </a:p>
        </p:txBody>
      </p:sp>
    </p:spTree>
    <p:extLst>
      <p:ext uri="{BB962C8B-B14F-4D97-AF65-F5344CB8AC3E}">
        <p14:creationId xmlns:p14="http://schemas.microsoft.com/office/powerpoint/2010/main" val="40874786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E427-E7BE-EAD6-0193-0B8B0D21F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26675E-9B1B-7B80-5201-52061D6685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018508-78E2-88B0-A8C6-088BEA3887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488873" cy="2884543"/>
          </a:xfrm>
        </p:spPr>
        <p:txBody>
          <a:bodyPr/>
          <a:lstStyle/>
          <a:p>
            <a:r>
              <a:rPr lang="en-DK" dirty="0"/>
              <a:t>Processen herfra</a:t>
            </a:r>
          </a:p>
          <a:p>
            <a:r>
              <a:rPr lang="en-DK" sz="3200" dirty="0">
                <a:solidFill>
                  <a:srgbClr val="C54D02"/>
                </a:solidFill>
              </a:rPr>
              <a:t>Udvælgelse</a:t>
            </a:r>
            <a:br>
              <a:rPr lang="en-DK" sz="3200" dirty="0">
                <a:solidFill>
                  <a:srgbClr val="C54D02"/>
                </a:solidFill>
              </a:rPr>
            </a:br>
            <a:r>
              <a:rPr lang="en-DK" sz="3200" dirty="0">
                <a:solidFill>
                  <a:srgbClr val="C54D02"/>
                </a:solidFill>
              </a:rPr>
              <a:t>Prioritering</a:t>
            </a:r>
            <a:br>
              <a:rPr lang="en-DK" sz="3200" dirty="0">
                <a:solidFill>
                  <a:srgbClr val="C54D02"/>
                </a:solidFill>
              </a:rPr>
            </a:br>
            <a:r>
              <a:rPr lang="en-DK" sz="3200" dirty="0">
                <a:solidFill>
                  <a:srgbClr val="C54D02"/>
                </a:solidFill>
              </a:rPr>
              <a:t>Migrerings-process</a:t>
            </a:r>
          </a:p>
        </p:txBody>
      </p:sp>
    </p:spTree>
    <p:extLst>
      <p:ext uri="{BB962C8B-B14F-4D97-AF65-F5344CB8AC3E}">
        <p14:creationId xmlns:p14="http://schemas.microsoft.com/office/powerpoint/2010/main" val="7730110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8A9AE95-9A09-47D7-BBB6-61DA0BB7B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6ACF7D-3AFC-4928-4847-A231E3BF95C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LEDELSES-SLIDES</a:t>
            </a:r>
          </a:p>
        </p:txBody>
      </p:sp>
    </p:spTree>
    <p:extLst>
      <p:ext uri="{BB962C8B-B14F-4D97-AF65-F5344CB8AC3E}">
        <p14:creationId xmlns:p14="http://schemas.microsoft.com/office/powerpoint/2010/main" val="17719896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296F2-FDAB-195E-7B59-312681CDC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Tragten: Udvælgelse før prioritering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D34E5-CD21-4A91-D453-A529D428B3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20320" cy="4442517"/>
          </a:xfrm>
        </p:spPr>
        <p:txBody>
          <a:bodyPr/>
          <a:lstStyle/>
          <a:p>
            <a:pPr lvl="0"/>
            <a:r>
              <a:rPr lang="en-DK" b="1" dirty="0"/>
              <a:t>Udvælgelse</a:t>
            </a:r>
            <a:r>
              <a:rPr lang="en-DK" dirty="0"/>
              <a:t> — </a:t>
            </a:r>
            <a:r>
              <a:rPr lang="en-DK" i="1" dirty="0"/>
              <a:t>kan vi?</a:t>
            </a:r>
            <a:r>
              <a:rPr lang="en-DK" dirty="0"/>
              <a:t> kompatibilitet · licens · afregning per instans · hardware · TIME</a:t>
            </a:r>
          </a:p>
          <a:p>
            <a:pPr lvl="0"/>
            <a:r>
              <a:rPr lang="en-DK" b="1" dirty="0"/>
              <a:t>Prioritering</a:t>
            </a:r>
            <a:r>
              <a:rPr lang="en-DK" dirty="0"/>
              <a:t> — </a:t>
            </a:r>
            <a:r>
              <a:rPr lang="en-DK" i="1" dirty="0"/>
              <a:t>hvornår? </a:t>
            </a:r>
            <a:r>
              <a:rPr lang="en-GB" i="1" dirty="0"/>
              <a:t>K</a:t>
            </a:r>
            <a:r>
              <a:rPr lang="en-DK" i="1" dirty="0"/>
              <a:t>riterier fra Teknologirådet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ompleksitet, </a:t>
            </a:r>
            <a:r>
              <a:rPr lang="en-GB" dirty="0"/>
              <a:t>U</a:t>
            </a:r>
            <a:r>
              <a:rPr lang="en-DK" dirty="0"/>
              <a:t>dgivelsesfrekvens, </a:t>
            </a:r>
            <a:r>
              <a:rPr lang="en-GB" dirty="0"/>
              <a:t>D</a:t>
            </a:r>
            <a:r>
              <a:rPr lang="en-DK" dirty="0"/>
              <a:t>riftsbyrde, </a:t>
            </a:r>
            <a:r>
              <a:rPr lang="en-GB" dirty="0"/>
              <a:t>S</a:t>
            </a:r>
            <a:r>
              <a:rPr lang="en-DK" dirty="0"/>
              <a:t>kalerbarhed, </a:t>
            </a:r>
            <a:r>
              <a:rPr lang="en-GB" dirty="0"/>
              <a:t>S</a:t>
            </a:r>
            <a:r>
              <a:rPr lang="en-DK" dirty="0"/>
              <a:t>årbarhed</a:t>
            </a:r>
          </a:p>
          <a:p>
            <a:r>
              <a:rPr lang="en-DK" b="1" dirty="0"/>
              <a:t>Eliminate → nedlæg</a:t>
            </a:r>
            <a:r>
              <a:rPr lang="en-DK" dirty="0"/>
              <a:t>. Containerisér ikke et system der alligevel skal udgå.</a:t>
            </a:r>
            <a:br>
              <a:rPr lang="en-DK" dirty="0"/>
            </a:br>
            <a:endParaRPr lang="en-DK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CCD750-19D6-44BC-4601-0FAB9A349F48}"/>
              </a:ext>
            </a:extLst>
          </p:cNvPr>
          <p:cNvGrpSpPr/>
          <p:nvPr/>
        </p:nvGrpSpPr>
        <p:grpSpPr>
          <a:xfrm>
            <a:off x="2196330" y="3559625"/>
            <a:ext cx="6754312" cy="3063875"/>
            <a:chOff x="2196330" y="3429000"/>
            <a:chExt cx="6754312" cy="306387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862EBA3-8EE2-7A04-21CF-360FC04B9A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918" t="13651" r="10326" b="10218"/>
            <a:stretch>
              <a:fillRect/>
            </a:stretch>
          </p:blipFill>
          <p:spPr>
            <a:xfrm>
              <a:off x="3241358" y="3429000"/>
              <a:ext cx="5709284" cy="3063875"/>
            </a:xfrm>
            <a:prstGeom prst="rect">
              <a:avLst/>
            </a:prstGeom>
          </p:spPr>
        </p:pic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8CD22806-0890-CB07-CA5B-53F5734DC5C1}"/>
                </a:ext>
              </a:extLst>
            </p:cNvPr>
            <p:cNvSpPr/>
            <p:nvPr/>
          </p:nvSpPr>
          <p:spPr>
            <a:xfrm>
              <a:off x="5545777" y="4180113"/>
              <a:ext cx="1045028" cy="56407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BFDBFF04-FC45-55FD-79EE-E28B5A6EE4D7}"/>
                </a:ext>
              </a:extLst>
            </p:cNvPr>
            <p:cNvSpPr/>
            <p:nvPr/>
          </p:nvSpPr>
          <p:spPr>
            <a:xfrm>
              <a:off x="2196330" y="4180112"/>
              <a:ext cx="1045028" cy="56407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93368420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6302E-F7BE-7150-CB95-9DB9B3D52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Tragten – Udvælgelse før prioritering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F3EC6BD-3DB9-B403-6425-22AD1DA8C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1521506"/>
            <a:ext cx="6607629" cy="4971369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Alle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eksisterende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systemer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│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▼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┌──────────────────────┐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│  1. UDVÆLGELSE       │   "Kan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systemet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flyttes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?"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│     Kan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og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bør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vi?   │   →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ja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/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nej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/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ikke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endnu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└──────────┬───────────┘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│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kandidater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▼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┌──────────────────────┐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│  2. PRIORITERING     │   "I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hvilken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rækkefølge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?"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│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Hvornår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?         │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└──────────┬───────────┘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│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næste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system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▼</a:t>
            </a:r>
          </a:p>
          <a:p>
            <a:pPr marL="0" lvl="0" indent="0">
              <a:buNone/>
            </a:pP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Selve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migrerings-processen</a:t>
            </a:r>
            <a:endParaRPr lang="en-DK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7346B31-95DD-EB8E-7DAE-25C65AF143D7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5051961" cy="427072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rgbClr val="383838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K" b="1" dirty="0"/>
              <a:t>Kompatibilitet</a:t>
            </a:r>
          </a:p>
          <a:p>
            <a:pPr lvl="1"/>
            <a:r>
              <a:rPr lang="en-DK" dirty="0"/>
              <a:t>Kan systemet </a:t>
            </a:r>
            <a:r>
              <a:rPr lang="en-DK" b="1" dirty="0"/>
              <a:t>overhovedet</a:t>
            </a:r>
            <a:r>
              <a:rPr lang="en-DK" dirty="0"/>
              <a:t> containeriseres?</a:t>
            </a:r>
          </a:p>
          <a:p>
            <a:pPr lvl="1"/>
            <a:r>
              <a:rPr lang="en-DK" dirty="0"/>
              <a:t>Er det et </a:t>
            </a:r>
            <a:r>
              <a:rPr lang="en-DK" b="1" dirty="0"/>
              <a:t>proprietært købesystem</a:t>
            </a:r>
            <a:r>
              <a:rPr lang="en-DK" dirty="0"/>
              <a:t> uden container-understøttelse?</a:t>
            </a:r>
          </a:p>
          <a:p>
            <a:pPr lvl="1"/>
            <a:r>
              <a:rPr lang="en-DK" dirty="0"/>
              <a:t>Gør </a:t>
            </a:r>
            <a:r>
              <a:rPr lang="en-DK" b="1" dirty="0"/>
              <a:t>licensen</a:t>
            </a:r>
            <a:r>
              <a:rPr lang="en-DK" dirty="0"/>
              <a:t> det umuligt — eller ugyldiggør den supporten?</a:t>
            </a:r>
          </a:p>
          <a:p>
            <a:pPr lvl="1"/>
            <a:r>
              <a:rPr lang="en-DK" dirty="0"/>
              <a:t>Er der </a:t>
            </a:r>
            <a:r>
              <a:rPr lang="en-DK" b="1" dirty="0"/>
              <a:t>afregning per instans</a:t>
            </a:r>
            <a:r>
              <a:rPr lang="en-DK" dirty="0"/>
              <a:t>, så modellen bliver urimeligt dyr i Kubernetes?</a:t>
            </a:r>
          </a:p>
          <a:p>
            <a:pPr lvl="1"/>
            <a:r>
              <a:rPr lang="en-DK" dirty="0"/>
              <a:t>Har systemet </a:t>
            </a:r>
            <a:r>
              <a:rPr lang="en-DK" b="1" dirty="0"/>
              <a:t>særlige krav til hardware</a:t>
            </a:r>
            <a:r>
              <a:rPr lang="en-DK" dirty="0"/>
              <a:t> det kører på?</a:t>
            </a:r>
          </a:p>
          <a:p>
            <a:r>
              <a:rPr lang="en-DK" dirty="0"/>
              <a:t>Disse er de billigste spørgsmål at stille, og de er </a:t>
            </a:r>
            <a:r>
              <a:rPr lang="en-DK" i="1" dirty="0"/>
              <a:t>diskvalificerende</a:t>
            </a:r>
            <a:r>
              <a:rPr lang="en-DK" dirty="0"/>
              <a:t>. Stil dem først. Det er ærgerligt at kortlægge et system i en time for derefter at opdage at licensen forbyder det.</a:t>
            </a:r>
          </a:p>
          <a:p>
            <a:r>
              <a:rPr lang="en-DK" b="1" dirty="0"/>
              <a:t>Placering i systemporteføljen (TIME)</a:t>
            </a:r>
          </a:p>
        </p:txBody>
      </p:sp>
    </p:spTree>
    <p:extLst>
      <p:ext uri="{BB962C8B-B14F-4D97-AF65-F5344CB8AC3E}">
        <p14:creationId xmlns:p14="http://schemas.microsoft.com/office/powerpoint/2010/main" val="33759684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3FF3B-664E-0520-58CE-44EBABB6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TIME modellen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3A209E-338D-ECFC-FC5B-0BD85355B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5420164" cy="4442517"/>
          </a:xfrm>
        </p:spPr>
        <p:txBody>
          <a:bodyPr/>
          <a:lstStyle/>
          <a:p>
            <a:r>
              <a:rPr lang="en-DK" dirty="0"/>
              <a:t>TIME (Gartner) placerer systemer efter </a:t>
            </a:r>
            <a:r>
              <a:rPr lang="en-DK" b="1" dirty="0"/>
              <a:t>forretningsværdi</a:t>
            </a:r>
            <a:r>
              <a:rPr lang="en-DK" dirty="0"/>
              <a:t> × </a:t>
            </a:r>
            <a:r>
              <a:rPr lang="en-DK" b="1" dirty="0"/>
              <a:t>teknisk egnethed</a:t>
            </a:r>
            <a:r>
              <a:rPr lang="en-DK" dirty="0"/>
              <a:t> — det er </a:t>
            </a:r>
            <a:r>
              <a:rPr lang="en-DK" i="1" dirty="0"/>
              <a:t>ikke</a:t>
            </a:r>
            <a:r>
              <a:rPr lang="en-DK" dirty="0"/>
              <a:t> en modenhedsscore for containerisering.</a:t>
            </a:r>
          </a:p>
          <a:p>
            <a:pPr lvl="1"/>
            <a:r>
              <a:rPr lang="en-DK" dirty="0"/>
              <a:t>Brugt rigtigt er den mere nyttig, fordi den giver os et eksplicit "lad være"-udfald.</a:t>
            </a:r>
          </a:p>
          <a:p>
            <a:pPr lvl="1"/>
            <a:endParaRPr lang="en-DK" dirty="0"/>
          </a:p>
          <a:p>
            <a:pPr marL="0" indent="0">
              <a:buNone/>
            </a:pPr>
            <a:r>
              <a:rPr lang="en-DK" b="1" dirty="0"/>
              <a:t>Helt kort:</a:t>
            </a:r>
            <a:r>
              <a:rPr lang="en-DK" dirty="0"/>
              <a:t> Vi skal lade være med at flytte teknisk gæld fra en platform til en anden.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8F509-5FB1-E931-F35F-3E138ABB4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8296" y="1690688"/>
            <a:ext cx="5735782" cy="3499353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717323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CDFAD-C304-90B0-ADEE-BFDC873D5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Øvelse: Udvælgelse af egne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59C69-2B87-1E47-A218-CEEBC3F9D1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Udvælgelse</a:t>
            </a:r>
          </a:p>
          <a:p>
            <a:r>
              <a:rPr lang="en-DK" dirty="0"/>
              <a:t>Brug “tragten” og TIME-modellen</a:t>
            </a:r>
          </a:p>
        </p:txBody>
      </p:sp>
    </p:spTree>
    <p:extLst>
      <p:ext uri="{BB962C8B-B14F-4D97-AF65-F5344CB8AC3E}">
        <p14:creationId xmlns:p14="http://schemas.microsoft.com/office/powerpoint/2010/main" val="22787059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B729-D107-AA45-62E2-2DC89C1E9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55F57-BC15-BA56-F18C-1EB7EDB67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Kriterier for prioritering</a:t>
            </a:r>
            <a:br>
              <a:rPr lang="en-DK" dirty="0"/>
            </a:br>
            <a:r>
              <a:rPr lang="en-DK" sz="3200" dirty="0"/>
              <a:t>— </a:t>
            </a:r>
            <a:r>
              <a:rPr lang="en-DK" sz="3200" i="1" dirty="0"/>
              <a:t>i hvilken rækkefølge?</a:t>
            </a:r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C9BC47-246F-A6F2-DCD6-5B89C6F31D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307357"/>
              </p:ext>
            </p:extLst>
          </p:nvPr>
        </p:nvGraphicFramePr>
        <p:xfrm>
          <a:off x="838200" y="2046947"/>
          <a:ext cx="10193978" cy="3238500"/>
        </p:xfrm>
        <a:graphic>
          <a:graphicData uri="http://schemas.openxmlformats.org/drawingml/2006/table">
            <a:tbl>
              <a:tblPr firstRow="1" bandCol="1">
                <a:tableStyleId>{F5AB1C69-6EDB-4FF4-983F-18BD219EF322}</a:tableStyleId>
              </a:tblPr>
              <a:tblGrid>
                <a:gridCol w="3484418">
                  <a:extLst>
                    <a:ext uri="{9D8B030D-6E8A-4147-A177-3AD203B41FA5}">
                      <a16:colId xmlns:a16="http://schemas.microsoft.com/office/drawing/2014/main" val="4193669935"/>
                    </a:ext>
                  </a:extLst>
                </a:gridCol>
                <a:gridCol w="6709560">
                  <a:extLst>
                    <a:ext uri="{9D8B030D-6E8A-4147-A177-3AD203B41FA5}">
                      <a16:colId xmlns:a16="http://schemas.microsoft.com/office/drawing/2014/main" val="22628890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Kriterium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Hvorfor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616230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Kompleksitet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den lavest hængende frugt først, for at </a:t>
                      </a:r>
                      <a:r>
                        <a:rPr lang="en-DK" sz="2000" u="sng" dirty="0">
                          <a:effectLst/>
                        </a:rPr>
                        <a:t>opbygge erfaring</a:t>
                      </a:r>
                      <a:endParaRPr lang="en-DK" sz="2000" b="0" i="0" u="sng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069928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Udgivelsesfrekvens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 systemer der oftest ændrer sig og skal deployes</a:t>
                      </a:r>
                      <a:br>
                        <a:rPr lang="en-DK" sz="2000" dirty="0">
                          <a:effectLst/>
                        </a:rPr>
                      </a:br>
                      <a:r>
                        <a:rPr lang="en-DK" sz="2000" dirty="0">
                          <a:effectLst/>
                        </a:rPr>
                        <a:t>— de får mest ud af platformen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955079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>
                          <a:effectLst/>
                        </a:rPr>
                        <a:t>Driftsbyrde</a:t>
                      </a:r>
                      <a:endParaRPr lang="en-DK" sz="20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>
                          <a:effectLst/>
                        </a:rPr>
                        <a:t>Tag det som volder os flest problemer at drifte</a:t>
                      </a:r>
                      <a:endParaRPr lang="en-DK" sz="20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231311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Skalerbarhed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>
                          <a:effectLst/>
                        </a:rPr>
                        <a:t>Tag det som ville have størst gavn af at køre i Kubernetes</a:t>
                      </a:r>
                      <a:endParaRPr lang="en-DK" sz="20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336892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Sårbarhed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Tag det som er særligt sårbart og vigtigst for forretningen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933647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b="1" dirty="0">
                          <a:effectLst/>
                        </a:rPr>
                        <a:t>Teamets egen prioritering</a:t>
                      </a:r>
                      <a:endParaRPr lang="en-DK" sz="2000" b="1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2000" dirty="0">
                          <a:effectLst/>
                        </a:rPr>
                        <a:t>Teamet skal selv prioritere ift. kompetencer, erfaring og tid</a:t>
                      </a:r>
                      <a:endParaRPr lang="en-DK" sz="20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890152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29479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553D0-135B-0036-EE18-862E89CFD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66D62-4976-DC56-8D90-DDCBB59E8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Øvelse: Prioritér jeres udvalgte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7B0350-28CD-54BD-2A2E-11AFE244C6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Prioritering i følge kriterierne</a:t>
            </a:r>
          </a:p>
        </p:txBody>
      </p:sp>
    </p:spTree>
    <p:extLst>
      <p:ext uri="{BB962C8B-B14F-4D97-AF65-F5344CB8AC3E}">
        <p14:creationId xmlns:p14="http://schemas.microsoft.com/office/powerpoint/2010/main" val="30450975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1671E-89FD-5810-F1A2-1585BBAE4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Processen trin-for-trin</a:t>
            </a:r>
            <a:br>
              <a:rPr lang="en-DK" dirty="0"/>
            </a:br>
            <a:r>
              <a:rPr lang="en-DK" sz="3200" i="1" dirty="0"/>
              <a:t>— Skabelon til når vi har udvalgt et system</a:t>
            </a:r>
            <a:endParaRPr lang="en-DK" i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519ADE-F3C0-FA3E-8676-4C03F3F14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520715"/>
              </p:ext>
            </p:extLst>
          </p:nvPr>
        </p:nvGraphicFramePr>
        <p:xfrm>
          <a:off x="838200" y="1822172"/>
          <a:ext cx="10515600" cy="36576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98714">
                  <a:extLst>
                    <a:ext uri="{9D8B030D-6E8A-4147-A177-3AD203B41FA5}">
                      <a16:colId xmlns:a16="http://schemas.microsoft.com/office/drawing/2014/main" val="4195658795"/>
                    </a:ext>
                  </a:extLst>
                </a:gridCol>
                <a:gridCol w="3574473">
                  <a:extLst>
                    <a:ext uri="{9D8B030D-6E8A-4147-A177-3AD203B41FA5}">
                      <a16:colId xmlns:a16="http://schemas.microsoft.com/office/drawing/2014/main" val="1076639495"/>
                    </a:ext>
                  </a:extLst>
                </a:gridCol>
                <a:gridCol w="3170712">
                  <a:extLst>
                    <a:ext uri="{9D8B030D-6E8A-4147-A177-3AD203B41FA5}">
                      <a16:colId xmlns:a16="http://schemas.microsoft.com/office/drawing/2014/main" val="3541863106"/>
                    </a:ext>
                  </a:extLst>
                </a:gridCol>
                <a:gridCol w="3171701">
                  <a:extLst>
                    <a:ext uri="{9D8B030D-6E8A-4147-A177-3AD203B41FA5}">
                      <a16:colId xmlns:a16="http://schemas.microsoft.com/office/drawing/2014/main" val="34382473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#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Trin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Ansvar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Resultat</a:t>
                      </a:r>
                      <a:endParaRPr lang="en-DK" sz="1800" b="1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744966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1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Udvælg system ud fra kriterierne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Dev-team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nominering + kortlægning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976986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2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Containerisér komponenter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Dev-team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en Dockerfile per komponent, i et registry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33157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3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compose.yml til lokal udvikling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Dev-team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hele stakken kører på en laptop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058908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4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Manuel opsætning i Kubernetes via Rancher (anbefalet)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Dev-team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fungerende manifests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25401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5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Konvertér til Helm chart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Dev-team + Platform-team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et linted, testet chart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201280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6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GitOps-deployment og CI/CD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Platform-team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ArgoCD-app + pipeline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641689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b="0" dirty="0">
                          <a:solidFill>
                            <a:schemeClr val="bg1"/>
                          </a:solidFill>
                          <a:effectLst/>
                        </a:rPr>
                        <a:t>*</a:t>
                      </a:r>
                      <a:endParaRPr lang="en-DK" sz="1800" b="0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effectLst/>
                        </a:rPr>
                        <a:t>Cloud-readiness-oprydning</a:t>
                      </a:r>
                      <a:endParaRPr lang="en-DK" sz="1800" b="0" i="0" dirty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>
                          <a:effectLst/>
                        </a:rPr>
                        <a:t>Dev-team, parallelt med 2–5</a:t>
                      </a:r>
                      <a:endParaRPr lang="en-DK" sz="1800" b="0" i="0">
                        <a:solidFill>
                          <a:srgbClr val="1F2328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050"/>
                        </a:spcAft>
                        <a:buNone/>
                      </a:pPr>
                      <a:r>
                        <a:rPr lang="en-DK" sz="1800" dirty="0">
                          <a:solidFill>
                            <a:srgbClr val="FF0000"/>
                          </a:solidFill>
                          <a:effectLst/>
                        </a:rPr>
                        <a:t>se afsnit 7</a:t>
                      </a:r>
                      <a:endParaRPr lang="en-DK" sz="1800" b="0" i="0" dirty="0">
                        <a:solidFill>
                          <a:srgbClr val="FF0000"/>
                        </a:solidFill>
                        <a:effectLst/>
                        <a:latin typeface="-apple-system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231563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5374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B4C99-888D-98F3-E799-D8AC54B57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b="1" dirty="0"/>
              <a:t>Processen: Hvem der gør hvad?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E931D-3D28-CECF-8FAA-227E0E2856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endParaRPr lang="en-DK" b="1" dirty="0"/>
          </a:p>
          <a:p>
            <a:pPr lvl="0"/>
            <a:endParaRPr lang="en-DK" b="1" dirty="0"/>
          </a:p>
          <a:p>
            <a:pPr lvl="0"/>
            <a:r>
              <a:rPr lang="en-DK" b="1" dirty="0"/>
              <a:t>"Steps 2–5 are workshops #1, #1, #2 and #3 — you have already been trained for your half of this."</a:t>
            </a:r>
            <a:r>
              <a:rPr lang="en-DK" dirty="0"/>
              <a:t> This is the moment the whole series pays off. Pause after it.</a:t>
            </a:r>
          </a:p>
          <a:p>
            <a:pPr lvl="0"/>
            <a:r>
              <a:rPr lang="en-DK" b="1" dirty="0"/>
              <a:t>The cloud-readiness band is drawn wide on purpose.</a:t>
            </a:r>
            <a:r>
              <a:rPr lang="en-DK" dirty="0"/>
              <a:t> The Dockerfile is a day; getting config out of the artifact, logs onto stdout and sessions out of memory is weeks to months of </a:t>
            </a:r>
            <a:r>
              <a:rPr lang="en-DK" i="1" dirty="0"/>
              <a:t>application</a:t>
            </a:r>
            <a:r>
              <a:rPr lang="en-DK" dirty="0"/>
              <a:t> work. Estimates that miss this are wrong by an order of magnitude.</a:t>
            </a:r>
          </a:p>
          <a:p>
            <a:pPr lvl="0"/>
            <a:endParaRPr lang="en-DK" dirty="0"/>
          </a:p>
          <a:p>
            <a:r>
              <a:rPr lang="en-DK" b="1" dirty="0"/>
              <a:t>Notes:</a:t>
            </a:r>
            <a:r>
              <a:rPr lang="en-DK" dirty="0"/>
              <a:t> </a:t>
            </a:r>
            <a:r>
              <a:rPr lang="en-DK" dirty="0">
                <a:hlinkClick r:id="rId3"/>
              </a:rPr>
              <a:t>deck-notes/migration-pipeline.md</a:t>
            </a:r>
            <a:r>
              <a:rPr lang="en-DK" dirty="0"/>
              <a:t>. Two things</a:t>
            </a:r>
          </a:p>
        </p:txBody>
      </p:sp>
    </p:spTree>
    <p:extLst>
      <p:ext uri="{BB962C8B-B14F-4D97-AF65-F5344CB8AC3E}">
        <p14:creationId xmlns:p14="http://schemas.microsoft.com/office/powerpoint/2010/main" val="10208018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A2CBA-A2ED-DEB2-2D81-31FBB83D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AC0D4F-8AB9-41CF-B0C6-33265EBDAB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30269-CC61-16B7-9C93-06A5395F91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7373176" cy="2884543"/>
          </a:xfrm>
        </p:spPr>
        <p:txBody>
          <a:bodyPr/>
          <a:lstStyle/>
          <a:p>
            <a:r>
              <a:rPr lang="en-DK" dirty="0"/>
              <a:t>Arbejd på egne systemer</a:t>
            </a:r>
          </a:p>
          <a:p>
            <a:r>
              <a:rPr lang="en-DK" sz="3200" dirty="0">
                <a:solidFill>
                  <a:srgbClr val="C54D02"/>
                </a:solidFill>
              </a:rPr>
              <a:t>Udvælg et simpelt system og følg migrerings-processen</a:t>
            </a:r>
          </a:p>
        </p:txBody>
      </p:sp>
    </p:spTree>
    <p:extLst>
      <p:ext uri="{BB962C8B-B14F-4D97-AF65-F5344CB8AC3E}">
        <p14:creationId xmlns:p14="http://schemas.microsoft.com/office/powerpoint/2010/main" val="30642116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A9E7C-9F0E-1170-9CC6-EBB672A37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Opgaven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0BB22-B0A0-0964-B07A-28731BD914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DK" dirty="0"/>
              <a:t>Skriv et chart der pakker jeres system og eksponerer de rigtige knapper/knobs</a:t>
            </a:r>
          </a:p>
          <a:p>
            <a:pPr lvl="1"/>
            <a:r>
              <a:rPr lang="en-DK" dirty="0"/>
              <a:t>Start med at containerize og skrive kubernetes manifester hvis de mangler</a:t>
            </a:r>
          </a:p>
          <a:p>
            <a:pPr lvl="1"/>
            <a:r>
              <a:rPr lang="en-DK" dirty="0"/>
              <a:t>Lav det så simpelt som muligt først (måske bare 1 komponent)</a:t>
            </a:r>
          </a:p>
          <a:p>
            <a:pPr lvl="0"/>
            <a:r>
              <a:rPr lang="en-DK" dirty="0"/>
              <a:t>Chartet skal validere sine inputs (hvad er required?)</a:t>
            </a:r>
          </a:p>
          <a:p>
            <a:pPr lvl="0"/>
            <a:r>
              <a:rPr lang="en-DK" dirty="0"/>
              <a:t>Kør samme chart med forskellige values (dev vs. prod)</a:t>
            </a:r>
          </a:p>
          <a:p>
            <a:pPr lvl="1"/>
            <a:r>
              <a:rPr lang="da-DK" dirty="0"/>
              <a:t>Lav et </a:t>
            </a:r>
            <a:r>
              <a:rPr lang="da-DK" dirty="0" err="1"/>
              <a:t>rollback</a:t>
            </a:r>
            <a:r>
              <a:rPr lang="da-DK" dirty="0"/>
              <a:t> </a:t>
            </a:r>
            <a:r>
              <a:rPr lang="en-DK" dirty="0"/>
              <a:t>når en upgrade går galt</a:t>
            </a:r>
          </a:p>
          <a:p>
            <a:pPr lvl="0"/>
            <a:r>
              <a:rPr lang="en-DK" dirty="0"/>
              <a:t>Publicér det som et OCI-artefakt</a:t>
            </a:r>
          </a:p>
          <a:p>
            <a:endParaRPr lang="en-DK" dirty="0"/>
          </a:p>
          <a:p>
            <a:r>
              <a:rPr lang="en-DK" dirty="0"/>
              <a:t>Brug </a:t>
            </a:r>
            <a:r>
              <a:rPr lang="en-DK" dirty="0">
                <a:solidFill>
                  <a:srgbClr val="0074D9"/>
                </a:solidFill>
              </a:rPr>
              <a:t>BEST-PRACTICES.md</a:t>
            </a:r>
            <a:r>
              <a:rPr lang="en-DK" dirty="0"/>
              <a:t> som huskeliste.</a:t>
            </a:r>
          </a:p>
        </p:txBody>
      </p:sp>
    </p:spTree>
    <p:extLst>
      <p:ext uri="{BB962C8B-B14F-4D97-AF65-F5344CB8AC3E}">
        <p14:creationId xmlns:p14="http://schemas.microsoft.com/office/powerpoint/2010/main" val="298454640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F093C-479F-67F5-0799-542B8CC10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Start from example chart!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015690-D671-DDBB-82AF-8146ED4261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>
                <a:hlinkClick r:id="rId2"/>
              </a:rPr>
              <a:t>edu-greetings-chart</a:t>
            </a:r>
            <a:r>
              <a:rPr lang="en-DK" dirty="0"/>
              <a:t> has a working example of every pattern:</a:t>
            </a:r>
          </a:p>
          <a:p>
            <a:r>
              <a:rPr lang="en-DK" dirty="0"/>
              <a:t>env from ConfigMap, existingSecret, PVC, Ingress, probes, migration hook, subchart, schema, test</a:t>
            </a:r>
          </a:p>
          <a:p>
            <a:endParaRPr lang="en-DK" b="1" dirty="0"/>
          </a:p>
          <a:p>
            <a:r>
              <a:rPr lang="en-DK" b="1" dirty="0"/>
              <a:t>Notes:</a:t>
            </a:r>
            <a:r>
              <a:rPr lang="en-DK" dirty="0"/>
              <a:t> cp -r edu-greetings-chart my-system-chart and delete what doesn't apply is a faster start than helm create, which in Helm 4 generates an HPA, an HTTPRoute and a ServiceAccount they didn't ask for. Rule of thumb: delete anything you can't explain.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788676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7622ECF-92B6-E813-484C-211ACE8888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25CBD-5A64-7FED-4127-16716973EC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Afslutning</a:t>
            </a:r>
          </a:p>
          <a:p>
            <a:r>
              <a:rPr lang="en-DK" sz="3600" dirty="0">
                <a:solidFill>
                  <a:srgbClr val="C54D02"/>
                </a:solidFill>
              </a:rPr>
              <a:t>og lektier! 📚😬</a:t>
            </a:r>
          </a:p>
        </p:txBody>
      </p:sp>
    </p:spTree>
    <p:extLst>
      <p:ext uri="{BB962C8B-B14F-4D97-AF65-F5344CB8AC3E}">
        <p14:creationId xmlns:p14="http://schemas.microsoft.com/office/powerpoint/2010/main" val="83211080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CF094-A7AB-EB41-AD19-03425F6E6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i skal inden Workshop #4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8EED0B-9E28-7D4E-AE7C-6E9323B5D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Udvalgt og prioriteret jeres systemer og lavet en rå tidsplan for containerisation</a:t>
            </a:r>
          </a:p>
          <a:p>
            <a:pPr lvl="1"/>
            <a:r>
              <a:rPr lang="en-DK" dirty="0"/>
              <a:t>Vi skal nok booke jer til et møde inden – til sparring.</a:t>
            </a:r>
          </a:p>
          <a:p>
            <a:pPr lvl="1"/>
            <a:endParaRPr lang="en-DK" dirty="0"/>
          </a:p>
          <a:p>
            <a:r>
              <a:rPr lang="en-DK" dirty="0"/>
              <a:t>Følg process-skabelonen for ét system (find en lavthængende frugt)</a:t>
            </a:r>
          </a:p>
          <a:p>
            <a:pPr lvl="1"/>
            <a:r>
              <a:rPr lang="en-DK" dirty="0"/>
              <a:t>Containerization af alle komponenter.</a:t>
            </a:r>
          </a:p>
          <a:p>
            <a:pPr lvl="1"/>
            <a:r>
              <a:rPr lang="en-DK" dirty="0"/>
              <a:t>Udkast til Kubernetes manifester og gerne også samlet Helm chart.</a:t>
            </a:r>
          </a:p>
          <a:p>
            <a:pPr lvl="1"/>
            <a:endParaRPr lang="en-DK" dirty="0"/>
          </a:p>
          <a:p>
            <a:r>
              <a:rPr lang="en-DK" dirty="0"/>
              <a:t>Forventet deadline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~</a:t>
            </a:r>
            <a:r>
              <a:rPr lang="en-DK" dirty="0"/>
              <a:t>November</a:t>
            </a:r>
          </a:p>
        </p:txBody>
      </p:sp>
    </p:spTree>
    <p:extLst>
      <p:ext uri="{BB962C8B-B14F-4D97-AF65-F5344CB8AC3E}">
        <p14:creationId xmlns:p14="http://schemas.microsoft.com/office/powerpoint/2010/main" val="378757027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5D13CE-F1AC-762F-64D8-6339C76119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FIN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BD19E-EDEC-FCF3-623C-1C78769E90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Tak for denne gang</a:t>
            </a:r>
          </a:p>
        </p:txBody>
      </p:sp>
    </p:spTree>
    <p:extLst>
      <p:ext uri="{BB962C8B-B14F-4D97-AF65-F5344CB8AC3E}">
        <p14:creationId xmlns:p14="http://schemas.microsoft.com/office/powerpoint/2010/main" val="169876710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49701</TotalTime>
  <Words>4027</Words>
  <Application>Microsoft Macintosh PowerPoint</Application>
  <PresentationFormat>Widescreen</PresentationFormat>
  <Paragraphs>569</Paragraphs>
  <Slides>70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70</vt:i4>
      </vt:variant>
    </vt:vector>
  </HeadingPairs>
  <TitlesOfParts>
    <vt:vector size="80" baseType="lpstr">
      <vt:lpstr>-apple-system</vt:lpstr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Indhold</vt:lpstr>
      <vt:lpstr>Pause og overgange</vt:lpstr>
      <vt:lpstr>Helm-chart Workshop </vt:lpstr>
      <vt:lpstr>PowerPoint Presentation</vt:lpstr>
      <vt:lpstr>PowerPoint Presentation</vt:lpstr>
      <vt:lpstr>Workshops</vt:lpstr>
      <vt:lpstr>Hvorfor gør vi det her?</vt:lpstr>
      <vt:lpstr>Jeres tanker siden sidst</vt:lpstr>
      <vt:lpstr>Container = Legoklods</vt:lpstr>
      <vt:lpstr>PowerPoint Presentation</vt:lpstr>
      <vt:lpstr>Kubernetes Cluster</vt:lpstr>
      <vt:lpstr>PowerPoint Presentation</vt:lpstr>
      <vt:lpstr>Fra kubectl til kørende Pod</vt:lpstr>
      <vt:lpstr>Hvorfor nu Helm?</vt:lpstr>
      <vt:lpstr>Det Helm lover at give os</vt:lpstr>
      <vt:lpstr>PowerPoint Presentation</vt:lpstr>
      <vt:lpstr>Demo Content</vt:lpstr>
      <vt:lpstr>PowerPoint Presentation</vt:lpstr>
      <vt:lpstr>Hvad er Helm?</vt:lpstr>
      <vt:lpstr>Chart = Byggesæt</vt:lpstr>
      <vt:lpstr>Helm chart – Structure</vt:lpstr>
      <vt:lpstr>Helm chart – Basics</vt:lpstr>
      <vt:lpstr>Chart anatomi</vt:lpstr>
      <vt:lpstr>Chart.yaml</vt:lpstr>
      <vt:lpstr>values.yaml</vt:lpstr>
      <vt:lpstr>Values kilder &amp; prioritet</vt:lpstr>
      <vt:lpstr>Chart ≠ Release </vt:lpstr>
      <vt:lpstr>Release revisioner</vt:lpstr>
      <vt:lpstr>Hvor bor et release?</vt:lpstr>
      <vt:lpstr>Hvor helms arbejde slutter</vt:lpstr>
      <vt:lpstr>Helm: Bottom-line</vt:lpstr>
      <vt:lpstr>Helm er ikke</vt:lpstr>
      <vt:lpstr>Helm CLI – kommandoer du får brug for</vt:lpstr>
      <vt:lpstr>PowerPoint Presentation</vt:lpstr>
      <vt:lpstr>Øvelsen</vt:lpstr>
      <vt:lpstr>PowerPoint Presentation</vt:lpstr>
      <vt:lpstr>Go templates på 60 sekunder</vt:lpstr>
      <vt:lpstr>How templating works</vt:lpstr>
      <vt:lpstr>Indbyggede template values</vt:lpstr>
      <vt:lpstr>Debugging a chart</vt:lpstr>
      <vt:lpstr>Make the Chart fail early</vt:lpstr>
      <vt:lpstr>Chart - Best practices</vt:lpstr>
      <vt:lpstr>PowerPoint Presentation</vt:lpstr>
      <vt:lpstr>Let’s create a helm chart!</vt:lpstr>
      <vt:lpstr>Assignment</vt:lpstr>
      <vt:lpstr>Assignment details</vt:lpstr>
      <vt:lpstr>Exercise recap</vt:lpstr>
      <vt:lpstr>PowerPoint Presentation</vt:lpstr>
      <vt:lpstr>Chart repository</vt:lpstr>
      <vt:lpstr>DT-DIT helm charts</vt:lpstr>
      <vt:lpstr>Dependencies &amp; subcharts</vt:lpstr>
      <vt:lpstr>Fra initContainer til helm hook</vt:lpstr>
      <vt:lpstr>Packaging &amp; Publishing</vt:lpstr>
      <vt:lpstr>Values &amp; Secrets</vt:lpstr>
      <vt:lpstr>Hvem skal køre Helm Upgrade ?</vt:lpstr>
      <vt:lpstr>Exercise: Publish your chart</vt:lpstr>
      <vt:lpstr>PowerPoint Presentation</vt:lpstr>
      <vt:lpstr>PowerPoint Presentation</vt:lpstr>
      <vt:lpstr>Tragten: Udvælgelse før prioritering</vt:lpstr>
      <vt:lpstr>Tragten – Udvælgelse før prioritering</vt:lpstr>
      <vt:lpstr>TIME modellen</vt:lpstr>
      <vt:lpstr>Øvelse: Udvælgelse af egne systemer</vt:lpstr>
      <vt:lpstr>Kriterier for prioritering — i hvilken rækkefølge?</vt:lpstr>
      <vt:lpstr>Øvelse: Prioritér jeres udvalgte systemer</vt:lpstr>
      <vt:lpstr>Processen trin-for-trin — Skabelon til når vi har udvalgt et system</vt:lpstr>
      <vt:lpstr>Processen: Hvem der gør hvad?</vt:lpstr>
      <vt:lpstr>PowerPoint Presentation</vt:lpstr>
      <vt:lpstr>Opgaven</vt:lpstr>
      <vt:lpstr>Start from example chart!</vt:lpstr>
      <vt:lpstr>PowerPoint Presentation</vt:lpstr>
      <vt:lpstr>Hvad i skal inden Workshop #4</vt:lpstr>
      <vt:lpstr>PowerPoint Presentation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377</cp:revision>
  <dcterms:created xsi:type="dcterms:W3CDTF">2021-06-21T11:45:03Z</dcterms:created>
  <dcterms:modified xsi:type="dcterms:W3CDTF">2026-08-20T15:18:23Z</dcterms:modified>
</cp:coreProperties>
</file>